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icolage Grotesque Bold" charset="1" panose="020B0605040402000204"/>
      <p:regular r:id="rId21"/>
    </p:embeddedFont>
    <p:embeddedFont>
      <p:font typeface="Bricolage Grotesque" charset="1" panose="020B0605040402000204"/>
      <p:regular r:id="rId22"/>
    </p:embeddedFont>
    <p:embeddedFont>
      <p:font typeface="Inter Bold" charset="1" panose="020B0802030000000004"/>
      <p:regular r:id="rId26"/>
    </p:embeddedFont>
    <p:embeddedFont>
      <p:font typeface="Inter" charset="1" panose="020B0502030000000004"/>
      <p:regular r:id="rId27"/>
    </p:embeddedFont>
    <p:embeddedFont>
      <p:font typeface="Inter Italics" charset="1" panose="020B0502030000000004"/>
      <p:regular r:id="rId30"/>
    </p:embeddedFont>
    <p:embeddedFont>
      <p:font typeface="Inter Bold Italics" charset="1" panose="020B08020300000000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Diabetes patients are one of the most readmitted groups in any hospital, and 30-day readmissions carry CMS penalties.</a:t>
            </a:r>
          </a:p>
          <a:p>
            <a:r>
              <a:rPr lang="en-US"/>
              <a:t/>
            </a:r>
          </a:p>
          <a:p>
            <a:r>
              <a:rPr lang="en-US"/>
              <a:t>But pharmacy can only work up so many discharges a day. So the question isn't "who might come back" — it's "which patients get our limited pharmacist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UCI Diabetes dataset — 130 hospitals, a hundred thousand encounters. But the raw file isn't the cohort, and three decisions here change the answer.</a:t>
            </a:r>
          </a:p>
          <a:p>
            <a:r>
              <a:rPr lang="en-US"/>
              <a:t/>
            </a:r>
          </a:p>
          <a:p>
            <a:r>
              <a:rPr lang="en-US"/>
              <a:t>(point to the funnel)</a:t>
            </a:r>
          </a:p>
          <a:p>
            <a:r>
              <a:rPr lang="en-US"/>
              <a:t/>
            </a:r>
          </a:p>
          <a:p>
            <a:r>
              <a:rPr lang="en-US"/>
              <a:t>We removed expired and hospice discharges — they can't be readmitted, so leaving them in makes the model look better than it is.</a:t>
            </a:r>
          </a:p>
          <a:p>
            <a:r>
              <a:rPr lang="en-US"/>
              <a:t/>
            </a:r>
          </a:p>
          <a:p>
            <a:r>
              <a:rPr lang="en-US"/>
              <a:t>Then only the first encounter per patient — ninety-nine thousand down to seventy. Rows here are encounters, not patients, and repeats leak outcomes across the train/test split.</a:t>
            </a:r>
          </a:p>
          <a:p>
            <a:r>
              <a:rPr lang="en-US"/>
              <a:t/>
            </a:r>
          </a:p>
          <a:p>
            <a:r>
              <a:rPr lang="en-US"/>
              <a:t>Target is readmission within 30 days, the CMS penalty window. 9% prevalence — a ten-to-one imbalance that drives every choice after this.</a:t>
            </a:r>
          </a:p>
          <a:p>
            <a:r>
              <a:rPr lang="en-US"/>
              <a:t/>
            </a:r>
          </a:p>
          <a:p>
            <a:r>
              <a:rPr lang="en-US"/>
              <a:t>(gesture to the feature panel)</a:t>
            </a:r>
          </a:p>
          <a:p>
            <a:r>
              <a:rPr lang="en-US"/>
              <a:t/>
            </a:r>
          </a:p>
          <a:p>
            <a:r>
              <a:rPr lang="en-US"/>
              <a:t>From there, 116 features — including a regimen-change score collapsing the 23 drug columns into how much a regimen was churned during the stay.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&gt; We used the UCI Diabetes dataset — a hundred and thirty US hospitals, about a hundred thousand encounters.</a:t>
            </a:r>
          </a:p>
          <a:p>
            <a:r>
              <a:rPr lang="en-US"/>
              <a:t>&gt;</a:t>
            </a:r>
          </a:p>
          <a:p>
            <a:r>
              <a:rPr lang="en-US"/>
              <a:t>&gt; But the raw file isn't the cohort. We made three decisions that materially change the answer, and I want to walk through them because this is where most readmission models quietly go wrong.</a:t>
            </a:r>
          </a:p>
          <a:p>
            <a:r>
              <a:rPr lang="en-US"/>
              <a:t>(point to the funnel)</a:t>
            </a:r>
          </a:p>
          <a:p>
            <a:r>
              <a:rPr lang="en-US"/>
              <a:t>&gt; **First** — we removed expired and hospice discharges. About twenty-four hundred records. These patients **cannot be readmitted**. If you leave them in, they sit in the negative class as structural zeros and your model looks better than it actually is.</a:t>
            </a:r>
          </a:p>
          <a:p>
            <a:r>
              <a:rPr lang="en-US"/>
              <a:t>&gt;</a:t>
            </a:r>
          </a:p>
          <a:p>
            <a:r>
              <a:rPr lang="en-US"/>
              <a:t>&gt; **Second** — we kept only the first encounter per patient. This one's bigger: it took us from ninety-nine thousand rows down to **seventy thousand**. The rows in this dataset are encounters, not patients. If the same person appears three times, their outcome leaks across the train/test split and you get an inflated score that won't survive contact with real data.</a:t>
            </a:r>
          </a:p>
          <a:p>
            <a:r>
              <a:rPr lang="en-US"/>
              <a:t>&gt;</a:t>
            </a:r>
          </a:p>
          <a:p>
            <a:r>
              <a:rPr lang="en-US"/>
              <a:t>&gt; **Third** — our target is readmission within thirty days, because that's the CMS penalty window. That gives us a **9% prevalence** — roughly a ten-to-one class imbalance, which drives basically every modeling choice after this.</a:t>
            </a:r>
          </a:p>
          <a:p>
            <a:r>
              <a:rPr lang="en-US"/>
              <a:t>(gesture to the feature panel)</a:t>
            </a:r>
          </a:p>
          <a:p>
            <a:r>
              <a:rPr lang="en-US"/>
              <a:t>&gt; From there we engineered a hundred and sixteen features. The one worth naming is the **regimen-change and polypharmacy score**, which collapses the twenty-three individual drug columns into how many diabetes agents a patient is on and how much their regimen was changed during the stay.</a:t>
            </a:r>
          </a:p>
          <a:p>
            <a:r>
              <a:rPr lang="en-US"/>
              <a:t>(optional, if you have time — this is a good line)</a:t>
            </a:r>
          </a:p>
          <a:p>
            <a:r>
              <a:rPr lang="en-US"/>
              <a:t>&gt; One quick note on the footer: we dropped the weight field because it's **97% missing**.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Bottom line first: this model is a modest predictor, and that's still useful.</a:t>
            </a:r>
          </a:p>
          <a:p>
            <a:r>
              <a:rPr lang="en-US"/>
              <a:t/>
            </a:r>
          </a:p>
          <a:p>
            <a:r>
              <a:rPr lang="en-US"/>
              <a:t>Start with the fourth box — 1.97 times lift. Of every hundred patients we flag, about eighteen are readmitted within thirty days. </a:t>
            </a:r>
          </a:p>
          <a:p>
            <a:r>
              <a:rPr lang="en-US"/>
              <a:t/>
            </a:r>
          </a:p>
          <a:p>
            <a:r>
              <a:rPr lang="en-US"/>
              <a:t>Base rate is nine percent. So we roughly double the hit rate. That's the practical value.</a:t>
            </a:r>
          </a:p>
          <a:p>
            <a:r>
              <a:rPr lang="en-US"/>
              <a:t/>
            </a:r>
          </a:p>
          <a:p>
            <a:r>
              <a:rPr lang="en-US"/>
              <a:t>Recall is 38 percent — of everyone who actually came back, we caught thirty-eight percent of them ahead of time, at our cutoff.</a:t>
            </a:r>
          </a:p>
          <a:p>
            <a:r>
              <a:rPr lang="en-US"/>
              <a:t/>
            </a:r>
          </a:p>
          <a:p>
            <a:r>
              <a:rPr lang="en-US"/>
              <a:t>(point to the first two boxes)</a:t>
            </a:r>
          </a:p>
          <a:p>
            <a:r>
              <a:rPr lang="en-US"/>
              <a:t/>
            </a:r>
          </a:p>
          <a:p>
            <a:r>
              <a:rPr lang="en-US"/>
              <a:t>ROC-AUC is 0.655 — that's discrimination, and 0.5 would be a coin flip, so we're modestly above chance. </a:t>
            </a:r>
          </a:p>
          <a:p>
            <a:r>
              <a:rPr lang="en-US"/>
              <a:t/>
            </a:r>
          </a:p>
          <a:p>
            <a:r>
              <a:rPr lang="en-US"/>
              <a:t>PR-AUC is 0.166 against a base rate of 0.090, which is the better metric on imbalanced data and again shows roughly double.</a:t>
            </a:r>
          </a:p>
          <a:p>
            <a:r>
              <a:rPr lang="en-US"/>
              <a:t/>
            </a:r>
          </a:p>
          <a:p>
            <a:r>
              <a:rPr lang="en-US"/>
              <a:t>And I'll be direct: those are mediocre numbers. But this dataset is billing records — no vitals, no labs, no notes. Published work on this same data lands in the same range. We're not diagnosing anyone; we're ranking a worklist.</a:t>
            </a:r>
          </a:p>
          <a:p>
            <a:r>
              <a:rPr lang="en-US"/>
              <a:t/>
            </a:r>
          </a:p>
          <a:p>
            <a:r>
              <a:rPr lang="en-US"/>
              <a:t>(point to the chart, then the bottom box)</a:t>
            </a:r>
          </a:p>
          <a:p>
            <a:r>
              <a:rPr lang="en-US"/>
              <a:t/>
            </a:r>
          </a:p>
          <a:p>
            <a:r>
              <a:rPr lang="en-US"/>
              <a:t>Review the top twenty percent of discharges and you catch thirty-eight percent of readmissions. And note our cutoff is 0.57, not 0.5 — we set it to match capacity, not to optimize a statistic.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What's the model keying on? Here I have to report something that revised our own hypothesis.</a:t>
            </a:r>
          </a:p>
          <a:p>
            <a:r>
              <a:rPr lang="en-US"/>
              <a:t/>
            </a:r>
          </a:p>
          <a:p>
            <a:r>
              <a:rPr lang="en-US"/>
              <a:t>We expected medication complexity to lead. That was our proposal.</a:t>
            </a:r>
          </a:p>
          <a:p>
            <a:r>
              <a:rPr lang="en-US"/>
              <a:t/>
            </a:r>
          </a:p>
          <a:p>
            <a:r>
              <a:rPr lang="en-US"/>
              <a:t>(point to the chart)</a:t>
            </a:r>
          </a:p>
          <a:p>
            <a:r>
              <a:rPr lang="en-US"/>
              <a:t/>
            </a:r>
          </a:p>
          <a:p>
            <a:r>
              <a:rPr lang="en-US"/>
              <a:t>That's not what came out. The top six are almost entirely care-transition variables — where the patient goes at discharge, whether they went home with no services, how often they've been admitted before.</a:t>
            </a:r>
          </a:p>
          <a:p>
            <a:r>
              <a:rPr lang="en-US"/>
              <a:t/>
            </a:r>
          </a:p>
          <a:p>
            <a:r>
              <a:rPr lang="en-US"/>
              <a:t>Medication churn didn't crack the top six.</a:t>
            </a:r>
          </a:p>
          <a:p>
            <a:r>
              <a:rPr lang="en-US"/>
              <a:t/>
            </a:r>
          </a:p>
          <a:p>
            <a:r>
              <a:rPr lang="en-US"/>
              <a:t>So the transition carries more signal than the medication list. We're reporting it as found — and it's the more actionable finding, since discharge disposition and follow-up are things a care team directly controls.</a:t>
            </a:r>
          </a:p>
          <a:p>
            <a:r>
              <a:rPr lang="en-US"/>
              <a:t/>
            </a:r>
          </a:p>
          <a:p>
            <a:r>
              <a:rPr lang="en-US"/>
              <a:t>(point to the SHAP line)</a:t>
            </a:r>
          </a:p>
          <a:p>
            <a:r>
              <a:rPr lang="en-US"/>
              <a:t/>
            </a:r>
          </a:p>
          <a:p>
            <a:r>
              <a:rPr lang="en-US"/>
              <a:t>And SHAP gives every flag a plain-language reason. A pharmacist sees why, not just a 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this slide to make the abstract concrete. The point is that two patients can share a 0.82 score for completely different reasons, and the reason determines the intervention. Note the honest caveat in the footer - SHAP values are additive in log-odds space, not probability space.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tells you who. It doesn't tell you what to do. That's the RAG component.</a:t>
            </a:r>
          </a:p>
          <a:p>
            <a:r>
              <a:rPr lang="en-US"/>
              <a:t/>
            </a:r>
          </a:p>
          <a:p>
            <a:r>
              <a:rPr lang="en-US"/>
              <a:t>Six curated documents — AHRQ's toolkits, the CMS regulation, health literacy guidance. Fourteen hundred chunks, MiniLM embeddings, FAISS retrieval, cited answers.</a:t>
            </a:r>
          </a:p>
          <a:p>
            <a:r>
              <a:rPr lang="en-US"/>
              <a:t/>
            </a:r>
          </a:p>
          <a:p>
            <a:r>
              <a:rPr lang="en-US"/>
              <a:t>The evaluation numbers are modest and I'll say so — Hit-at-3 of 0.60, groundedness around 0.50.</a:t>
            </a:r>
          </a:p>
          <a:p>
            <a:r>
              <a:rPr lang="en-US"/>
              <a:t/>
            </a:r>
          </a:p>
          <a:p>
            <a:r>
              <a:rPr lang="en-US"/>
              <a:t>(point to the guardrails box)</a:t>
            </a:r>
          </a:p>
          <a:p>
            <a:r>
              <a:rPr lang="en-US"/>
              <a:t/>
            </a:r>
          </a:p>
          <a:p>
            <a:r>
              <a:rPr lang="en-US"/>
              <a:t>What matters more is the guardrails. A similarity floor refuses off-topic questions. The prompt requires a citation or a refusal. Every citation is verified after generation. And we forbid dosing recommendations outright — an LLM reading billing data shouldn't be near that decision.</a:t>
            </a:r>
          </a:p>
          <a:p>
            <a:r>
              <a:rPr lang="en-US"/>
              <a:t/>
            </a:r>
          </a:p>
          <a:p>
            <a:r>
              <a:rPr lang="en-US"/>
              <a:t>(point to the two-functions box)</a:t>
            </a:r>
          </a:p>
          <a:p>
            <a:r>
              <a:rPr lang="en-US"/>
              <a:t/>
            </a:r>
          </a:p>
          <a:p>
            <a:r>
              <a:rPr lang="en-US"/>
              <a:t>And what makes it not a chatbot: the Patient Action Brief takes a flagged patient's SHAP drivers as input. It can't run without the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What's it worth? Assumptions on screen: ten thousand per avoided readmission, sixty dollars per intervention, a ten-point risk reduction.</a:t>
            </a:r>
          </a:p>
          <a:p>
            <a:r>
              <a:rPr lang="en-US"/>
              <a:t/>
            </a:r>
          </a:p>
          <a:p>
            <a:r>
              <a:rPr lang="en-US"/>
              <a:t>(point to the big number)</a:t>
            </a:r>
          </a:p>
          <a:p>
            <a:r>
              <a:rPr lang="en-US"/>
              <a:t/>
            </a:r>
          </a:p>
          <a:p>
            <a:r>
              <a:rPr lang="en-US"/>
              <a:t>At 20% capacity: about $113,000 in annual net value at a 3× return.</a:t>
            </a:r>
          </a:p>
          <a:p>
            <a:r>
              <a:rPr lang="en-US"/>
              <a:t/>
            </a:r>
          </a:p>
          <a:p>
            <a:r>
              <a:rPr lang="en-US"/>
              <a:t>(point to the chart)</a:t>
            </a:r>
          </a:p>
          <a:p>
            <a:r>
              <a:rPr lang="en-US"/>
              <a:t/>
            </a:r>
          </a:p>
          <a:p>
            <a:r>
              <a:rPr lang="en-US"/>
              <a:t>But the useful story is the shape. Net value climbs as you review more — but ROI falls. 3.9× at 5%, down to 2.1× at 50%. So where you stop is a staffing decision, and leadership can move that slider themselves.</a:t>
            </a:r>
          </a:p>
          <a:p>
            <a:r>
              <a:rPr lang="en-US"/>
              <a:t/>
            </a:r>
          </a:p>
          <a:p>
            <a:r>
              <a:rPr lang="en-US"/>
              <a:t>(point to the amber box — do not skip)</a:t>
            </a:r>
          </a:p>
          <a:p>
            <a:r>
              <a:rPr lang="en-US"/>
              <a:t/>
            </a:r>
          </a:p>
          <a:p>
            <a:r>
              <a:rPr lang="en-US"/>
              <a:t>And plainly: these are stated assumptions, not hospital figures. The one most likely to be wrong is that ten-point reduction — it's from the literature. We did not measure it. Net value scales almost linearly with it, which is why it's a slider, not a constant.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do we actually recommend?</a:t>
            </a:r>
          </a:p>
          <a:p>
            <a:r>
              <a:rPr lang="en-US"/>
              <a:t/>
            </a:r>
          </a:p>
          <a:p>
            <a:r>
              <a:rPr lang="en-US"/>
              <a:t>(point to the recommendation band)</a:t>
            </a:r>
          </a:p>
          <a:p>
            <a:r>
              <a:rPr lang="en-US"/>
              <a:t/>
            </a:r>
          </a:p>
          <a:p>
            <a:r>
              <a:rPr lang="en-US"/>
              <a:t>A 90-day pharmacist pilot on the top 15 to 20% of diabetes discharges — about four patients per working day. Deliberately small.</a:t>
            </a:r>
          </a:p>
          <a:p>
            <a:r>
              <a:rPr lang="en-US"/>
              <a:t/>
            </a:r>
          </a:p>
          <a:p>
            <a:r>
              <a:rPr lang="en-US"/>
              <a:t>We catch 30 to 38% of readmissions at roughly a 3× return, with no new headcount.</a:t>
            </a:r>
          </a:p>
          <a:p>
            <a:r>
              <a:rPr lang="en-US"/>
              <a:t/>
            </a:r>
          </a:p>
          <a:p>
            <a:r>
              <a:rPr lang="en-US"/>
              <a:t>(walk the three phases)</a:t>
            </a:r>
          </a:p>
          <a:p>
            <a:r>
              <a:rPr lang="en-US"/>
              <a:t/>
            </a:r>
          </a:p>
          <a:p>
            <a:r>
              <a:rPr lang="en-US"/>
              <a:t>Phase 1 — pilot and measure. Track flagged patients who got the intervention against those who didn't. That's the only way to learn the real effect size — the number our value case rests on.</a:t>
            </a:r>
          </a:p>
          <a:p>
            <a:r>
              <a:rPr lang="en-US"/>
              <a:t/>
            </a:r>
          </a:p>
          <a:p>
            <a:r>
              <a:rPr lang="en-US"/>
              <a:t>Phase 2 — audit and retrain. Fairness audit, then retrain on recent local data.</a:t>
            </a:r>
          </a:p>
          <a:p>
            <a:r>
              <a:rPr lang="en-US"/>
              <a:t/>
            </a:r>
          </a:p>
          <a:p>
            <a:r>
              <a:rPr lang="en-US"/>
              <a:t>Phase 3 — scale using a measured effect size.</a:t>
            </a:r>
          </a:p>
          <a:p>
            <a:r>
              <a:rPr lang="en-US"/>
              <a:t/>
            </a:r>
          </a:p>
          <a:p>
            <a:r>
              <a:rPr lang="en-US"/>
              <a:t>(point to the ask)</a:t>
            </a:r>
          </a:p>
          <a:p>
            <a:r>
              <a:rPr lang="en-US"/>
              <a:t/>
            </a:r>
          </a:p>
          <a:p>
            <a:r>
              <a:rPr lang="en-US"/>
              <a:t>The ask is narrow: Pharmacy and Care Management sponsor the pilot and agree up front on how we measure the effect.</a:t>
            </a:r>
          </a:p>
          <a:p>
            <a:r>
              <a:rPr lang="en-US"/>
              <a:t/>
            </a:r>
          </a:p>
          <a:p>
            <a:r>
              <a:rPr lang="en-US"/>
              <a:t>Closing — 15 seconds</a:t>
            </a:r>
          </a:p>
          <a:p>
            <a:r>
              <a:rPr lang="en-US"/>
              <a:t/>
            </a:r>
          </a:p>
          <a:p>
            <a:r>
              <a:rPr lang="en-US"/>
              <a:t>We can't predict readmissions well — nobody can from this data. But we don't need to. We need to rank well enough that limited pharmacist time goes to the right patients, and we roughly double the hit rate.</a:t>
            </a:r>
          </a:p>
          <a:p>
            <a:r>
              <a:rPr lang="en-US"/>
              <a:t/>
            </a:r>
          </a:p>
          <a:p>
            <a:r>
              <a:rPr lang="en-US"/>
              <a:t>The model ranks. The RAG says what to do. A pharmacist decides.</a:t>
            </a:r>
          </a:p>
          <a:p>
            <a:r>
              <a:rPr lang="en-US"/>
              <a:t/>
            </a:r>
          </a:p>
          <a:p>
            <a:r>
              <a:rPr lang="en-US"/>
              <a:t>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I'll close on limitations rather than a summary.</a:t>
            </a:r>
          </a:p>
          <a:p>
            <a:r>
              <a:rPr lang="en-US"/>
              <a:t/>
            </a:r>
          </a:p>
          <a:p>
            <a:r>
              <a:rPr lang="en-US"/>
              <a:t>This tool ranks patients for a workflow decision. It does not diagnose, does not recommend treatment, and must not be used to deny care.</a:t>
            </a:r>
          </a:p>
          <a:p>
            <a:r>
              <a:rPr lang="en-US"/>
              <a:t/>
            </a:r>
          </a:p>
          <a:p>
            <a:r>
              <a:rPr lang="en-US"/>
              <a:t>(walk the three cards quickly)</a:t>
            </a:r>
          </a:p>
          <a:p>
            <a:r>
              <a:rPr lang="en-US"/>
              <a:t/>
            </a:r>
          </a:p>
          <a:p>
            <a:r>
              <a:rPr lang="en-US"/>
              <a:t>It can't see vitals, labs, social determinants, or adherence — all known readmission drivers. The data is 1999 to 2008, so practice has moved on. And fairness has not been audited — the most important gap, because a model that allocates a benefit can entrench disparities.</a:t>
            </a:r>
          </a:p>
          <a:p>
            <a:r>
              <a:rPr lang="en-US"/>
              <a:t/>
            </a:r>
          </a:p>
          <a:p>
            <a:r>
              <a:rPr lang="en-US"/>
              <a:t>(point to the amber box — strongest point in the deck)</a:t>
            </a:r>
          </a:p>
          <a:p>
            <a:r>
              <a:rPr lang="en-US"/>
              <a:t/>
            </a:r>
          </a:p>
          <a:p>
            <a:r>
              <a:rPr lang="en-US"/>
              <a:t>Then the conceptual one. The model predicts readmission risk. Our value case assumes intervention reduces it. Those are different claims. A patient can be genuinely high-risk and still not benefit.</a:t>
            </a:r>
          </a:p>
          <a:p>
            <a:r>
              <a:rPr lang="en-US"/>
              <a:t/>
            </a:r>
          </a:p>
          <a:p>
            <a:r>
              <a:rPr lang="en-US"/>
              <a:t>That gap is the strongest argument for piloting before scaling.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1.bin" Type="http://schemas.openxmlformats.org/officeDocument/2006/relationships/oleObject"/><Relationship Id="rId11" Target="../media/image17.png" Type="http://schemas.openxmlformats.org/officeDocument/2006/relationships/image"/><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9.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2.bin" Type="http://schemas.openxmlformats.org/officeDocument/2006/relationships/oleObject"/><Relationship Id="rId11" Target="../media/image19.png" Type="http://schemas.openxmlformats.org/officeDocument/2006/relationships/image"/><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9.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i.org/10.24432/C5230J" TargetMode="External" Type="http://schemas.openxmlformats.org/officeDocument/2006/relationships/hyperlink"/><Relationship Id="rId2" Target="../notesSlides/notesSlide2.xml" Type="http://schemas.openxmlformats.org/officeDocument/2006/relationships/notesSlide"/><Relationship Id="rId3" Target="../media/image6.png" Type="http://schemas.openxmlformats.org/officeDocument/2006/relationships/image"/><Relationship Id="rId4" Target="../media/image20.jpeg" Type="http://schemas.openxmlformats.org/officeDocument/2006/relationships/image"/><Relationship Id="rId5" Target="https://www.ahrq.gov/patient-safety/settings/hospital/match/index.html" TargetMode="External" Type="http://schemas.openxmlformats.org/officeDocument/2006/relationships/hyperlink"/><Relationship Id="rId6" Target="https://www.ahrq.gov/patient-safety/settings/hospital/red/toolkit/index.html" TargetMode="External" Type="http://schemas.openxmlformats.org/officeDocument/2006/relationships/hyperlink"/><Relationship Id="rId7" Target="https://www.ahrq.gov/health-literacy/improve/precautions/index.html" TargetMode="External" Type="http://schemas.openxmlformats.org/officeDocument/2006/relationships/hyperlink"/><Relationship Id="rId8" Target="https://www.ecfr.gov/current/title-42/chapter-IV/subchapter-G/part-482/subpart-C/section-482.43" TargetMode="External" Type="http://schemas.openxmlformats.org/officeDocument/2006/relationships/hyperlink"/><Relationship Id="rId9" Target="https://doi.org/10.1155/2014/781670"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 Id="rId6"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 Id="rId6"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 Id="rId4" Target="../media/image2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30.png" Type="http://schemas.openxmlformats.org/officeDocument/2006/relationships/image"/><Relationship Id="rId2" Target="../media/image2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9.png" Type="http://schemas.openxmlformats.org/officeDocument/2006/relationships/image"/><Relationship Id="rId9"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media/image2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427" r="-9991" b="-50098"/>
            </a:stretch>
          </a:blipFill>
        </p:spPr>
      </p:sp>
      <p:sp>
        <p:nvSpPr>
          <p:cNvPr name="Freeform 3" id="3"/>
          <p:cNvSpPr/>
          <p:nvPr/>
        </p:nvSpPr>
        <p:spPr>
          <a:xfrm flipH="false" flipV="false" rot="0">
            <a:off x="4772585" y="3963456"/>
            <a:ext cx="9095810" cy="6730899"/>
          </a:xfrm>
          <a:custGeom>
            <a:avLst/>
            <a:gdLst/>
            <a:ahLst/>
            <a:cxnLst/>
            <a:rect r="r" b="b" t="t" l="l"/>
            <a:pathLst>
              <a:path h="6730899" w="9095810">
                <a:moveTo>
                  <a:pt x="0" y="0"/>
                </a:moveTo>
                <a:lnTo>
                  <a:pt x="9095810" y="0"/>
                </a:lnTo>
                <a:lnTo>
                  <a:pt x="9095810" y="6730899"/>
                </a:lnTo>
                <a:lnTo>
                  <a:pt x="0" y="6730899"/>
                </a:lnTo>
                <a:lnTo>
                  <a:pt x="0" y="0"/>
                </a:lnTo>
                <a:close/>
              </a:path>
            </a:pathLst>
          </a:custGeom>
          <a:blipFill>
            <a:blip r:embed="rId3">
              <a:alphaModFix amt="6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513126" y="3736541"/>
            <a:ext cx="7229213" cy="4593801"/>
          </a:xfrm>
          <a:custGeom>
            <a:avLst/>
            <a:gdLst/>
            <a:ahLst/>
            <a:cxnLst/>
            <a:rect r="r" b="b" t="t" l="l"/>
            <a:pathLst>
              <a:path h="4593801" w="7229213">
                <a:moveTo>
                  <a:pt x="0" y="0"/>
                </a:moveTo>
                <a:lnTo>
                  <a:pt x="7229213" y="0"/>
                </a:lnTo>
                <a:lnTo>
                  <a:pt x="7229213" y="4593802"/>
                </a:lnTo>
                <a:lnTo>
                  <a:pt x="0" y="4593802"/>
                </a:lnTo>
                <a:lnTo>
                  <a:pt x="0" y="0"/>
                </a:lnTo>
                <a:close/>
              </a:path>
            </a:pathLst>
          </a:custGeom>
          <a:blipFill>
            <a:blip r:embed="rId5">
              <a:alphaModFix amt="38000"/>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356061" y="3278487"/>
            <a:ext cx="16295704" cy="2020017"/>
          </a:xfrm>
          <a:prstGeom prst="rect">
            <a:avLst/>
          </a:prstGeom>
        </p:spPr>
        <p:txBody>
          <a:bodyPr anchor="t" rtlCol="false" tIns="0" lIns="0" bIns="0" rIns="0">
            <a:spAutoFit/>
          </a:bodyPr>
          <a:lstStyle/>
          <a:p>
            <a:pPr algn="ctr">
              <a:lnSpc>
                <a:spcPts val="5246"/>
              </a:lnSpc>
            </a:pPr>
            <a:r>
              <a:rPr lang="en-US" b="true" sz="5408">
                <a:solidFill>
                  <a:srgbClr val="000000"/>
                </a:solidFill>
                <a:latin typeface="Bricolage Grotesque Bold"/>
                <a:ea typeface="Bricolage Grotesque Bold"/>
                <a:cs typeface="Bricolage Grotesque Bold"/>
                <a:sym typeface="Bricolage Grotesque Bold"/>
              </a:rPr>
              <a:t>MEDICATION COMPLEXITY &amp; CARE-</a:t>
            </a:r>
            <a:r>
              <a:rPr lang="en-US" b="true" sz="5408">
                <a:solidFill>
                  <a:srgbClr val="000000"/>
                </a:solidFill>
                <a:latin typeface="Bricolage Grotesque Bold"/>
                <a:ea typeface="Bricolage Grotesque Bold"/>
                <a:cs typeface="Bricolage Grotesque Bold"/>
                <a:sym typeface="Bricolage Grotesque Bold"/>
              </a:rPr>
              <a:t>TRANSITION READMISSION RISK FOR DIABETES PATIENTS</a:t>
            </a:r>
          </a:p>
          <a:p>
            <a:pPr algn="ctr">
              <a:lnSpc>
                <a:spcPts val="5246"/>
              </a:lnSpc>
            </a:pPr>
          </a:p>
        </p:txBody>
      </p:sp>
      <p:sp>
        <p:nvSpPr>
          <p:cNvPr name="TextBox 6" id="6"/>
          <p:cNvSpPr txBox="true"/>
          <p:nvPr/>
        </p:nvSpPr>
        <p:spPr>
          <a:xfrm rot="0">
            <a:off x="3696440" y="1871790"/>
            <a:ext cx="11439278" cy="1015514"/>
          </a:xfrm>
          <a:prstGeom prst="rect">
            <a:avLst/>
          </a:prstGeom>
        </p:spPr>
        <p:txBody>
          <a:bodyPr anchor="t" rtlCol="false" tIns="0" lIns="0" bIns="0" rIns="0">
            <a:spAutoFit/>
          </a:bodyPr>
          <a:lstStyle/>
          <a:p>
            <a:pPr algn="ctr">
              <a:lnSpc>
                <a:spcPts val="7502"/>
              </a:lnSpc>
            </a:pPr>
            <a:r>
              <a:rPr lang="en-US" b="true" sz="7734">
                <a:solidFill>
                  <a:srgbClr val="8D140B"/>
                </a:solidFill>
                <a:latin typeface="Bricolage Grotesque Bold"/>
                <a:ea typeface="Bricolage Grotesque Bold"/>
                <a:cs typeface="Bricolage Grotesque Bold"/>
                <a:sym typeface="Bricolage Grotesque Bold"/>
              </a:rPr>
              <a:t>TRANSITIONRX: </a:t>
            </a:r>
          </a:p>
        </p:txBody>
      </p:sp>
      <p:sp>
        <p:nvSpPr>
          <p:cNvPr name="Freeform 7" id="7"/>
          <p:cNvSpPr/>
          <p:nvPr/>
        </p:nvSpPr>
        <p:spPr>
          <a:xfrm flipH="true" flipV="false" rot="0">
            <a:off x="0" y="3577441"/>
            <a:ext cx="7392879" cy="4697803"/>
          </a:xfrm>
          <a:custGeom>
            <a:avLst/>
            <a:gdLst/>
            <a:ahLst/>
            <a:cxnLst/>
            <a:rect r="r" b="b" t="t" l="l"/>
            <a:pathLst>
              <a:path h="4697803" w="7392879">
                <a:moveTo>
                  <a:pt x="7392879" y="0"/>
                </a:moveTo>
                <a:lnTo>
                  <a:pt x="0" y="0"/>
                </a:lnTo>
                <a:lnTo>
                  <a:pt x="0" y="4697803"/>
                </a:lnTo>
                <a:lnTo>
                  <a:pt x="7392879" y="4697803"/>
                </a:lnTo>
                <a:lnTo>
                  <a:pt x="7392879" y="0"/>
                </a:lnTo>
                <a:close/>
              </a:path>
            </a:pathLst>
          </a:custGeom>
          <a:blipFill>
            <a:blip r:embed="rId5">
              <a:alphaModFix amt="40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868395" y="7995598"/>
            <a:ext cx="2527934" cy="330167"/>
          </a:xfrm>
          <a:prstGeom prst="rect">
            <a:avLst/>
          </a:prstGeom>
        </p:spPr>
        <p:txBody>
          <a:bodyPr anchor="t" rtlCol="false" tIns="0" lIns="0" bIns="0" rIns="0">
            <a:spAutoFit/>
          </a:bodyPr>
          <a:lstStyle/>
          <a:p>
            <a:pPr algn="r">
              <a:lnSpc>
                <a:spcPts val="2423"/>
              </a:lnSpc>
            </a:pPr>
            <a:r>
              <a:rPr lang="en-US" sz="2498">
                <a:solidFill>
                  <a:srgbClr val="000000"/>
                </a:solidFill>
                <a:latin typeface="Bricolage Grotesque"/>
                <a:ea typeface="Bricolage Grotesque"/>
                <a:cs typeface="Bricolage Grotesque"/>
                <a:sym typeface="Bricolage Grotesque"/>
              </a:rPr>
              <a:t>Presented By :</a:t>
            </a:r>
          </a:p>
        </p:txBody>
      </p:sp>
      <p:sp>
        <p:nvSpPr>
          <p:cNvPr name="TextBox 9" id="9"/>
          <p:cNvSpPr txBox="true"/>
          <p:nvPr/>
        </p:nvSpPr>
        <p:spPr>
          <a:xfrm rot="0">
            <a:off x="12412780" y="8351444"/>
            <a:ext cx="3983549" cy="464382"/>
          </a:xfrm>
          <a:prstGeom prst="rect">
            <a:avLst/>
          </a:prstGeom>
        </p:spPr>
        <p:txBody>
          <a:bodyPr anchor="t" rtlCol="false" tIns="0" lIns="0" bIns="0" rIns="0">
            <a:spAutoFit/>
          </a:bodyPr>
          <a:lstStyle/>
          <a:p>
            <a:pPr algn="r">
              <a:lnSpc>
                <a:spcPts val="3493"/>
              </a:lnSpc>
            </a:pPr>
            <a:r>
              <a:rPr lang="en-US" sz="3601" b="true">
                <a:solidFill>
                  <a:srgbClr val="000000"/>
                </a:solidFill>
                <a:latin typeface="Bricolage Grotesque Bold"/>
                <a:ea typeface="Bricolage Grotesque Bold"/>
                <a:cs typeface="Bricolage Grotesque Bold"/>
                <a:sym typeface="Bricolage Grotesque Bold"/>
              </a:rPr>
              <a:t>Erika DuPond</a:t>
            </a:r>
          </a:p>
        </p:txBody>
      </p:sp>
      <p:sp>
        <p:nvSpPr>
          <p:cNvPr name="TextBox 10" id="10"/>
          <p:cNvSpPr txBox="true"/>
          <p:nvPr/>
        </p:nvSpPr>
        <p:spPr>
          <a:xfrm rot="0">
            <a:off x="7880033" y="418607"/>
            <a:ext cx="2527934" cy="330166"/>
          </a:xfrm>
          <a:prstGeom prst="rect">
            <a:avLst/>
          </a:prstGeom>
        </p:spPr>
        <p:txBody>
          <a:bodyPr anchor="t" rtlCol="false" tIns="0" lIns="0" bIns="0" rIns="0">
            <a:spAutoFit/>
          </a:bodyPr>
          <a:lstStyle/>
          <a:p>
            <a:pPr algn="ctr">
              <a:lnSpc>
                <a:spcPts val="2423"/>
              </a:lnSpc>
            </a:pPr>
            <a:r>
              <a:rPr lang="en-US" sz="2498">
                <a:solidFill>
                  <a:srgbClr val="000000"/>
                </a:solidFill>
                <a:latin typeface="Bricolage Grotesque"/>
                <a:ea typeface="Bricolage Grotesque"/>
                <a:cs typeface="Bricolage Grotesque"/>
                <a:sym typeface="Bricolage Grotesque"/>
              </a:rPr>
              <a:t>DS 7374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1197960" y="349435"/>
            <a:ext cx="431519" cy="431519"/>
          </a:xfrm>
          <a:custGeom>
            <a:avLst/>
            <a:gdLst/>
            <a:ahLst/>
            <a:cxnLst/>
            <a:rect r="r" b="b" t="t" l="l"/>
            <a:pathLst>
              <a:path h="431519" w="431519">
                <a:moveTo>
                  <a:pt x="0" y="0"/>
                </a:moveTo>
                <a:lnTo>
                  <a:pt x="431519" y="0"/>
                </a:lnTo>
                <a:lnTo>
                  <a:pt x="431519" y="431519"/>
                </a:lnTo>
                <a:lnTo>
                  <a:pt x="0" y="4315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6">
              <a:alphaModFix amt="58000"/>
            </a:blip>
            <a:stretch>
              <a:fillRect l="0" t="-98009" r="-1795" b="-98009"/>
            </a:stretch>
          </a:blipFill>
        </p:spPr>
      </p:sp>
      <p:sp>
        <p:nvSpPr>
          <p:cNvPr name="TextBox 5" id="5"/>
          <p:cNvSpPr txBox="true"/>
          <p:nvPr/>
        </p:nvSpPr>
        <p:spPr>
          <a:xfrm rot="0">
            <a:off x="1197960" y="1310010"/>
            <a:ext cx="17325423" cy="1282446"/>
          </a:xfrm>
          <a:prstGeom prst="rect">
            <a:avLst/>
          </a:prstGeom>
        </p:spPr>
        <p:txBody>
          <a:bodyPr anchor="t" rtlCol="false" tIns="0" lIns="0" bIns="0" rIns="0">
            <a:spAutoFit/>
          </a:bodyPr>
          <a:lstStyle/>
          <a:p>
            <a:pPr algn="l">
              <a:lnSpc>
                <a:spcPts val="4947"/>
              </a:lnSpc>
            </a:pPr>
            <a:r>
              <a:rPr lang="en-US" sz="5100" b="true">
                <a:solidFill>
                  <a:srgbClr val="8D140B"/>
                </a:solidFill>
                <a:latin typeface="Bricolage Grotesque Bold"/>
                <a:ea typeface="Bricolage Grotesque Bold"/>
                <a:cs typeface="Bricolage Grotesque Bold"/>
                <a:sym typeface="Bricolage Grotesque Bold"/>
              </a:rPr>
              <a:t>BUSINESS PROBLEM AND STAKEHOLDER</a:t>
            </a:r>
          </a:p>
          <a:p>
            <a:pPr algn="l">
              <a:lnSpc>
                <a:spcPts val="4947"/>
              </a:lnSpc>
            </a:pPr>
          </a:p>
        </p:txBody>
      </p:sp>
      <p:sp>
        <p:nvSpPr>
          <p:cNvPr name="TextBox 6" id="6"/>
          <p:cNvSpPr txBox="true"/>
          <p:nvPr/>
        </p:nvSpPr>
        <p:spPr>
          <a:xfrm rot="0">
            <a:off x="1197960" y="2254482"/>
            <a:ext cx="15080482" cy="7991602"/>
          </a:xfrm>
          <a:prstGeom prst="rect">
            <a:avLst/>
          </a:prstGeom>
        </p:spPr>
        <p:txBody>
          <a:bodyPr anchor="t" rtlCol="false" tIns="0" lIns="0" bIns="0" rIns="0">
            <a:spAutoFit/>
          </a:bodyPr>
          <a:lstStyle/>
          <a:p>
            <a:pPr algn="l">
              <a:lnSpc>
                <a:spcPts val="3013"/>
              </a:lnSpc>
            </a:pPr>
            <a:r>
              <a:rPr lang="en-US" sz="2199" u="sng" b="true">
                <a:solidFill>
                  <a:srgbClr val="1F2B5B"/>
                </a:solidFill>
                <a:latin typeface="Inter Bold"/>
                <a:ea typeface="Inter Bold"/>
                <a:cs typeface="Inter Bold"/>
                <a:sym typeface="Inter Bold"/>
              </a:rPr>
              <a:t>Question</a:t>
            </a:r>
            <a:r>
              <a:rPr lang="en-US" sz="2199">
                <a:solidFill>
                  <a:srgbClr val="1F2B5B"/>
                </a:solidFill>
                <a:latin typeface="Inter"/>
                <a:ea typeface="Inter"/>
                <a:cs typeface="Inter"/>
                <a:sym typeface="Inter"/>
              </a:rPr>
              <a:t>: </a:t>
            </a:r>
          </a:p>
          <a:p>
            <a:pPr algn="l">
              <a:lnSpc>
                <a:spcPts val="3013"/>
              </a:lnSpc>
            </a:pPr>
            <a:r>
              <a:rPr lang="en-US" sz="2199">
                <a:solidFill>
                  <a:srgbClr val="1F2B5B"/>
                </a:solidFill>
                <a:latin typeface="Inter"/>
                <a:ea typeface="Inter"/>
                <a:cs typeface="Inter"/>
                <a:sym typeface="Inter"/>
              </a:rPr>
              <a:t>Can medication count, the rate of patient-regimen-change, and quality of discharge education— flag which diabetes patients are at an elevated risk of a 30-day readmission? </a:t>
            </a:r>
          </a:p>
          <a:p>
            <a:pPr algn="l">
              <a:lnSpc>
                <a:spcPts val="3013"/>
              </a:lnSpc>
            </a:pPr>
          </a:p>
          <a:p>
            <a:pPr algn="l">
              <a:lnSpc>
                <a:spcPts val="3013"/>
              </a:lnSpc>
            </a:pPr>
            <a:r>
              <a:rPr lang="en-US" sz="2199" u="sng" b="true">
                <a:solidFill>
                  <a:srgbClr val="1F2B5B"/>
                </a:solidFill>
                <a:latin typeface="Inter Bold"/>
                <a:ea typeface="Inter Bold"/>
                <a:cs typeface="Inter Bold"/>
                <a:sym typeface="Inter Bold"/>
              </a:rPr>
              <a:t>Business Problem Background</a:t>
            </a:r>
          </a:p>
          <a:p>
            <a:pPr algn="l" marL="474979" indent="-237490" lvl="1">
              <a:lnSpc>
                <a:spcPts val="3013"/>
              </a:lnSpc>
              <a:buFont typeface="Arial"/>
              <a:buChar char="•"/>
            </a:pPr>
            <a:r>
              <a:rPr lang="en-US" sz="2199">
                <a:solidFill>
                  <a:srgbClr val="1F2B5B"/>
                </a:solidFill>
                <a:latin typeface="Inter"/>
                <a:ea typeface="Inter"/>
                <a:cs typeface="Inter"/>
                <a:sym typeface="Inter"/>
              </a:rPr>
              <a:t>Diabetes patients are frequently readmitted within 30 days, often because of how discharge is handled: </a:t>
            </a:r>
          </a:p>
          <a:p>
            <a:pPr algn="l" marL="949959" indent="-316653" lvl="2">
              <a:lnSpc>
                <a:spcPts val="3013"/>
              </a:lnSpc>
              <a:buFont typeface="Arial"/>
              <a:buChar char="⚬"/>
            </a:pPr>
            <a:r>
              <a:rPr lang="en-US" sz="2199">
                <a:solidFill>
                  <a:srgbClr val="1F2B5B"/>
                </a:solidFill>
                <a:latin typeface="Inter"/>
                <a:ea typeface="Inter"/>
                <a:cs typeface="Inter"/>
                <a:sym typeface="Inter"/>
              </a:rPr>
              <a:t>Too many medications, last-minute regimen changes, and weak handoff or education. </a:t>
            </a:r>
          </a:p>
          <a:p>
            <a:pPr algn="l" marL="474979" indent="-237490" lvl="1">
              <a:lnSpc>
                <a:spcPts val="3013"/>
              </a:lnSpc>
              <a:buFont typeface="Arial"/>
              <a:buChar char="•"/>
            </a:pPr>
            <a:r>
              <a:rPr lang="en-US" sz="2199">
                <a:solidFill>
                  <a:srgbClr val="1F2B5B"/>
                </a:solidFill>
                <a:latin typeface="Inter"/>
                <a:ea typeface="Inter"/>
                <a:cs typeface="Inter"/>
                <a:sym typeface="Inter"/>
              </a:rPr>
              <a:t>Roughly a fifth of readmissions are medication-related and arguably preventable.</a:t>
            </a:r>
          </a:p>
          <a:p>
            <a:pPr algn="l" marL="474979" indent="-237490" lvl="1">
              <a:lnSpc>
                <a:spcPts val="3013"/>
              </a:lnSpc>
              <a:buFont typeface="Arial"/>
              <a:buChar char="•"/>
            </a:pPr>
            <a:r>
              <a:rPr lang="en-US" sz="2199">
                <a:solidFill>
                  <a:srgbClr val="1F2B5B"/>
                </a:solidFill>
                <a:latin typeface="Inter"/>
                <a:ea typeface="Inter"/>
                <a:cs typeface="Inter"/>
                <a:sym typeface="Inter"/>
              </a:rPr>
              <a:t>One analysis found only 12–34% of discharge summaries reached the aftercare provider before first follow-up. </a:t>
            </a:r>
          </a:p>
          <a:p>
            <a:pPr algn="l" marL="474979" indent="-237490" lvl="1">
              <a:lnSpc>
                <a:spcPts val="3013"/>
              </a:lnSpc>
              <a:buFont typeface="Arial"/>
              <a:buChar char="•"/>
            </a:pPr>
            <a:r>
              <a:rPr lang="en-US" sz="2199">
                <a:solidFill>
                  <a:srgbClr val="1F2B5B"/>
                </a:solidFill>
                <a:latin typeface="Inter"/>
                <a:ea typeface="Inter"/>
                <a:cs typeface="Inter"/>
                <a:sym typeface="Inter"/>
              </a:rPr>
              <a:t>Most hospitals can't flag which patients combine a complex regimen with a thin transition. </a:t>
            </a:r>
          </a:p>
          <a:p>
            <a:pPr algn="l">
              <a:lnSpc>
                <a:spcPts val="3013"/>
              </a:lnSpc>
            </a:pPr>
          </a:p>
          <a:p>
            <a:pPr algn="l">
              <a:lnSpc>
                <a:spcPts val="3013"/>
              </a:lnSpc>
            </a:pPr>
            <a:r>
              <a:rPr lang="en-US" sz="2199" u="sng" b="true">
                <a:solidFill>
                  <a:srgbClr val="1F2B5B"/>
                </a:solidFill>
                <a:latin typeface="Inter Bold"/>
                <a:ea typeface="Inter Bold"/>
                <a:cs typeface="Inter Bold"/>
                <a:sym typeface="Inter Bold"/>
              </a:rPr>
              <a:t>Decision Supported</a:t>
            </a:r>
          </a:p>
          <a:p>
            <a:pPr algn="l">
              <a:lnSpc>
                <a:spcPts val="3013"/>
              </a:lnSpc>
            </a:pPr>
            <a:r>
              <a:rPr lang="en-US" sz="2199">
                <a:solidFill>
                  <a:srgbClr val="1F2B5B"/>
                </a:solidFill>
                <a:latin typeface="Inter"/>
                <a:ea typeface="Inter"/>
                <a:cs typeface="Inter"/>
                <a:sym typeface="Inter"/>
              </a:rPr>
              <a:t>Which discharged diabetes patients get pharmacist-led medication reconciliation and a follow-up call, given limited staff time? </a:t>
            </a:r>
          </a:p>
          <a:p>
            <a:pPr algn="l">
              <a:lnSpc>
                <a:spcPts val="3013"/>
              </a:lnSpc>
            </a:pPr>
          </a:p>
          <a:p>
            <a:pPr algn="l">
              <a:lnSpc>
                <a:spcPts val="3013"/>
              </a:lnSpc>
            </a:pPr>
            <a:r>
              <a:rPr lang="en-US" sz="2199" u="sng" b="true">
                <a:solidFill>
                  <a:srgbClr val="1F2B5B"/>
                </a:solidFill>
                <a:latin typeface="Inter Bold"/>
                <a:ea typeface="Inter Bold"/>
                <a:cs typeface="Inter Bold"/>
                <a:sym typeface="Inter Bold"/>
              </a:rPr>
              <a:t>Stakeholder</a:t>
            </a:r>
          </a:p>
          <a:p>
            <a:pPr algn="l">
              <a:lnSpc>
                <a:spcPts val="3013"/>
              </a:lnSpc>
            </a:pPr>
            <a:r>
              <a:rPr lang="en-US" sz="2199">
                <a:solidFill>
                  <a:srgbClr val="1F2B5B"/>
                </a:solidFill>
                <a:latin typeface="Inter"/>
                <a:ea typeface="Inter"/>
                <a:cs typeface="Inter"/>
                <a:sym typeface="Inter"/>
              </a:rPr>
              <a:t>Director of Pharmacy / Medication Safety with the Director of Care Management. </a:t>
            </a:r>
          </a:p>
          <a:p>
            <a:pPr algn="l">
              <a:lnSpc>
                <a:spcPts val="3013"/>
              </a:lnSpc>
            </a:pPr>
          </a:p>
          <a:p>
            <a:pPr algn="l">
              <a:lnSpc>
                <a:spcPts val="3013"/>
              </a:lnSpc>
            </a:pPr>
          </a:p>
          <a:p>
            <a:pPr algn="l">
              <a:lnSpc>
                <a:spcPts val="3013"/>
              </a:lnSpc>
            </a:pPr>
          </a:p>
          <a:p>
            <a:pPr algn="l">
              <a:lnSpc>
                <a:spcPts val="301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311" t="-78531" r="-11866" b="-50303"/>
            </a:stretch>
          </a:blipFill>
        </p:spPr>
      </p:sp>
      <p:sp>
        <p:nvSpPr>
          <p:cNvPr name="Freeform 3" id="3"/>
          <p:cNvSpPr/>
          <p:nvPr/>
        </p:nvSpPr>
        <p:spPr>
          <a:xfrm flipH="false" flipV="false" rot="0">
            <a:off x="3740227" y="0"/>
            <a:ext cx="8550234" cy="3375072"/>
          </a:xfrm>
          <a:custGeom>
            <a:avLst/>
            <a:gdLst/>
            <a:ahLst/>
            <a:cxnLst/>
            <a:rect r="r" b="b" t="t" l="l"/>
            <a:pathLst>
              <a:path h="3375072" w="8550234">
                <a:moveTo>
                  <a:pt x="0" y="0"/>
                </a:moveTo>
                <a:lnTo>
                  <a:pt x="8550233" y="0"/>
                </a:lnTo>
                <a:lnTo>
                  <a:pt x="8550233" y="3375072"/>
                </a:lnTo>
                <a:lnTo>
                  <a:pt x="0" y="3375072"/>
                </a:lnTo>
                <a:lnTo>
                  <a:pt x="0" y="0"/>
                </a:lnTo>
                <a:close/>
              </a:path>
            </a:pathLst>
          </a:custGeom>
          <a:blipFill>
            <a:blip r:embed="rId3">
              <a:alphaModFix amt="53000"/>
            </a:blip>
            <a:stretch>
              <a:fillRect l="0" t="-143834" r="0" b="0"/>
            </a:stretch>
          </a:blipFill>
        </p:spPr>
      </p:sp>
      <p:sp>
        <p:nvSpPr>
          <p:cNvPr name="Freeform 4" id="4"/>
          <p:cNvSpPr/>
          <p:nvPr/>
        </p:nvSpPr>
        <p:spPr>
          <a:xfrm flipH="false" flipV="false" rot="0">
            <a:off x="1197960" y="349435"/>
            <a:ext cx="431519" cy="431519"/>
          </a:xfrm>
          <a:custGeom>
            <a:avLst/>
            <a:gdLst/>
            <a:ahLst/>
            <a:cxnLst/>
            <a:rect r="r" b="b" t="t" l="l"/>
            <a:pathLst>
              <a:path h="431519" w="431519">
                <a:moveTo>
                  <a:pt x="0" y="0"/>
                </a:moveTo>
                <a:lnTo>
                  <a:pt x="431519" y="0"/>
                </a:lnTo>
                <a:lnTo>
                  <a:pt x="431519" y="431519"/>
                </a:lnTo>
                <a:lnTo>
                  <a:pt x="0" y="4315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6">
              <a:alphaModFix amt="58000"/>
            </a:blip>
            <a:stretch>
              <a:fillRect l="0" t="-98009" r="-1795" b="-98009"/>
            </a:stretch>
          </a:blipFill>
        </p:spPr>
      </p:sp>
      <p:sp>
        <p:nvSpPr>
          <p:cNvPr name="TextBox 6" id="6"/>
          <p:cNvSpPr txBox="true"/>
          <p:nvPr/>
        </p:nvSpPr>
        <p:spPr>
          <a:xfrm rot="0">
            <a:off x="1629479" y="1133475"/>
            <a:ext cx="13319998" cy="663321"/>
          </a:xfrm>
          <a:prstGeom prst="rect">
            <a:avLst/>
          </a:prstGeom>
        </p:spPr>
        <p:txBody>
          <a:bodyPr anchor="t" rtlCol="false" tIns="0" lIns="0" bIns="0" rIns="0">
            <a:spAutoFit/>
          </a:bodyPr>
          <a:lstStyle/>
          <a:p>
            <a:pPr algn="l">
              <a:lnSpc>
                <a:spcPts val="4947"/>
              </a:lnSpc>
            </a:pPr>
            <a:r>
              <a:rPr lang="en-US" sz="5100" b="true">
                <a:solidFill>
                  <a:srgbClr val="535D0F"/>
                </a:solidFill>
                <a:latin typeface="Bricolage Grotesque Bold"/>
                <a:ea typeface="Bricolage Grotesque Bold"/>
                <a:cs typeface="Bricolage Grotesque Bold"/>
                <a:sym typeface="Bricolage Grotesque Bold"/>
              </a:rPr>
              <a:t>FACE FRAMING</a:t>
            </a:r>
          </a:p>
        </p:txBody>
      </p:sp>
      <p:sp>
        <p:nvSpPr>
          <p:cNvPr name="Freeform 7" id="7"/>
          <p:cNvSpPr/>
          <p:nvPr/>
        </p:nvSpPr>
        <p:spPr>
          <a:xfrm flipH="false" flipV="false" rot="0">
            <a:off x="14722491" y="440519"/>
            <a:ext cx="1651547" cy="1753573"/>
          </a:xfrm>
          <a:custGeom>
            <a:avLst/>
            <a:gdLst/>
            <a:ahLst/>
            <a:cxnLst/>
            <a:rect r="r" b="b" t="t" l="l"/>
            <a:pathLst>
              <a:path h="1753573" w="1651547">
                <a:moveTo>
                  <a:pt x="0" y="0"/>
                </a:moveTo>
                <a:lnTo>
                  <a:pt x="1651547" y="0"/>
                </a:lnTo>
                <a:lnTo>
                  <a:pt x="1651547" y="1753574"/>
                </a:lnTo>
                <a:lnTo>
                  <a:pt x="0" y="1753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8" id="8"/>
          <p:cNvGraphicFramePr/>
          <p:nvPr/>
        </p:nvGraphicFramePr>
        <p:xfrm>
          <a:off x="1627701" y="2311853"/>
          <a:ext cx="3771900" cy="3143250"/>
        </p:xfrm>
        <a:graphic>
          <a:graphicData uri="http://schemas.openxmlformats.org/presentationml/2006/ole">
            <p:oleObj imgW="4521200" imgH="38862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1629479" y="2311853"/>
            <a:ext cx="14744559" cy="6866263"/>
          </a:xfrm>
          <a:custGeom>
            <a:avLst/>
            <a:gdLst/>
            <a:ahLst/>
            <a:cxnLst/>
            <a:rect r="r" b="b" t="t" l="l"/>
            <a:pathLst>
              <a:path h="6866263" w="14744559">
                <a:moveTo>
                  <a:pt x="0" y="0"/>
                </a:moveTo>
                <a:lnTo>
                  <a:pt x="14744559" y="0"/>
                </a:lnTo>
                <a:lnTo>
                  <a:pt x="14744559" y="6866262"/>
                </a:lnTo>
                <a:lnTo>
                  <a:pt x="0" y="6866262"/>
                </a:lnTo>
                <a:lnTo>
                  <a:pt x="0" y="0"/>
                </a:lnTo>
                <a:close/>
              </a:path>
            </a:pathLst>
          </a:custGeom>
          <a:blipFill>
            <a:blip r:embed="rId11"/>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311" t="-78531" r="-11866" b="-50303"/>
            </a:stretch>
          </a:blipFill>
        </p:spPr>
      </p:sp>
      <p:sp>
        <p:nvSpPr>
          <p:cNvPr name="Freeform 3" id="3"/>
          <p:cNvSpPr/>
          <p:nvPr/>
        </p:nvSpPr>
        <p:spPr>
          <a:xfrm flipH="false" flipV="false" rot="0">
            <a:off x="3740227" y="0"/>
            <a:ext cx="8550234" cy="3375072"/>
          </a:xfrm>
          <a:custGeom>
            <a:avLst/>
            <a:gdLst/>
            <a:ahLst/>
            <a:cxnLst/>
            <a:rect r="r" b="b" t="t" l="l"/>
            <a:pathLst>
              <a:path h="3375072" w="8550234">
                <a:moveTo>
                  <a:pt x="0" y="0"/>
                </a:moveTo>
                <a:lnTo>
                  <a:pt x="8550233" y="0"/>
                </a:lnTo>
                <a:lnTo>
                  <a:pt x="8550233" y="3375072"/>
                </a:lnTo>
                <a:lnTo>
                  <a:pt x="0" y="3375072"/>
                </a:lnTo>
                <a:lnTo>
                  <a:pt x="0" y="0"/>
                </a:lnTo>
                <a:close/>
              </a:path>
            </a:pathLst>
          </a:custGeom>
          <a:blipFill>
            <a:blip r:embed="rId3">
              <a:alphaModFix amt="53000"/>
            </a:blip>
            <a:stretch>
              <a:fillRect l="0" t="-143834" r="0" b="0"/>
            </a:stretch>
          </a:blipFill>
        </p:spPr>
      </p:sp>
      <p:sp>
        <p:nvSpPr>
          <p:cNvPr name="Freeform 4" id="4"/>
          <p:cNvSpPr/>
          <p:nvPr/>
        </p:nvSpPr>
        <p:spPr>
          <a:xfrm flipH="false" flipV="false" rot="0">
            <a:off x="1197960" y="349435"/>
            <a:ext cx="431519" cy="431519"/>
          </a:xfrm>
          <a:custGeom>
            <a:avLst/>
            <a:gdLst/>
            <a:ahLst/>
            <a:cxnLst/>
            <a:rect r="r" b="b" t="t" l="l"/>
            <a:pathLst>
              <a:path h="431519" w="431519">
                <a:moveTo>
                  <a:pt x="0" y="0"/>
                </a:moveTo>
                <a:lnTo>
                  <a:pt x="431519" y="0"/>
                </a:lnTo>
                <a:lnTo>
                  <a:pt x="431519" y="431519"/>
                </a:lnTo>
                <a:lnTo>
                  <a:pt x="0" y="4315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6">
              <a:alphaModFix amt="58000"/>
            </a:blip>
            <a:stretch>
              <a:fillRect l="0" t="-98009" r="-1795" b="-98009"/>
            </a:stretch>
          </a:blipFill>
        </p:spPr>
      </p:sp>
      <p:sp>
        <p:nvSpPr>
          <p:cNvPr name="TextBox 6" id="6"/>
          <p:cNvSpPr txBox="true"/>
          <p:nvPr/>
        </p:nvSpPr>
        <p:spPr>
          <a:xfrm rot="0">
            <a:off x="1629479" y="1133475"/>
            <a:ext cx="13319998" cy="663321"/>
          </a:xfrm>
          <a:prstGeom prst="rect">
            <a:avLst/>
          </a:prstGeom>
        </p:spPr>
        <p:txBody>
          <a:bodyPr anchor="t" rtlCol="false" tIns="0" lIns="0" bIns="0" rIns="0">
            <a:spAutoFit/>
          </a:bodyPr>
          <a:lstStyle/>
          <a:p>
            <a:pPr algn="l">
              <a:lnSpc>
                <a:spcPts val="4947"/>
              </a:lnSpc>
            </a:pPr>
            <a:r>
              <a:rPr lang="en-US" sz="5100" b="true">
                <a:solidFill>
                  <a:srgbClr val="535D0F"/>
                </a:solidFill>
                <a:latin typeface="Bricolage Grotesque Bold"/>
                <a:ea typeface="Bricolage Grotesque Bold"/>
                <a:cs typeface="Bricolage Grotesque Bold"/>
                <a:sym typeface="Bricolage Grotesque Bold"/>
              </a:rPr>
              <a:t>DELTA+ ASSESSMENT</a:t>
            </a:r>
          </a:p>
        </p:txBody>
      </p:sp>
      <p:sp>
        <p:nvSpPr>
          <p:cNvPr name="Freeform 7" id="7"/>
          <p:cNvSpPr/>
          <p:nvPr/>
        </p:nvSpPr>
        <p:spPr>
          <a:xfrm flipH="false" flipV="false" rot="0">
            <a:off x="14722491" y="440519"/>
            <a:ext cx="1651547" cy="1753573"/>
          </a:xfrm>
          <a:custGeom>
            <a:avLst/>
            <a:gdLst/>
            <a:ahLst/>
            <a:cxnLst/>
            <a:rect r="r" b="b" t="t" l="l"/>
            <a:pathLst>
              <a:path h="1753573" w="1651547">
                <a:moveTo>
                  <a:pt x="0" y="0"/>
                </a:moveTo>
                <a:lnTo>
                  <a:pt x="1651547" y="0"/>
                </a:lnTo>
                <a:lnTo>
                  <a:pt x="1651547" y="1753574"/>
                </a:lnTo>
                <a:lnTo>
                  <a:pt x="0" y="1753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8" id="8"/>
          <p:cNvGraphicFramePr/>
          <p:nvPr/>
        </p:nvGraphicFramePr>
        <p:xfrm>
          <a:off x="2238191" y="2194093"/>
          <a:ext cx="3771900" cy="5029200"/>
        </p:xfrm>
        <a:graphic>
          <a:graphicData uri="http://schemas.openxmlformats.org/presentationml/2006/ole">
            <p:oleObj imgW="4775200" imgH="60325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1702679" y="2194093"/>
            <a:ext cx="14060870" cy="8023252"/>
          </a:xfrm>
          <a:custGeom>
            <a:avLst/>
            <a:gdLst/>
            <a:ahLst/>
            <a:cxnLst/>
            <a:rect r="r" b="b" t="t" l="l"/>
            <a:pathLst>
              <a:path h="8023252" w="14060870">
                <a:moveTo>
                  <a:pt x="0" y="0"/>
                </a:moveTo>
                <a:lnTo>
                  <a:pt x="14060869" y="0"/>
                </a:lnTo>
                <a:lnTo>
                  <a:pt x="14060869" y="8023251"/>
                </a:lnTo>
                <a:lnTo>
                  <a:pt x="0" y="8023251"/>
                </a:lnTo>
                <a:lnTo>
                  <a:pt x="0" y="0"/>
                </a:lnTo>
                <a:close/>
              </a:path>
            </a:pathLst>
          </a:custGeom>
          <a:blipFill>
            <a:blip r:embed="rId11"/>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grpSp>
        <p:nvGrpSpPr>
          <p:cNvPr name="Group 3" id="3"/>
          <p:cNvGrpSpPr/>
          <p:nvPr/>
        </p:nvGrpSpPr>
        <p:grpSpPr>
          <a:xfrm rot="0">
            <a:off x="864451" y="461581"/>
            <a:ext cx="15910560" cy="1134237"/>
            <a:chOff x="0" y="0"/>
            <a:chExt cx="21214080" cy="1512316"/>
          </a:xfrm>
        </p:grpSpPr>
        <p:sp>
          <p:nvSpPr>
            <p:cNvPr name="Freeform 4" id="4"/>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4">
                <a:alphaModFix amt="0"/>
              </a:blip>
              <a:stretch>
                <a:fillRect l="0" t="-229793" r="0" b="-216860"/>
              </a:stretch>
            </a:blipFill>
          </p:spPr>
        </p:sp>
        <p:sp>
          <p:nvSpPr>
            <p:cNvPr name="TextBox 5" id="5"/>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DATA &amp; METHODOLOGY</a:t>
              </a:r>
            </a:p>
          </p:txBody>
        </p:sp>
      </p:grpSp>
      <p:grpSp>
        <p:nvGrpSpPr>
          <p:cNvPr name="Group 6" id="6"/>
          <p:cNvGrpSpPr/>
          <p:nvPr/>
        </p:nvGrpSpPr>
        <p:grpSpPr>
          <a:xfrm rot="0">
            <a:off x="1028700" y="1431719"/>
            <a:ext cx="16322040" cy="8710504"/>
            <a:chOff x="0" y="0"/>
            <a:chExt cx="21762720" cy="11614005"/>
          </a:xfrm>
        </p:grpSpPr>
        <p:sp>
          <p:nvSpPr>
            <p:cNvPr name="Freeform 7" id="7"/>
            <p:cNvSpPr/>
            <p:nvPr/>
          </p:nvSpPr>
          <p:spPr>
            <a:xfrm flipH="false" flipV="false" rot="0">
              <a:off x="0" y="0"/>
              <a:ext cx="21762720" cy="11614005"/>
            </a:xfrm>
            <a:custGeom>
              <a:avLst/>
              <a:gdLst/>
              <a:ahLst/>
              <a:cxnLst/>
              <a:rect r="r" b="b" t="t" l="l"/>
              <a:pathLst>
                <a:path h="11614005" w="21762720">
                  <a:moveTo>
                    <a:pt x="0" y="0"/>
                  </a:moveTo>
                  <a:lnTo>
                    <a:pt x="21762720" y="0"/>
                  </a:lnTo>
                  <a:lnTo>
                    <a:pt x="21762720" y="11614005"/>
                  </a:lnTo>
                  <a:lnTo>
                    <a:pt x="0" y="11614005"/>
                  </a:lnTo>
                  <a:close/>
                </a:path>
              </a:pathLst>
            </a:custGeom>
            <a:blipFill>
              <a:blip r:embed="rId4">
                <a:alphaModFix amt="0"/>
              </a:blip>
              <a:stretch>
                <a:fillRect l="0" t="-33204" r="0" b="60181"/>
              </a:stretch>
            </a:blipFill>
          </p:spPr>
        </p:sp>
        <p:sp>
          <p:nvSpPr>
            <p:cNvPr name="TextBox 8" id="8"/>
            <p:cNvSpPr txBox="true"/>
            <p:nvPr/>
          </p:nvSpPr>
          <p:spPr>
            <a:xfrm>
              <a:off x="0" y="0"/>
              <a:ext cx="21762720" cy="11614005"/>
            </a:xfrm>
            <a:prstGeom prst="rect">
              <a:avLst/>
            </a:prstGeom>
          </p:spPr>
          <p:txBody>
            <a:bodyPr anchor="ctr" rtlCol="false" tIns="0" lIns="0" bIns="0" rIns="0"/>
            <a:lstStyle/>
            <a:p>
              <a:pPr algn="l">
                <a:lnSpc>
                  <a:spcPts val="2669"/>
                </a:lnSpc>
              </a:pPr>
              <a:r>
                <a:rPr lang="en-US" sz="2224">
                  <a:solidFill>
                    <a:srgbClr val="000000"/>
                  </a:solidFill>
                  <a:latin typeface="Inter"/>
                  <a:ea typeface="Inter"/>
                  <a:cs typeface="Inter"/>
                  <a:sym typeface="Inter"/>
                </a:rPr>
                <a:t>References</a:t>
              </a:r>
            </a:p>
            <a:p>
              <a:pPr algn="l">
                <a:lnSpc>
                  <a:spcPts val="2669"/>
                </a:lnSpc>
              </a:pPr>
            </a:p>
            <a:p>
              <a:pPr algn="l" marL="437197" indent="-218599" lvl="1">
                <a:lnSpc>
                  <a:spcPts val="3219"/>
                </a:lnSpc>
                <a:buAutoNum type="arabicPeriod" startAt="1"/>
              </a:pPr>
              <a:r>
                <a:rPr lang="en-US" sz="2025">
                  <a:solidFill>
                    <a:srgbClr val="000000"/>
                  </a:solidFill>
                  <a:latin typeface="Inter"/>
                  <a:ea typeface="Inter"/>
                  <a:cs typeface="Inter"/>
                  <a:sym typeface="Inter"/>
                </a:rPr>
                <a:t>Agency for Healthcare Research and Quality. (2012). Medications at Transitions and Clinical Handoffs (MATCH) toolkit for medication reconciliation (AHRQ Publication No. 11(12)-0059). U.S. Department of Health and Human Services. </a:t>
              </a:r>
              <a:r>
                <a:rPr lang="en-US" sz="2025" u="sng">
                  <a:solidFill>
                    <a:srgbClr val="000000"/>
                  </a:solidFill>
                  <a:latin typeface="Inter"/>
                  <a:ea typeface="Inter"/>
                  <a:cs typeface="Inter"/>
                  <a:sym typeface="Inter"/>
                  <a:hlinkClick r:id="rId5" tooltip="https://www.ahrq.gov/patient-safety/settings/hospital/match/index.html"/>
                </a:rPr>
                <a:t>https://www.ahrq.gov/patient-safety/settings/hospital/match/index.html</a:t>
              </a:r>
            </a:p>
            <a:p>
              <a:pPr algn="l" marL="437197" indent="-218599" lvl="1">
                <a:lnSpc>
                  <a:spcPts val="3219"/>
                </a:lnSpc>
                <a:buAutoNum type="arabicPeriod" startAt="1"/>
              </a:pPr>
              <a:r>
                <a:rPr lang="en-US" sz="2025">
                  <a:solidFill>
                    <a:srgbClr val="000000"/>
                  </a:solidFill>
                  <a:latin typeface="Inter"/>
                  <a:ea typeface="Inter"/>
                  <a:cs typeface="Inter"/>
                  <a:sym typeface="Inter"/>
                </a:rPr>
                <a:t>Agency for Healthcare Research and Quality. (2015). Re-Engineered Discharge (RED) toolkit (AHRQ Publication No. 12(13)-0084). U.S. Department of Health and Human Services. </a:t>
              </a:r>
              <a:r>
                <a:rPr lang="en-US" sz="2025" u="sng">
                  <a:solidFill>
                    <a:srgbClr val="000000"/>
                  </a:solidFill>
                  <a:latin typeface="Inter"/>
                  <a:ea typeface="Inter"/>
                  <a:cs typeface="Inter"/>
                  <a:sym typeface="Inter"/>
                  <a:hlinkClick r:id="rId6" tooltip="https://www.ahrq.gov/patient-safety/settings/hospital/red/toolkit/index.html"/>
                </a:rPr>
                <a:t>https://www.ahrq.gov/patient-safety/settings/hospital/red/toolkit/index.html</a:t>
              </a:r>
            </a:p>
            <a:p>
              <a:pPr algn="l" marL="437197" indent="-218599" lvl="1">
                <a:lnSpc>
                  <a:spcPts val="3219"/>
                </a:lnSpc>
                <a:buAutoNum type="arabicPeriod" startAt="1"/>
              </a:pPr>
              <a:r>
                <a:rPr lang="en-US" sz="2025">
                  <a:solidFill>
                    <a:srgbClr val="000000"/>
                  </a:solidFill>
                  <a:latin typeface="Inter"/>
                  <a:ea typeface="Inter"/>
                  <a:cs typeface="Inter"/>
                  <a:sym typeface="Inter"/>
                </a:rPr>
                <a:t>Agency for Healthcare Research and Quality. (2024). AHRQ health literacy universal precautions toolkit (3rd ed.). U.S. Department of Health and Human Services. </a:t>
              </a:r>
              <a:r>
                <a:rPr lang="en-US" sz="2025" u="sng">
                  <a:solidFill>
                    <a:srgbClr val="000000"/>
                  </a:solidFill>
                  <a:latin typeface="Inter"/>
                  <a:ea typeface="Inter"/>
                  <a:cs typeface="Inter"/>
                  <a:sym typeface="Inter"/>
                  <a:hlinkClick r:id="rId7" tooltip="https://www.ahrq.gov/health-literacy/improve/precautions/index.html"/>
                </a:rPr>
                <a:t>https://www.ahrq.gov/health-literacy/improve/precautions/index.html</a:t>
              </a:r>
            </a:p>
            <a:p>
              <a:pPr algn="l" marL="437197" indent="-218599" lvl="1">
                <a:lnSpc>
                  <a:spcPts val="3219"/>
                </a:lnSpc>
                <a:buAutoNum type="arabicPeriod" startAt="1"/>
              </a:pPr>
              <a:r>
                <a:rPr lang="en-US" sz="2025">
                  <a:solidFill>
                    <a:srgbClr val="000000"/>
                  </a:solidFill>
                  <a:latin typeface="Inter"/>
                  <a:ea typeface="Inter"/>
                  <a:cs typeface="Inter"/>
                  <a:sym typeface="Inter"/>
                </a:rPr>
                <a:t>Centers for Medicare &amp; Medicaid Services. (2026). Frequently Asked Questions For Publicly Reported Claims-Based Outcome Measures. </a:t>
              </a:r>
              <a:r>
                <a:rPr lang="en-US" sz="2025" u="sng">
                  <a:solidFill>
                    <a:srgbClr val="000000"/>
                  </a:solidFill>
                  <a:latin typeface="Inter"/>
                  <a:ea typeface="Inter"/>
                  <a:cs typeface="Inter"/>
                  <a:sym typeface="Inter"/>
                </a:rPr>
                <a:t>https://qualitynet.cms.gov/files/69c59e5d4110de9e75d8df9e?filename=2026_CBM_FAQ.pdf</a:t>
              </a:r>
            </a:p>
            <a:p>
              <a:pPr algn="l" marL="437197" indent="-218599" lvl="1">
                <a:lnSpc>
                  <a:spcPts val="3219"/>
                </a:lnSpc>
                <a:buAutoNum type="arabicPeriod" startAt="1"/>
              </a:pPr>
              <a:r>
                <a:rPr lang="en-US" sz="2025">
                  <a:solidFill>
                    <a:srgbClr val="000000"/>
                  </a:solidFill>
                  <a:latin typeface="Inter"/>
                  <a:ea typeface="Inter"/>
                  <a:cs typeface="Inter"/>
                  <a:sym typeface="Inter"/>
                </a:rPr>
                <a:t>Centers for Medicare &amp; Medicaid Services. (2026, July). Readmission Measures Hospital-Specific Report User Guide 2026 Public and Confidential Reporting. </a:t>
              </a:r>
              <a:r>
                <a:rPr lang="en-US" sz="2025" u="sng">
                  <a:solidFill>
                    <a:srgbClr val="000000"/>
                  </a:solidFill>
                  <a:latin typeface="Inter"/>
                  <a:ea typeface="Inter"/>
                  <a:cs typeface="Inter"/>
                  <a:sym typeface="Inter"/>
                </a:rPr>
                <a:t>https://qualitynet.cms.gov/files/6a0dcffc0bc8b455c2401ecf?filename=July2026-Readmission-HUG.pdf</a:t>
              </a:r>
            </a:p>
            <a:p>
              <a:pPr algn="l" marL="437197" indent="-218599" lvl="1">
                <a:lnSpc>
                  <a:spcPts val="3219"/>
                </a:lnSpc>
                <a:buAutoNum type="arabicPeriod" startAt="1"/>
              </a:pPr>
              <a:r>
                <a:rPr lang="en-US" sz="2025">
                  <a:solidFill>
                    <a:srgbClr val="000000"/>
                  </a:solidFill>
                  <a:latin typeface="Inter"/>
                  <a:ea typeface="Inter"/>
                  <a:cs typeface="Inter"/>
                  <a:sym typeface="Inter"/>
                </a:rPr>
                <a:t>Discharge planning, 42 C.F.R. § 482.43 (2026). </a:t>
              </a:r>
              <a:r>
                <a:rPr lang="en-US" sz="2025" u="sng">
                  <a:solidFill>
                    <a:srgbClr val="000000"/>
                  </a:solidFill>
                  <a:latin typeface="Inter"/>
                  <a:ea typeface="Inter"/>
                  <a:cs typeface="Inter"/>
                  <a:sym typeface="Inter"/>
                  <a:hlinkClick r:id="rId8" tooltip="https://www.ecfr.gov/current/title-42/chapter-IV/subchapter-G/part-482/subpart-C/section-482.43"/>
                </a:rPr>
                <a:t>https://www.ecfr.gov/current/title-42/chapter-IV/subchapter-G/part-482/subpart-C/section-482.43</a:t>
              </a:r>
            </a:p>
            <a:p>
              <a:pPr algn="l" marL="437197" indent="-218599" lvl="1">
                <a:lnSpc>
                  <a:spcPts val="3219"/>
                </a:lnSpc>
                <a:buAutoNum type="arabicPeriod" startAt="1"/>
              </a:pPr>
              <a:r>
                <a:rPr lang="en-US" sz="2025">
                  <a:solidFill>
                    <a:srgbClr val="000000"/>
                  </a:solidFill>
                  <a:latin typeface="Inter"/>
                  <a:ea typeface="Inter"/>
                  <a:cs typeface="Inter"/>
                  <a:sym typeface="Inter"/>
                </a:rPr>
                <a:t>Strack, B., DeShazo, J. P., Gennings, C., Olmo, J. L., Ventura, S., Cios, K. J., &amp; Clore, J. N. (2014). Impact of HbA1c measurement on hospital readmission rates: Analysis of 70,000 clinical database patient records. BioMed Research International, 2014, Article 781670. </a:t>
              </a:r>
              <a:r>
                <a:rPr lang="en-US" sz="2025" u="sng">
                  <a:solidFill>
                    <a:srgbClr val="000000"/>
                  </a:solidFill>
                  <a:latin typeface="Inter"/>
                  <a:ea typeface="Inter"/>
                  <a:cs typeface="Inter"/>
                  <a:sym typeface="Inter"/>
                  <a:hlinkClick r:id="rId9" tooltip="https://doi.org/10.1155/2014/781670"/>
                </a:rPr>
                <a:t>https://doi.org/10.1155/2014/781670</a:t>
              </a:r>
            </a:p>
            <a:p>
              <a:pPr algn="l" marL="437197" indent="-218599" lvl="1">
                <a:lnSpc>
                  <a:spcPts val="3219"/>
                </a:lnSpc>
                <a:buAutoNum type="arabicPeriod" startAt="1"/>
              </a:pPr>
              <a:r>
                <a:rPr lang="en-US" sz="2025">
                  <a:solidFill>
                    <a:srgbClr val="000000"/>
                  </a:solidFill>
                  <a:latin typeface="Inter"/>
                  <a:ea typeface="Inter"/>
                  <a:cs typeface="Inter"/>
                  <a:sym typeface="Inter"/>
                </a:rPr>
                <a:t>UCI Machine Learning Repository. (2014). Diabetes 130-US hospitals for years 1999–2008 [Data set]. University of California, Irvine. </a:t>
              </a:r>
              <a:r>
                <a:rPr lang="en-US" sz="2025" u="sng">
                  <a:solidFill>
                    <a:srgbClr val="000000"/>
                  </a:solidFill>
                  <a:latin typeface="Inter"/>
                  <a:ea typeface="Inter"/>
                  <a:cs typeface="Inter"/>
                  <a:sym typeface="Inter"/>
                  <a:hlinkClick r:id="rId10" tooltip="https://doi.org/10.24432/C5230J"/>
                </a:rPr>
                <a:t>https://doi.org/10.24432/C5230J</a:t>
              </a:r>
            </a:p>
            <a:p>
              <a:pPr algn="l">
                <a:lnSpc>
                  <a:spcPts val="243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652172" y="772280"/>
            <a:ext cx="16937936" cy="8742441"/>
          </a:xfrm>
          <a:custGeom>
            <a:avLst/>
            <a:gdLst/>
            <a:ahLst/>
            <a:cxnLst/>
            <a:rect r="r" b="b" t="t" l="l"/>
            <a:pathLst>
              <a:path h="8742441" w="16937936">
                <a:moveTo>
                  <a:pt x="0" y="0"/>
                </a:moveTo>
                <a:lnTo>
                  <a:pt x="16937936" y="0"/>
                </a:lnTo>
                <a:lnTo>
                  <a:pt x="16937936" y="8742440"/>
                </a:lnTo>
                <a:lnTo>
                  <a:pt x="0" y="874244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22960" y="987552"/>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DATA &amp; METHODOLOGY</a:t>
              </a:r>
            </a:p>
          </p:txBody>
        </p:sp>
      </p:grpSp>
      <p:grpSp>
        <p:nvGrpSpPr>
          <p:cNvPr name="Group 7" id="7"/>
          <p:cNvGrpSpPr/>
          <p:nvPr/>
        </p:nvGrpSpPr>
        <p:grpSpPr>
          <a:xfrm rot="0">
            <a:off x="1097280" y="2033332"/>
            <a:ext cx="16322040" cy="741110"/>
            <a:chOff x="0" y="0"/>
            <a:chExt cx="21762720" cy="988147"/>
          </a:xfrm>
        </p:grpSpPr>
        <p:sp>
          <p:nvSpPr>
            <p:cNvPr name="Freeform 8" id="8"/>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5">
                <a:alphaModFix amt="0"/>
              </a:blip>
              <a:stretch>
                <a:fillRect l="0" t="-390268" r="0" b="-367999"/>
              </a:stretch>
            </a:blipFill>
          </p:spPr>
        </p:sp>
        <p:sp>
          <p:nvSpPr>
            <p:cNvPr name="TextBox 9" id="9"/>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000000"/>
                  </a:solidFill>
                  <a:latin typeface="Inter Bold"/>
                  <a:ea typeface="Inter Bold"/>
                  <a:cs typeface="Inter Bold"/>
                  <a:sym typeface="Inter Bold"/>
                </a:rPr>
                <a:t>UCI Diabetes 130-US Hospitals (1999–2008). Three cohort decisions materially change the result — each is a clinical judgment, not a default.</a:t>
              </a:r>
            </a:p>
          </p:txBody>
        </p:sp>
      </p:grpSp>
      <p:grpSp>
        <p:nvGrpSpPr>
          <p:cNvPr name="Group 10" id="10"/>
          <p:cNvGrpSpPr/>
          <p:nvPr/>
        </p:nvGrpSpPr>
        <p:grpSpPr>
          <a:xfrm rot="0">
            <a:off x="813435" y="2898267"/>
            <a:ext cx="4888230" cy="1418082"/>
            <a:chOff x="0" y="0"/>
            <a:chExt cx="6517640" cy="1890776"/>
          </a:xfrm>
        </p:grpSpPr>
        <p:sp>
          <p:nvSpPr>
            <p:cNvPr name="Freeform 11" id="11"/>
            <p:cNvSpPr/>
            <p:nvPr/>
          </p:nvSpPr>
          <p:spPr>
            <a:xfrm flipH="false" flipV="false" rot="0">
              <a:off x="0" y="0"/>
              <a:ext cx="6517640" cy="1890776"/>
            </a:xfrm>
            <a:custGeom>
              <a:avLst/>
              <a:gdLst/>
              <a:ahLst/>
              <a:cxnLst/>
              <a:rect r="r" b="b" t="t" l="l"/>
              <a:pathLst>
                <a:path h="1890776" w="6517640">
                  <a:moveTo>
                    <a:pt x="0" y="148336"/>
                  </a:moveTo>
                  <a:cubicBezTo>
                    <a:pt x="0" y="66421"/>
                    <a:pt x="66421" y="0"/>
                    <a:pt x="148336" y="0"/>
                  </a:cubicBezTo>
                  <a:lnTo>
                    <a:pt x="6369304" y="0"/>
                  </a:lnTo>
                  <a:cubicBezTo>
                    <a:pt x="6451219" y="0"/>
                    <a:pt x="6517640" y="66421"/>
                    <a:pt x="6517640" y="148336"/>
                  </a:cubicBezTo>
                  <a:lnTo>
                    <a:pt x="6517640" y="1742440"/>
                  </a:lnTo>
                  <a:cubicBezTo>
                    <a:pt x="6517640" y="1824355"/>
                    <a:pt x="6451219" y="1890776"/>
                    <a:pt x="6369304" y="1890776"/>
                  </a:cubicBezTo>
                  <a:lnTo>
                    <a:pt x="148336" y="1890776"/>
                  </a:lnTo>
                  <a:cubicBezTo>
                    <a:pt x="66421" y="1890776"/>
                    <a:pt x="0" y="1824355"/>
                    <a:pt x="0" y="1742440"/>
                  </a:cubicBezTo>
                  <a:close/>
                </a:path>
              </a:pathLst>
            </a:custGeom>
            <a:solidFill>
              <a:srgbClr val="F4F7F9"/>
            </a:solidFill>
            <a:ln w="19050" cap="sq">
              <a:solidFill>
                <a:srgbClr val="DDE5EA"/>
              </a:solidFill>
              <a:prstDash val="solid"/>
              <a:miter/>
            </a:ln>
          </p:spPr>
        </p:sp>
      </p:grpSp>
      <p:grpSp>
        <p:nvGrpSpPr>
          <p:cNvPr name="Group 12" id="12"/>
          <p:cNvGrpSpPr/>
          <p:nvPr/>
        </p:nvGrpSpPr>
        <p:grpSpPr>
          <a:xfrm rot="0">
            <a:off x="822960" y="3044952"/>
            <a:ext cx="4869180" cy="867918"/>
            <a:chOff x="0" y="0"/>
            <a:chExt cx="6492240" cy="1157224"/>
          </a:xfrm>
        </p:grpSpPr>
        <p:sp>
          <p:nvSpPr>
            <p:cNvPr name="Freeform 13" id="13"/>
            <p:cNvSpPr/>
            <p:nvPr/>
          </p:nvSpPr>
          <p:spPr>
            <a:xfrm flipH="false" flipV="false" rot="0">
              <a:off x="0" y="0"/>
              <a:ext cx="6492240" cy="1157224"/>
            </a:xfrm>
            <a:custGeom>
              <a:avLst/>
              <a:gdLst/>
              <a:ahLst/>
              <a:cxnLst/>
              <a:rect r="r" b="b" t="t" l="l"/>
              <a:pathLst>
                <a:path h="1157224" w="6492240">
                  <a:moveTo>
                    <a:pt x="0" y="0"/>
                  </a:moveTo>
                  <a:lnTo>
                    <a:pt x="6492240" y="0"/>
                  </a:lnTo>
                  <a:lnTo>
                    <a:pt x="6492240" y="1157224"/>
                  </a:lnTo>
                  <a:lnTo>
                    <a:pt x="0" y="1157224"/>
                  </a:lnTo>
                  <a:close/>
                </a:path>
              </a:pathLst>
            </a:custGeom>
            <a:blipFill>
              <a:blip r:embed="rId5">
                <a:alphaModFix amt="0"/>
              </a:blip>
              <a:stretch>
                <a:fillRect l="0" t="-72966" r="0" b="-45662"/>
              </a:stretch>
            </a:blipFill>
          </p:spPr>
        </p:sp>
        <p:sp>
          <p:nvSpPr>
            <p:cNvPr name="TextBox 14" id="14"/>
            <p:cNvSpPr txBox="true"/>
            <p:nvPr/>
          </p:nvSpPr>
          <p:spPr>
            <a:xfrm>
              <a:off x="0" y="0"/>
              <a:ext cx="6492240" cy="1157224"/>
            </a:xfrm>
            <a:prstGeom prst="rect">
              <a:avLst/>
            </a:prstGeom>
          </p:spPr>
          <p:txBody>
            <a:bodyPr anchor="ctr" rtlCol="false" tIns="0" lIns="0" bIns="0" rIns="0"/>
            <a:lstStyle/>
            <a:p>
              <a:pPr algn="ctr">
                <a:lnSpc>
                  <a:spcPts val="4680"/>
                </a:lnSpc>
              </a:pPr>
              <a:r>
                <a:rPr lang="en-US" b="true" sz="3900">
                  <a:solidFill>
                    <a:srgbClr val="8D140B"/>
                  </a:solidFill>
                  <a:latin typeface="Bricolage Grotesque Bold"/>
                  <a:ea typeface="Bricolage Grotesque Bold"/>
                  <a:cs typeface="Bricolage Grotesque Bold"/>
                  <a:sym typeface="Bricolage Grotesque Bold"/>
                </a:rPr>
                <a:t>101,766</a:t>
              </a:r>
            </a:p>
          </p:txBody>
        </p:sp>
      </p:grpSp>
      <p:grpSp>
        <p:nvGrpSpPr>
          <p:cNvPr name="Group 15" id="15"/>
          <p:cNvGrpSpPr/>
          <p:nvPr/>
        </p:nvGrpSpPr>
        <p:grpSpPr>
          <a:xfrm rot="0">
            <a:off x="960120" y="3703320"/>
            <a:ext cx="4594860" cy="466344"/>
            <a:chOff x="0" y="0"/>
            <a:chExt cx="6126480" cy="621792"/>
          </a:xfrm>
        </p:grpSpPr>
        <p:sp>
          <p:nvSpPr>
            <p:cNvPr name="Freeform 16" id="16"/>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5">
                <a:alphaModFix amt="0"/>
              </a:blip>
              <a:stretch>
                <a:fillRect l="0" t="-141984" r="0" b="-141984"/>
              </a:stretch>
            </a:blipFill>
          </p:spPr>
        </p:sp>
        <p:sp>
          <p:nvSpPr>
            <p:cNvPr name="TextBox 17" id="17"/>
            <p:cNvSpPr txBox="true"/>
            <p:nvPr/>
          </p:nvSpPr>
          <p:spPr>
            <a:xfrm>
              <a:off x="0" y="0"/>
              <a:ext cx="6126480" cy="621792"/>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Raw encounters</a:t>
              </a:r>
            </a:p>
          </p:txBody>
        </p:sp>
      </p:grpSp>
      <p:grpSp>
        <p:nvGrpSpPr>
          <p:cNvPr name="Group 18" id="18"/>
          <p:cNvGrpSpPr/>
          <p:nvPr/>
        </p:nvGrpSpPr>
        <p:grpSpPr>
          <a:xfrm rot="0">
            <a:off x="5719572" y="3319272"/>
            <a:ext cx="356616" cy="562356"/>
            <a:chOff x="0" y="0"/>
            <a:chExt cx="475488" cy="749808"/>
          </a:xfrm>
        </p:grpSpPr>
        <p:sp>
          <p:nvSpPr>
            <p:cNvPr name="Freeform 19" id="19"/>
            <p:cNvSpPr/>
            <p:nvPr/>
          </p:nvSpPr>
          <p:spPr>
            <a:xfrm flipH="false" flipV="false" rot="0">
              <a:off x="0" y="0"/>
              <a:ext cx="475488" cy="749808"/>
            </a:xfrm>
            <a:custGeom>
              <a:avLst/>
              <a:gdLst/>
              <a:ahLst/>
              <a:cxnLst/>
              <a:rect r="r" b="b" t="t" l="l"/>
              <a:pathLst>
                <a:path h="749808" w="475488">
                  <a:moveTo>
                    <a:pt x="0" y="0"/>
                  </a:moveTo>
                  <a:lnTo>
                    <a:pt x="475488" y="0"/>
                  </a:lnTo>
                  <a:lnTo>
                    <a:pt x="475488" y="749808"/>
                  </a:lnTo>
                  <a:lnTo>
                    <a:pt x="0" y="749808"/>
                  </a:lnTo>
                  <a:close/>
                </a:path>
              </a:pathLst>
            </a:custGeom>
            <a:blipFill>
              <a:blip r:embed="rId5">
                <a:alphaModFix amt="0"/>
              </a:blip>
              <a:stretch>
                <a:fillRect l="-147390" t="0" r="-147390" b="2439"/>
              </a:stretch>
            </a:blipFill>
          </p:spPr>
        </p:sp>
        <p:sp>
          <p:nvSpPr>
            <p:cNvPr name="TextBox 20" id="20"/>
            <p:cNvSpPr txBox="true"/>
            <p:nvPr/>
          </p:nvSpPr>
          <p:spPr>
            <a:xfrm>
              <a:off x="0" y="-9525"/>
              <a:ext cx="475488" cy="759333"/>
            </a:xfrm>
            <a:prstGeom prst="rect">
              <a:avLst/>
            </a:prstGeom>
          </p:spPr>
          <p:txBody>
            <a:bodyPr anchor="ctr" rtlCol="false" tIns="0" lIns="0" bIns="0" rIns="0"/>
            <a:lstStyle/>
            <a:p>
              <a:pPr algn="ctr">
                <a:lnSpc>
                  <a:spcPts val="3060"/>
                </a:lnSpc>
              </a:pPr>
              <a:r>
                <a:rPr lang="en-US" b="true" sz="2550">
                  <a:solidFill>
                    <a:srgbClr val="8D140B"/>
                  </a:solidFill>
                  <a:latin typeface="Bricolage Grotesque Bold"/>
                  <a:ea typeface="Bricolage Grotesque Bold"/>
                  <a:cs typeface="Bricolage Grotesque Bold"/>
                  <a:sym typeface="Bricolage Grotesque Bold"/>
                </a:rPr>
                <a:t>→</a:t>
              </a:r>
            </a:p>
          </p:txBody>
        </p:sp>
      </p:grpSp>
      <p:grpSp>
        <p:nvGrpSpPr>
          <p:cNvPr name="Group 21" id="21"/>
          <p:cNvGrpSpPr/>
          <p:nvPr/>
        </p:nvGrpSpPr>
        <p:grpSpPr>
          <a:xfrm rot="0">
            <a:off x="6052947" y="2898267"/>
            <a:ext cx="4888230" cy="1418082"/>
            <a:chOff x="0" y="0"/>
            <a:chExt cx="6517640" cy="1890776"/>
          </a:xfrm>
        </p:grpSpPr>
        <p:sp>
          <p:nvSpPr>
            <p:cNvPr name="Freeform 22" id="22"/>
            <p:cNvSpPr/>
            <p:nvPr/>
          </p:nvSpPr>
          <p:spPr>
            <a:xfrm flipH="false" flipV="false" rot="0">
              <a:off x="0" y="0"/>
              <a:ext cx="6517640" cy="1890776"/>
            </a:xfrm>
            <a:custGeom>
              <a:avLst/>
              <a:gdLst/>
              <a:ahLst/>
              <a:cxnLst/>
              <a:rect r="r" b="b" t="t" l="l"/>
              <a:pathLst>
                <a:path h="1890776" w="6517640">
                  <a:moveTo>
                    <a:pt x="0" y="148336"/>
                  </a:moveTo>
                  <a:cubicBezTo>
                    <a:pt x="0" y="66421"/>
                    <a:pt x="66421" y="0"/>
                    <a:pt x="148336" y="0"/>
                  </a:cubicBezTo>
                  <a:lnTo>
                    <a:pt x="6369304" y="0"/>
                  </a:lnTo>
                  <a:cubicBezTo>
                    <a:pt x="6451219" y="0"/>
                    <a:pt x="6517640" y="66421"/>
                    <a:pt x="6517640" y="148336"/>
                  </a:cubicBezTo>
                  <a:lnTo>
                    <a:pt x="6517640" y="1742440"/>
                  </a:lnTo>
                  <a:cubicBezTo>
                    <a:pt x="6517640" y="1824355"/>
                    <a:pt x="6451219" y="1890776"/>
                    <a:pt x="6369304" y="1890776"/>
                  </a:cubicBezTo>
                  <a:lnTo>
                    <a:pt x="148336" y="1890776"/>
                  </a:lnTo>
                  <a:cubicBezTo>
                    <a:pt x="66421" y="1890776"/>
                    <a:pt x="0" y="1824355"/>
                    <a:pt x="0" y="1742440"/>
                  </a:cubicBezTo>
                  <a:close/>
                </a:path>
              </a:pathLst>
            </a:custGeom>
            <a:solidFill>
              <a:srgbClr val="F4F7F9"/>
            </a:solidFill>
            <a:ln w="19050" cap="sq">
              <a:solidFill>
                <a:srgbClr val="DDE5EA"/>
              </a:solidFill>
              <a:prstDash val="solid"/>
              <a:miter/>
            </a:ln>
          </p:spPr>
        </p:sp>
      </p:grpSp>
      <p:grpSp>
        <p:nvGrpSpPr>
          <p:cNvPr name="Group 23" id="23"/>
          <p:cNvGrpSpPr/>
          <p:nvPr/>
        </p:nvGrpSpPr>
        <p:grpSpPr>
          <a:xfrm rot="0">
            <a:off x="6062472" y="3044952"/>
            <a:ext cx="4869180" cy="867918"/>
            <a:chOff x="0" y="0"/>
            <a:chExt cx="6492240" cy="1157224"/>
          </a:xfrm>
        </p:grpSpPr>
        <p:sp>
          <p:nvSpPr>
            <p:cNvPr name="Freeform 24" id="24"/>
            <p:cNvSpPr/>
            <p:nvPr/>
          </p:nvSpPr>
          <p:spPr>
            <a:xfrm flipH="false" flipV="false" rot="0">
              <a:off x="0" y="0"/>
              <a:ext cx="6492240" cy="1157224"/>
            </a:xfrm>
            <a:custGeom>
              <a:avLst/>
              <a:gdLst/>
              <a:ahLst/>
              <a:cxnLst/>
              <a:rect r="r" b="b" t="t" l="l"/>
              <a:pathLst>
                <a:path h="1157224" w="6492240">
                  <a:moveTo>
                    <a:pt x="0" y="0"/>
                  </a:moveTo>
                  <a:lnTo>
                    <a:pt x="6492240" y="0"/>
                  </a:lnTo>
                  <a:lnTo>
                    <a:pt x="6492240" y="1157224"/>
                  </a:lnTo>
                  <a:lnTo>
                    <a:pt x="0" y="1157224"/>
                  </a:lnTo>
                  <a:close/>
                </a:path>
              </a:pathLst>
            </a:custGeom>
            <a:blipFill>
              <a:blip r:embed="rId5">
                <a:alphaModFix amt="0"/>
              </a:blip>
              <a:stretch>
                <a:fillRect l="0" t="-72966" r="0" b="-45662"/>
              </a:stretch>
            </a:blipFill>
          </p:spPr>
        </p:sp>
        <p:sp>
          <p:nvSpPr>
            <p:cNvPr name="TextBox 25" id="25"/>
            <p:cNvSpPr txBox="true"/>
            <p:nvPr/>
          </p:nvSpPr>
          <p:spPr>
            <a:xfrm>
              <a:off x="0" y="0"/>
              <a:ext cx="6492240" cy="1157224"/>
            </a:xfrm>
            <a:prstGeom prst="rect">
              <a:avLst/>
            </a:prstGeom>
          </p:spPr>
          <p:txBody>
            <a:bodyPr anchor="ctr" rtlCol="false" tIns="0" lIns="0" bIns="0" rIns="0"/>
            <a:lstStyle/>
            <a:p>
              <a:pPr algn="ctr">
                <a:lnSpc>
                  <a:spcPts val="4680"/>
                </a:lnSpc>
              </a:pPr>
              <a:r>
                <a:rPr lang="en-US" b="true" sz="3900">
                  <a:solidFill>
                    <a:srgbClr val="8D140B"/>
                  </a:solidFill>
                  <a:latin typeface="Bricolage Grotesque Bold"/>
                  <a:ea typeface="Bricolage Grotesque Bold"/>
                  <a:cs typeface="Bricolage Grotesque Bold"/>
                  <a:sym typeface="Bricolage Grotesque Bold"/>
                </a:rPr>
                <a:t>99,343</a:t>
              </a:r>
            </a:p>
          </p:txBody>
        </p:sp>
      </p:grpSp>
      <p:grpSp>
        <p:nvGrpSpPr>
          <p:cNvPr name="Group 26" id="26"/>
          <p:cNvGrpSpPr/>
          <p:nvPr/>
        </p:nvGrpSpPr>
        <p:grpSpPr>
          <a:xfrm rot="0">
            <a:off x="6199632" y="3703320"/>
            <a:ext cx="4594860" cy="466344"/>
            <a:chOff x="0" y="0"/>
            <a:chExt cx="6126480" cy="621792"/>
          </a:xfrm>
        </p:grpSpPr>
        <p:sp>
          <p:nvSpPr>
            <p:cNvPr name="Freeform 27" id="27"/>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5">
                <a:alphaModFix amt="0"/>
              </a:blip>
              <a:stretch>
                <a:fillRect l="0" t="-141984" r="0" b="-141984"/>
              </a:stretch>
            </a:blipFill>
          </p:spPr>
        </p:sp>
        <p:sp>
          <p:nvSpPr>
            <p:cNvPr name="TextBox 28" id="28"/>
            <p:cNvSpPr txBox="true"/>
            <p:nvPr/>
          </p:nvSpPr>
          <p:spPr>
            <a:xfrm>
              <a:off x="0" y="0"/>
              <a:ext cx="6126480" cy="621792"/>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Expired / hospice removed</a:t>
              </a:r>
            </a:p>
          </p:txBody>
        </p:sp>
      </p:grpSp>
      <p:grpSp>
        <p:nvGrpSpPr>
          <p:cNvPr name="Group 29" id="29"/>
          <p:cNvGrpSpPr/>
          <p:nvPr/>
        </p:nvGrpSpPr>
        <p:grpSpPr>
          <a:xfrm rot="0">
            <a:off x="10959084" y="3319272"/>
            <a:ext cx="356616" cy="562356"/>
            <a:chOff x="0" y="0"/>
            <a:chExt cx="475488" cy="749808"/>
          </a:xfrm>
        </p:grpSpPr>
        <p:sp>
          <p:nvSpPr>
            <p:cNvPr name="Freeform 30" id="30"/>
            <p:cNvSpPr/>
            <p:nvPr/>
          </p:nvSpPr>
          <p:spPr>
            <a:xfrm flipH="false" flipV="false" rot="0">
              <a:off x="0" y="0"/>
              <a:ext cx="475488" cy="749808"/>
            </a:xfrm>
            <a:custGeom>
              <a:avLst/>
              <a:gdLst/>
              <a:ahLst/>
              <a:cxnLst/>
              <a:rect r="r" b="b" t="t" l="l"/>
              <a:pathLst>
                <a:path h="749808" w="475488">
                  <a:moveTo>
                    <a:pt x="0" y="0"/>
                  </a:moveTo>
                  <a:lnTo>
                    <a:pt x="475488" y="0"/>
                  </a:lnTo>
                  <a:lnTo>
                    <a:pt x="475488" y="749808"/>
                  </a:lnTo>
                  <a:lnTo>
                    <a:pt x="0" y="749808"/>
                  </a:lnTo>
                  <a:close/>
                </a:path>
              </a:pathLst>
            </a:custGeom>
            <a:blipFill>
              <a:blip r:embed="rId5">
                <a:alphaModFix amt="0"/>
              </a:blip>
              <a:stretch>
                <a:fillRect l="-147390" t="0" r="-147390" b="2439"/>
              </a:stretch>
            </a:blipFill>
          </p:spPr>
        </p:sp>
        <p:sp>
          <p:nvSpPr>
            <p:cNvPr name="TextBox 31" id="31"/>
            <p:cNvSpPr txBox="true"/>
            <p:nvPr/>
          </p:nvSpPr>
          <p:spPr>
            <a:xfrm>
              <a:off x="0" y="-9525"/>
              <a:ext cx="475488" cy="759333"/>
            </a:xfrm>
            <a:prstGeom prst="rect">
              <a:avLst/>
            </a:prstGeom>
          </p:spPr>
          <p:txBody>
            <a:bodyPr anchor="ctr" rtlCol="false" tIns="0" lIns="0" bIns="0" rIns="0"/>
            <a:lstStyle/>
            <a:p>
              <a:pPr algn="ctr">
                <a:lnSpc>
                  <a:spcPts val="3060"/>
                </a:lnSpc>
              </a:pPr>
              <a:r>
                <a:rPr lang="en-US" b="true" sz="2550">
                  <a:solidFill>
                    <a:srgbClr val="8D140B"/>
                  </a:solidFill>
                  <a:latin typeface="Bricolage Grotesque Bold"/>
                  <a:ea typeface="Bricolage Grotesque Bold"/>
                  <a:cs typeface="Bricolage Grotesque Bold"/>
                  <a:sym typeface="Bricolage Grotesque Bold"/>
                </a:rPr>
                <a:t>→</a:t>
              </a:r>
            </a:p>
          </p:txBody>
        </p:sp>
      </p:grpSp>
      <p:grpSp>
        <p:nvGrpSpPr>
          <p:cNvPr name="Group 32" id="32"/>
          <p:cNvGrpSpPr/>
          <p:nvPr/>
        </p:nvGrpSpPr>
        <p:grpSpPr>
          <a:xfrm rot="0">
            <a:off x="11292459" y="2898267"/>
            <a:ext cx="4888230" cy="1418082"/>
            <a:chOff x="0" y="0"/>
            <a:chExt cx="6517640" cy="1890776"/>
          </a:xfrm>
        </p:grpSpPr>
        <p:sp>
          <p:nvSpPr>
            <p:cNvPr name="Freeform 33" id="33"/>
            <p:cNvSpPr/>
            <p:nvPr/>
          </p:nvSpPr>
          <p:spPr>
            <a:xfrm flipH="false" flipV="false" rot="0">
              <a:off x="0" y="0"/>
              <a:ext cx="6517640" cy="1890776"/>
            </a:xfrm>
            <a:custGeom>
              <a:avLst/>
              <a:gdLst/>
              <a:ahLst/>
              <a:cxnLst/>
              <a:rect r="r" b="b" t="t" l="l"/>
              <a:pathLst>
                <a:path h="1890776" w="6517640">
                  <a:moveTo>
                    <a:pt x="0" y="148336"/>
                  </a:moveTo>
                  <a:cubicBezTo>
                    <a:pt x="0" y="66421"/>
                    <a:pt x="66421" y="0"/>
                    <a:pt x="148336" y="0"/>
                  </a:cubicBezTo>
                  <a:lnTo>
                    <a:pt x="6369304" y="0"/>
                  </a:lnTo>
                  <a:cubicBezTo>
                    <a:pt x="6451219" y="0"/>
                    <a:pt x="6517640" y="66421"/>
                    <a:pt x="6517640" y="148336"/>
                  </a:cubicBezTo>
                  <a:lnTo>
                    <a:pt x="6517640" y="1742440"/>
                  </a:lnTo>
                  <a:cubicBezTo>
                    <a:pt x="6517640" y="1824355"/>
                    <a:pt x="6451219" y="1890776"/>
                    <a:pt x="6369304" y="1890776"/>
                  </a:cubicBezTo>
                  <a:lnTo>
                    <a:pt x="148336" y="1890776"/>
                  </a:lnTo>
                  <a:cubicBezTo>
                    <a:pt x="66421" y="1890776"/>
                    <a:pt x="0" y="1824355"/>
                    <a:pt x="0" y="1742440"/>
                  </a:cubicBezTo>
                  <a:close/>
                </a:path>
              </a:pathLst>
            </a:custGeom>
            <a:solidFill>
              <a:srgbClr val="F4F7F9"/>
            </a:solidFill>
            <a:ln w="19050" cap="sq">
              <a:solidFill>
                <a:srgbClr val="065A82"/>
              </a:solidFill>
              <a:prstDash val="solid"/>
              <a:miter/>
            </a:ln>
          </p:spPr>
        </p:sp>
      </p:grpSp>
      <p:grpSp>
        <p:nvGrpSpPr>
          <p:cNvPr name="Group 34" id="34"/>
          <p:cNvGrpSpPr/>
          <p:nvPr/>
        </p:nvGrpSpPr>
        <p:grpSpPr>
          <a:xfrm rot="0">
            <a:off x="11301984" y="3044952"/>
            <a:ext cx="4869180" cy="867918"/>
            <a:chOff x="0" y="0"/>
            <a:chExt cx="6492240" cy="1157224"/>
          </a:xfrm>
        </p:grpSpPr>
        <p:sp>
          <p:nvSpPr>
            <p:cNvPr name="Freeform 35" id="35"/>
            <p:cNvSpPr/>
            <p:nvPr/>
          </p:nvSpPr>
          <p:spPr>
            <a:xfrm flipH="false" flipV="false" rot="0">
              <a:off x="0" y="0"/>
              <a:ext cx="6492240" cy="1157224"/>
            </a:xfrm>
            <a:custGeom>
              <a:avLst/>
              <a:gdLst/>
              <a:ahLst/>
              <a:cxnLst/>
              <a:rect r="r" b="b" t="t" l="l"/>
              <a:pathLst>
                <a:path h="1157224" w="6492240">
                  <a:moveTo>
                    <a:pt x="0" y="0"/>
                  </a:moveTo>
                  <a:lnTo>
                    <a:pt x="6492240" y="0"/>
                  </a:lnTo>
                  <a:lnTo>
                    <a:pt x="6492240" y="1157224"/>
                  </a:lnTo>
                  <a:lnTo>
                    <a:pt x="0" y="1157224"/>
                  </a:lnTo>
                  <a:close/>
                </a:path>
              </a:pathLst>
            </a:custGeom>
            <a:blipFill>
              <a:blip r:embed="rId5">
                <a:alphaModFix amt="0"/>
              </a:blip>
              <a:stretch>
                <a:fillRect l="0" t="-72966" r="0" b="-45662"/>
              </a:stretch>
            </a:blipFill>
          </p:spPr>
        </p:sp>
        <p:sp>
          <p:nvSpPr>
            <p:cNvPr name="TextBox 36" id="36"/>
            <p:cNvSpPr txBox="true"/>
            <p:nvPr/>
          </p:nvSpPr>
          <p:spPr>
            <a:xfrm>
              <a:off x="0" y="0"/>
              <a:ext cx="6492240" cy="1157224"/>
            </a:xfrm>
            <a:prstGeom prst="rect">
              <a:avLst/>
            </a:prstGeom>
          </p:spPr>
          <p:txBody>
            <a:bodyPr anchor="ctr" rtlCol="false" tIns="0" lIns="0" bIns="0" rIns="0"/>
            <a:lstStyle/>
            <a:p>
              <a:pPr algn="ctr">
                <a:lnSpc>
                  <a:spcPts val="4680"/>
                </a:lnSpc>
              </a:pPr>
              <a:r>
                <a:rPr lang="en-US" b="true" sz="3900">
                  <a:solidFill>
                    <a:srgbClr val="8D140B"/>
                  </a:solidFill>
                  <a:latin typeface="Bricolage Grotesque Bold"/>
                  <a:ea typeface="Bricolage Grotesque Bold"/>
                  <a:cs typeface="Bricolage Grotesque Bold"/>
                  <a:sym typeface="Bricolage Grotesque Bold"/>
                </a:rPr>
                <a:t>69,990</a:t>
              </a:r>
            </a:p>
          </p:txBody>
        </p:sp>
      </p:grpSp>
      <p:grpSp>
        <p:nvGrpSpPr>
          <p:cNvPr name="Group 37" id="37"/>
          <p:cNvGrpSpPr/>
          <p:nvPr/>
        </p:nvGrpSpPr>
        <p:grpSpPr>
          <a:xfrm rot="0">
            <a:off x="11439144" y="3703320"/>
            <a:ext cx="4594860" cy="466344"/>
            <a:chOff x="0" y="0"/>
            <a:chExt cx="6126480" cy="621792"/>
          </a:xfrm>
        </p:grpSpPr>
        <p:sp>
          <p:nvSpPr>
            <p:cNvPr name="Freeform 38" id="38"/>
            <p:cNvSpPr/>
            <p:nvPr/>
          </p:nvSpPr>
          <p:spPr>
            <a:xfrm flipH="false" flipV="false" rot="0">
              <a:off x="0" y="0"/>
              <a:ext cx="6126480" cy="621792"/>
            </a:xfrm>
            <a:custGeom>
              <a:avLst/>
              <a:gdLst/>
              <a:ahLst/>
              <a:cxnLst/>
              <a:rect r="r" b="b" t="t" l="l"/>
              <a:pathLst>
                <a:path h="621792" w="6126480">
                  <a:moveTo>
                    <a:pt x="0" y="0"/>
                  </a:moveTo>
                  <a:lnTo>
                    <a:pt x="6126480" y="0"/>
                  </a:lnTo>
                  <a:lnTo>
                    <a:pt x="6126480" y="621792"/>
                  </a:lnTo>
                  <a:lnTo>
                    <a:pt x="0" y="621792"/>
                  </a:lnTo>
                  <a:close/>
                </a:path>
              </a:pathLst>
            </a:custGeom>
            <a:blipFill>
              <a:blip r:embed="rId5">
                <a:alphaModFix amt="0"/>
              </a:blip>
              <a:stretch>
                <a:fillRect l="0" t="-141984" r="0" b="-141984"/>
              </a:stretch>
            </a:blipFill>
          </p:spPr>
        </p:sp>
        <p:sp>
          <p:nvSpPr>
            <p:cNvPr name="TextBox 39" id="39"/>
            <p:cNvSpPr txBox="true"/>
            <p:nvPr/>
          </p:nvSpPr>
          <p:spPr>
            <a:xfrm>
              <a:off x="0" y="0"/>
              <a:ext cx="6126480" cy="621792"/>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First encounter per patient</a:t>
              </a:r>
            </a:p>
          </p:txBody>
        </p:sp>
      </p:grpSp>
      <p:grpSp>
        <p:nvGrpSpPr>
          <p:cNvPr name="Group 40" id="40"/>
          <p:cNvGrpSpPr/>
          <p:nvPr/>
        </p:nvGrpSpPr>
        <p:grpSpPr>
          <a:xfrm rot="0">
            <a:off x="822960" y="4773168"/>
            <a:ext cx="576072" cy="576072"/>
            <a:chOff x="0" y="0"/>
            <a:chExt cx="768096" cy="768096"/>
          </a:xfrm>
        </p:grpSpPr>
        <p:sp>
          <p:nvSpPr>
            <p:cNvPr name="Freeform 41" id="4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A49E"/>
            </a:solidFill>
          </p:spPr>
        </p:sp>
      </p:grpSp>
      <p:grpSp>
        <p:nvGrpSpPr>
          <p:cNvPr name="Group 42" id="42"/>
          <p:cNvGrpSpPr/>
          <p:nvPr/>
        </p:nvGrpSpPr>
        <p:grpSpPr>
          <a:xfrm rot="0">
            <a:off x="822960" y="4773168"/>
            <a:ext cx="576072" cy="576072"/>
            <a:chOff x="0" y="0"/>
            <a:chExt cx="768096" cy="768096"/>
          </a:xfrm>
        </p:grpSpPr>
        <p:sp>
          <p:nvSpPr>
            <p:cNvPr name="Freeform 43" id="43"/>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5">
                <a:alphaModFix amt="0"/>
              </a:blip>
              <a:stretch>
                <a:fillRect l="-78303" t="0" r="-78303" b="0"/>
              </a:stretch>
            </a:blipFill>
          </p:spPr>
        </p:sp>
        <p:sp>
          <p:nvSpPr>
            <p:cNvPr name="TextBox 44" id="44"/>
            <p:cNvSpPr txBox="true"/>
            <p:nvPr/>
          </p:nvSpPr>
          <p:spPr>
            <a:xfrm>
              <a:off x="0" y="-9525"/>
              <a:ext cx="768096" cy="777621"/>
            </a:xfrm>
            <a:prstGeom prst="rect">
              <a:avLst/>
            </a:prstGeom>
          </p:spPr>
          <p:txBody>
            <a:bodyPr anchor="ctr" rtlCol="false" tIns="0" lIns="0" bIns="0" rIns="0"/>
            <a:lstStyle/>
            <a:p>
              <a:pPr algn="ctr">
                <a:lnSpc>
                  <a:spcPts val="2520"/>
                </a:lnSpc>
              </a:pPr>
              <a:r>
                <a:rPr lang="en-US" b="true" sz="2100">
                  <a:solidFill>
                    <a:srgbClr val="8D140B"/>
                  </a:solidFill>
                  <a:latin typeface="Bricolage Grotesque Bold"/>
                  <a:ea typeface="Bricolage Grotesque Bold"/>
                  <a:cs typeface="Bricolage Grotesque Bold"/>
                  <a:sym typeface="Bricolage Grotesque Bold"/>
                </a:rPr>
                <a:t>1</a:t>
              </a:r>
            </a:p>
          </p:txBody>
        </p:sp>
      </p:grpSp>
      <p:grpSp>
        <p:nvGrpSpPr>
          <p:cNvPr name="Group 45" id="45"/>
          <p:cNvGrpSpPr/>
          <p:nvPr/>
        </p:nvGrpSpPr>
        <p:grpSpPr>
          <a:xfrm rot="0">
            <a:off x="1618488" y="4732020"/>
            <a:ext cx="8915400" cy="407518"/>
            <a:chOff x="0" y="0"/>
            <a:chExt cx="11887200" cy="543358"/>
          </a:xfrm>
        </p:grpSpPr>
        <p:sp>
          <p:nvSpPr>
            <p:cNvPr name="Freeform 46" id="46"/>
            <p:cNvSpPr/>
            <p:nvPr/>
          </p:nvSpPr>
          <p:spPr>
            <a:xfrm flipH="false" flipV="false" rot="0">
              <a:off x="0" y="0"/>
              <a:ext cx="11887200" cy="543358"/>
            </a:xfrm>
            <a:custGeom>
              <a:avLst/>
              <a:gdLst/>
              <a:ahLst/>
              <a:cxnLst/>
              <a:rect r="r" b="b" t="t" l="l"/>
              <a:pathLst>
                <a:path h="543358" w="11887200">
                  <a:moveTo>
                    <a:pt x="0" y="0"/>
                  </a:moveTo>
                  <a:lnTo>
                    <a:pt x="11887200" y="0"/>
                  </a:lnTo>
                  <a:lnTo>
                    <a:pt x="11887200" y="543358"/>
                  </a:lnTo>
                  <a:lnTo>
                    <a:pt x="0" y="543358"/>
                  </a:lnTo>
                  <a:close/>
                </a:path>
              </a:pathLst>
            </a:custGeom>
            <a:blipFill>
              <a:blip r:embed="rId5">
                <a:alphaModFix amt="0"/>
              </a:blip>
              <a:stretch>
                <a:fillRect l="0" t="-379159" r="0" b="-373400"/>
              </a:stretch>
            </a:blipFill>
          </p:spPr>
        </p:sp>
        <p:sp>
          <p:nvSpPr>
            <p:cNvPr name="TextBox 47" id="47"/>
            <p:cNvSpPr txBox="true"/>
            <p:nvPr/>
          </p:nvSpPr>
          <p:spPr>
            <a:xfrm>
              <a:off x="0" y="0"/>
              <a:ext cx="11887200" cy="543358"/>
            </a:xfrm>
            <a:prstGeom prst="rect">
              <a:avLst/>
            </a:prstGeom>
          </p:spPr>
          <p:txBody>
            <a:bodyPr anchor="ctr" rtlCol="false" tIns="0" lIns="0" bIns="0" rIns="0"/>
            <a:lstStyle/>
            <a:p>
              <a:pPr algn="l">
                <a:lnSpc>
                  <a:spcPts val="2250"/>
                </a:lnSpc>
              </a:pPr>
              <a:r>
                <a:rPr lang="en-US" b="true" sz="1875">
                  <a:solidFill>
                    <a:srgbClr val="8D140B"/>
                  </a:solidFill>
                  <a:latin typeface="Inter Bold"/>
                  <a:ea typeface="Inter Bold"/>
                  <a:cs typeface="Inter Bold"/>
                  <a:sym typeface="Inter Bold"/>
                </a:rPr>
                <a:t>Excluded expired &amp; hospice discharges</a:t>
              </a:r>
            </a:p>
          </p:txBody>
        </p:sp>
      </p:grpSp>
      <p:grpSp>
        <p:nvGrpSpPr>
          <p:cNvPr name="Group 48" id="48"/>
          <p:cNvGrpSpPr/>
          <p:nvPr/>
        </p:nvGrpSpPr>
        <p:grpSpPr>
          <a:xfrm rot="0">
            <a:off x="1618488" y="5116068"/>
            <a:ext cx="8915400" cy="674218"/>
            <a:chOff x="0" y="0"/>
            <a:chExt cx="11887200" cy="898957"/>
          </a:xfrm>
        </p:grpSpPr>
        <p:sp>
          <p:nvSpPr>
            <p:cNvPr name="Freeform 49" id="49"/>
            <p:cNvSpPr/>
            <p:nvPr/>
          </p:nvSpPr>
          <p:spPr>
            <a:xfrm flipH="false" flipV="false" rot="0">
              <a:off x="0" y="0"/>
              <a:ext cx="11887200" cy="898957"/>
            </a:xfrm>
            <a:custGeom>
              <a:avLst/>
              <a:gdLst/>
              <a:ahLst/>
              <a:cxnLst/>
              <a:rect r="r" b="b" t="t" l="l"/>
              <a:pathLst>
                <a:path h="898957" w="11887200">
                  <a:moveTo>
                    <a:pt x="0" y="0"/>
                  </a:moveTo>
                  <a:lnTo>
                    <a:pt x="11887200" y="0"/>
                  </a:lnTo>
                  <a:lnTo>
                    <a:pt x="11887200" y="898957"/>
                  </a:lnTo>
                  <a:lnTo>
                    <a:pt x="0" y="898957"/>
                  </a:lnTo>
                  <a:close/>
                </a:path>
              </a:pathLst>
            </a:custGeom>
            <a:blipFill>
              <a:blip r:embed="rId5">
                <a:alphaModFix amt="0"/>
              </a:blip>
              <a:stretch>
                <a:fillRect l="0" t="-212901" r="0" b="-202412"/>
              </a:stretch>
            </a:blipFill>
          </p:spPr>
        </p:sp>
        <p:sp>
          <p:nvSpPr>
            <p:cNvPr name="TextBox 50" id="50"/>
            <p:cNvSpPr txBox="true"/>
            <p:nvPr/>
          </p:nvSpPr>
          <p:spPr>
            <a:xfrm>
              <a:off x="0" y="0"/>
              <a:ext cx="11887200" cy="898957"/>
            </a:xfrm>
            <a:prstGeom prst="rect">
              <a:avLst/>
            </a:prstGeom>
          </p:spPr>
          <p:txBody>
            <a:bodyPr anchor="ctr" rtlCol="false" tIns="0" lIns="0" bIns="0" rIns="0"/>
            <a:lstStyle/>
            <a:p>
              <a:pPr algn="l">
                <a:lnSpc>
                  <a:spcPts val="2249"/>
                </a:lnSpc>
              </a:pPr>
              <a:r>
                <a:rPr lang="en-US" b="true" sz="1874">
                  <a:solidFill>
                    <a:srgbClr val="8D140B"/>
                  </a:solidFill>
                  <a:latin typeface="Inter Bold"/>
                  <a:ea typeface="Inter Bold"/>
                  <a:cs typeface="Inter Bold"/>
                  <a:sym typeface="Inter Bold"/>
                </a:rPr>
                <a:t>These patients cannot be readmitted — leaving them in dilutes the negative class with structural zeros.</a:t>
              </a:r>
            </a:p>
          </p:txBody>
        </p:sp>
      </p:grpSp>
      <p:grpSp>
        <p:nvGrpSpPr>
          <p:cNvPr name="Group 51" id="51"/>
          <p:cNvGrpSpPr/>
          <p:nvPr/>
        </p:nvGrpSpPr>
        <p:grpSpPr>
          <a:xfrm rot="0">
            <a:off x="822960" y="5952744"/>
            <a:ext cx="576072" cy="576072"/>
            <a:chOff x="0" y="0"/>
            <a:chExt cx="768096" cy="768096"/>
          </a:xfrm>
        </p:grpSpPr>
        <p:sp>
          <p:nvSpPr>
            <p:cNvPr name="Freeform 52" id="5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A49E"/>
            </a:solidFill>
          </p:spPr>
        </p:sp>
      </p:grpSp>
      <p:grpSp>
        <p:nvGrpSpPr>
          <p:cNvPr name="Group 53" id="53"/>
          <p:cNvGrpSpPr/>
          <p:nvPr/>
        </p:nvGrpSpPr>
        <p:grpSpPr>
          <a:xfrm rot="0">
            <a:off x="822960" y="5952744"/>
            <a:ext cx="576072" cy="576072"/>
            <a:chOff x="0" y="0"/>
            <a:chExt cx="768096" cy="768096"/>
          </a:xfrm>
        </p:grpSpPr>
        <p:sp>
          <p:nvSpPr>
            <p:cNvPr name="Freeform 54" id="54"/>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5">
                <a:alphaModFix amt="0"/>
              </a:blip>
              <a:stretch>
                <a:fillRect l="-78303" t="0" r="-78303" b="0"/>
              </a:stretch>
            </a:blipFill>
          </p:spPr>
        </p:sp>
        <p:sp>
          <p:nvSpPr>
            <p:cNvPr name="TextBox 55" id="55"/>
            <p:cNvSpPr txBox="true"/>
            <p:nvPr/>
          </p:nvSpPr>
          <p:spPr>
            <a:xfrm>
              <a:off x="0" y="-9525"/>
              <a:ext cx="768096" cy="777621"/>
            </a:xfrm>
            <a:prstGeom prst="rect">
              <a:avLst/>
            </a:prstGeom>
          </p:spPr>
          <p:txBody>
            <a:bodyPr anchor="ctr" rtlCol="false" tIns="0" lIns="0" bIns="0" rIns="0"/>
            <a:lstStyle/>
            <a:p>
              <a:pPr algn="ctr">
                <a:lnSpc>
                  <a:spcPts val="2520"/>
                </a:lnSpc>
              </a:pPr>
              <a:r>
                <a:rPr lang="en-US" b="true" sz="2100">
                  <a:solidFill>
                    <a:srgbClr val="8D140B"/>
                  </a:solidFill>
                  <a:latin typeface="Bricolage Grotesque Bold"/>
                  <a:ea typeface="Bricolage Grotesque Bold"/>
                  <a:cs typeface="Bricolage Grotesque Bold"/>
                  <a:sym typeface="Bricolage Grotesque Bold"/>
                </a:rPr>
                <a:t>2</a:t>
              </a:r>
            </a:p>
          </p:txBody>
        </p:sp>
      </p:grpSp>
      <p:grpSp>
        <p:nvGrpSpPr>
          <p:cNvPr name="Group 56" id="56"/>
          <p:cNvGrpSpPr/>
          <p:nvPr/>
        </p:nvGrpSpPr>
        <p:grpSpPr>
          <a:xfrm rot="0">
            <a:off x="1618488" y="5911596"/>
            <a:ext cx="8915400" cy="407518"/>
            <a:chOff x="0" y="0"/>
            <a:chExt cx="11887200" cy="543358"/>
          </a:xfrm>
        </p:grpSpPr>
        <p:sp>
          <p:nvSpPr>
            <p:cNvPr name="Freeform 57" id="57"/>
            <p:cNvSpPr/>
            <p:nvPr/>
          </p:nvSpPr>
          <p:spPr>
            <a:xfrm flipH="false" flipV="false" rot="0">
              <a:off x="0" y="0"/>
              <a:ext cx="11887200" cy="543358"/>
            </a:xfrm>
            <a:custGeom>
              <a:avLst/>
              <a:gdLst/>
              <a:ahLst/>
              <a:cxnLst/>
              <a:rect r="r" b="b" t="t" l="l"/>
              <a:pathLst>
                <a:path h="543358" w="11887200">
                  <a:moveTo>
                    <a:pt x="0" y="0"/>
                  </a:moveTo>
                  <a:lnTo>
                    <a:pt x="11887200" y="0"/>
                  </a:lnTo>
                  <a:lnTo>
                    <a:pt x="11887200" y="543358"/>
                  </a:lnTo>
                  <a:lnTo>
                    <a:pt x="0" y="543358"/>
                  </a:lnTo>
                  <a:close/>
                </a:path>
              </a:pathLst>
            </a:custGeom>
            <a:blipFill>
              <a:blip r:embed="rId5">
                <a:alphaModFix amt="0"/>
              </a:blip>
              <a:stretch>
                <a:fillRect l="0" t="-379159" r="0" b="-373400"/>
              </a:stretch>
            </a:blipFill>
          </p:spPr>
        </p:sp>
        <p:sp>
          <p:nvSpPr>
            <p:cNvPr name="TextBox 58" id="58"/>
            <p:cNvSpPr txBox="true"/>
            <p:nvPr/>
          </p:nvSpPr>
          <p:spPr>
            <a:xfrm>
              <a:off x="0" y="0"/>
              <a:ext cx="11887200" cy="543358"/>
            </a:xfrm>
            <a:prstGeom prst="rect">
              <a:avLst/>
            </a:prstGeom>
          </p:spPr>
          <p:txBody>
            <a:bodyPr anchor="ctr" rtlCol="false" tIns="0" lIns="0" bIns="0" rIns="0"/>
            <a:lstStyle/>
            <a:p>
              <a:pPr algn="l">
                <a:lnSpc>
                  <a:spcPts val="2250"/>
                </a:lnSpc>
              </a:pPr>
              <a:r>
                <a:rPr lang="en-US" b="true" sz="1875">
                  <a:solidFill>
                    <a:srgbClr val="1F2B5B"/>
                  </a:solidFill>
                  <a:latin typeface="Inter Bold"/>
                  <a:ea typeface="Inter Bold"/>
                  <a:cs typeface="Inter Bold"/>
                  <a:sym typeface="Inter Bold"/>
                </a:rPr>
                <a:t>Kept first encounter per patient only</a:t>
              </a:r>
            </a:p>
          </p:txBody>
        </p:sp>
      </p:grpSp>
      <p:grpSp>
        <p:nvGrpSpPr>
          <p:cNvPr name="Group 59" id="59"/>
          <p:cNvGrpSpPr/>
          <p:nvPr/>
        </p:nvGrpSpPr>
        <p:grpSpPr>
          <a:xfrm rot="0">
            <a:off x="1618488" y="6295644"/>
            <a:ext cx="8915400" cy="674218"/>
            <a:chOff x="0" y="0"/>
            <a:chExt cx="11887200" cy="898957"/>
          </a:xfrm>
        </p:grpSpPr>
        <p:sp>
          <p:nvSpPr>
            <p:cNvPr name="Freeform 60" id="60"/>
            <p:cNvSpPr/>
            <p:nvPr/>
          </p:nvSpPr>
          <p:spPr>
            <a:xfrm flipH="false" flipV="false" rot="0">
              <a:off x="0" y="0"/>
              <a:ext cx="11887200" cy="898957"/>
            </a:xfrm>
            <a:custGeom>
              <a:avLst/>
              <a:gdLst/>
              <a:ahLst/>
              <a:cxnLst/>
              <a:rect r="r" b="b" t="t" l="l"/>
              <a:pathLst>
                <a:path h="898957" w="11887200">
                  <a:moveTo>
                    <a:pt x="0" y="0"/>
                  </a:moveTo>
                  <a:lnTo>
                    <a:pt x="11887200" y="0"/>
                  </a:lnTo>
                  <a:lnTo>
                    <a:pt x="11887200" y="898957"/>
                  </a:lnTo>
                  <a:lnTo>
                    <a:pt x="0" y="898957"/>
                  </a:lnTo>
                  <a:close/>
                </a:path>
              </a:pathLst>
            </a:custGeom>
            <a:blipFill>
              <a:blip r:embed="rId5">
                <a:alphaModFix amt="0"/>
              </a:blip>
              <a:stretch>
                <a:fillRect l="0" t="-212901" r="0" b="-202412"/>
              </a:stretch>
            </a:blipFill>
          </p:spPr>
        </p:sp>
        <p:sp>
          <p:nvSpPr>
            <p:cNvPr name="TextBox 61" id="61"/>
            <p:cNvSpPr txBox="true"/>
            <p:nvPr/>
          </p:nvSpPr>
          <p:spPr>
            <a:xfrm>
              <a:off x="0" y="0"/>
              <a:ext cx="11887200" cy="898957"/>
            </a:xfrm>
            <a:prstGeom prst="rect">
              <a:avLst/>
            </a:prstGeom>
          </p:spPr>
          <p:txBody>
            <a:bodyPr anchor="ctr" rtlCol="false" tIns="0" lIns="0" bIns="0" rIns="0"/>
            <a:lstStyle/>
            <a:p>
              <a:pPr algn="l">
                <a:lnSpc>
                  <a:spcPts val="2249"/>
                </a:lnSpc>
              </a:pPr>
              <a:r>
                <a:rPr lang="en-US" b="true" sz="1874">
                  <a:solidFill>
                    <a:srgbClr val="1F2B5B"/>
                  </a:solidFill>
                  <a:latin typeface="Inter Bold"/>
                  <a:ea typeface="Inter Bold"/>
                  <a:cs typeface="Inter Bold"/>
                  <a:sym typeface="Inter Bold"/>
                </a:rPr>
                <a:t>Rows are encounters, not patients. Repeat encounters leak outcome information across the train/test split.</a:t>
              </a:r>
            </a:p>
          </p:txBody>
        </p:sp>
      </p:grpSp>
      <p:grpSp>
        <p:nvGrpSpPr>
          <p:cNvPr name="Group 62" id="62"/>
          <p:cNvGrpSpPr/>
          <p:nvPr/>
        </p:nvGrpSpPr>
        <p:grpSpPr>
          <a:xfrm rot="0">
            <a:off x="822960" y="7132320"/>
            <a:ext cx="576072" cy="576072"/>
            <a:chOff x="0" y="0"/>
            <a:chExt cx="768096" cy="768096"/>
          </a:xfrm>
        </p:grpSpPr>
        <p:sp>
          <p:nvSpPr>
            <p:cNvPr name="Freeform 63" id="6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FA49E"/>
            </a:solidFill>
          </p:spPr>
        </p:sp>
      </p:grpSp>
      <p:grpSp>
        <p:nvGrpSpPr>
          <p:cNvPr name="Group 64" id="64"/>
          <p:cNvGrpSpPr/>
          <p:nvPr/>
        </p:nvGrpSpPr>
        <p:grpSpPr>
          <a:xfrm rot="0">
            <a:off x="822960" y="7132320"/>
            <a:ext cx="576072" cy="576072"/>
            <a:chOff x="0" y="0"/>
            <a:chExt cx="768096" cy="768096"/>
          </a:xfrm>
        </p:grpSpPr>
        <p:sp>
          <p:nvSpPr>
            <p:cNvPr name="Freeform 65" id="65"/>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5">
                <a:alphaModFix amt="0"/>
              </a:blip>
              <a:stretch>
                <a:fillRect l="-78303" t="0" r="-78303" b="0"/>
              </a:stretch>
            </a:blipFill>
          </p:spPr>
        </p:sp>
        <p:sp>
          <p:nvSpPr>
            <p:cNvPr name="TextBox 66" id="66"/>
            <p:cNvSpPr txBox="true"/>
            <p:nvPr/>
          </p:nvSpPr>
          <p:spPr>
            <a:xfrm>
              <a:off x="0" y="-9525"/>
              <a:ext cx="768096" cy="777621"/>
            </a:xfrm>
            <a:prstGeom prst="rect">
              <a:avLst/>
            </a:prstGeom>
          </p:spPr>
          <p:txBody>
            <a:bodyPr anchor="ctr" rtlCol="false" tIns="0" lIns="0" bIns="0" rIns="0"/>
            <a:lstStyle/>
            <a:p>
              <a:pPr algn="ctr">
                <a:lnSpc>
                  <a:spcPts val="2520"/>
                </a:lnSpc>
              </a:pPr>
              <a:r>
                <a:rPr lang="en-US" b="true" sz="2100">
                  <a:solidFill>
                    <a:srgbClr val="8D140B"/>
                  </a:solidFill>
                  <a:latin typeface="Bricolage Grotesque Bold"/>
                  <a:ea typeface="Bricolage Grotesque Bold"/>
                  <a:cs typeface="Bricolage Grotesque Bold"/>
                  <a:sym typeface="Bricolage Grotesque Bold"/>
                </a:rPr>
                <a:t>3</a:t>
              </a:r>
            </a:p>
          </p:txBody>
        </p:sp>
      </p:grpSp>
      <p:grpSp>
        <p:nvGrpSpPr>
          <p:cNvPr name="Group 67" id="67"/>
          <p:cNvGrpSpPr/>
          <p:nvPr/>
        </p:nvGrpSpPr>
        <p:grpSpPr>
          <a:xfrm rot="0">
            <a:off x="1618488" y="7091172"/>
            <a:ext cx="8915400" cy="407518"/>
            <a:chOff x="0" y="0"/>
            <a:chExt cx="11887200" cy="543358"/>
          </a:xfrm>
        </p:grpSpPr>
        <p:sp>
          <p:nvSpPr>
            <p:cNvPr name="Freeform 68" id="68"/>
            <p:cNvSpPr/>
            <p:nvPr/>
          </p:nvSpPr>
          <p:spPr>
            <a:xfrm flipH="false" flipV="false" rot="0">
              <a:off x="0" y="0"/>
              <a:ext cx="11887200" cy="543358"/>
            </a:xfrm>
            <a:custGeom>
              <a:avLst/>
              <a:gdLst/>
              <a:ahLst/>
              <a:cxnLst/>
              <a:rect r="r" b="b" t="t" l="l"/>
              <a:pathLst>
                <a:path h="543358" w="11887200">
                  <a:moveTo>
                    <a:pt x="0" y="0"/>
                  </a:moveTo>
                  <a:lnTo>
                    <a:pt x="11887200" y="0"/>
                  </a:lnTo>
                  <a:lnTo>
                    <a:pt x="11887200" y="543358"/>
                  </a:lnTo>
                  <a:lnTo>
                    <a:pt x="0" y="543358"/>
                  </a:lnTo>
                  <a:close/>
                </a:path>
              </a:pathLst>
            </a:custGeom>
            <a:blipFill>
              <a:blip r:embed="rId5">
                <a:alphaModFix amt="0"/>
              </a:blip>
              <a:stretch>
                <a:fillRect l="0" t="-379159" r="0" b="-373400"/>
              </a:stretch>
            </a:blipFill>
          </p:spPr>
        </p:sp>
        <p:sp>
          <p:nvSpPr>
            <p:cNvPr name="TextBox 69" id="69"/>
            <p:cNvSpPr txBox="true"/>
            <p:nvPr/>
          </p:nvSpPr>
          <p:spPr>
            <a:xfrm>
              <a:off x="0" y="0"/>
              <a:ext cx="11887200" cy="543358"/>
            </a:xfrm>
            <a:prstGeom prst="rect">
              <a:avLst/>
            </a:prstGeom>
          </p:spPr>
          <p:txBody>
            <a:bodyPr anchor="ctr" rtlCol="false" tIns="0" lIns="0" bIns="0" rIns="0"/>
            <a:lstStyle/>
            <a:p>
              <a:pPr algn="l">
                <a:lnSpc>
                  <a:spcPts val="2250"/>
                </a:lnSpc>
              </a:pPr>
              <a:r>
                <a:rPr lang="en-US" b="true" sz="1875">
                  <a:solidFill>
                    <a:srgbClr val="1F2B5B"/>
                  </a:solidFill>
                  <a:latin typeface="Inter Bold"/>
                  <a:ea typeface="Inter Bold"/>
                  <a:cs typeface="Inter Bold"/>
                  <a:sym typeface="Inter Bold"/>
                </a:rPr>
                <a:t>Target = readmitted within 30 days</a:t>
              </a:r>
            </a:p>
          </p:txBody>
        </p:sp>
      </p:grpSp>
      <p:grpSp>
        <p:nvGrpSpPr>
          <p:cNvPr name="Group 70" id="70"/>
          <p:cNvGrpSpPr/>
          <p:nvPr/>
        </p:nvGrpSpPr>
        <p:grpSpPr>
          <a:xfrm rot="0">
            <a:off x="1618488" y="7475220"/>
            <a:ext cx="8915400" cy="674218"/>
            <a:chOff x="0" y="0"/>
            <a:chExt cx="11887200" cy="898957"/>
          </a:xfrm>
        </p:grpSpPr>
        <p:sp>
          <p:nvSpPr>
            <p:cNvPr name="Freeform 71" id="71"/>
            <p:cNvSpPr/>
            <p:nvPr/>
          </p:nvSpPr>
          <p:spPr>
            <a:xfrm flipH="false" flipV="false" rot="0">
              <a:off x="0" y="0"/>
              <a:ext cx="11887200" cy="898957"/>
            </a:xfrm>
            <a:custGeom>
              <a:avLst/>
              <a:gdLst/>
              <a:ahLst/>
              <a:cxnLst/>
              <a:rect r="r" b="b" t="t" l="l"/>
              <a:pathLst>
                <a:path h="898957" w="11887200">
                  <a:moveTo>
                    <a:pt x="0" y="0"/>
                  </a:moveTo>
                  <a:lnTo>
                    <a:pt x="11887200" y="0"/>
                  </a:lnTo>
                  <a:lnTo>
                    <a:pt x="11887200" y="898957"/>
                  </a:lnTo>
                  <a:lnTo>
                    <a:pt x="0" y="898957"/>
                  </a:lnTo>
                  <a:close/>
                </a:path>
              </a:pathLst>
            </a:custGeom>
            <a:blipFill>
              <a:blip r:embed="rId5">
                <a:alphaModFix amt="0"/>
              </a:blip>
              <a:stretch>
                <a:fillRect l="0" t="-212901" r="0" b="-202412"/>
              </a:stretch>
            </a:blipFill>
          </p:spPr>
        </p:sp>
        <p:sp>
          <p:nvSpPr>
            <p:cNvPr name="TextBox 72" id="72"/>
            <p:cNvSpPr txBox="true"/>
            <p:nvPr/>
          </p:nvSpPr>
          <p:spPr>
            <a:xfrm>
              <a:off x="0" y="0"/>
              <a:ext cx="11887200" cy="898957"/>
            </a:xfrm>
            <a:prstGeom prst="rect">
              <a:avLst/>
            </a:prstGeom>
          </p:spPr>
          <p:txBody>
            <a:bodyPr anchor="ctr" rtlCol="false" tIns="0" lIns="0" bIns="0" rIns="0"/>
            <a:lstStyle/>
            <a:p>
              <a:pPr algn="l">
                <a:lnSpc>
                  <a:spcPts val="2249"/>
                </a:lnSpc>
              </a:pPr>
              <a:r>
                <a:rPr lang="en-US" b="true" sz="1874">
                  <a:solidFill>
                    <a:srgbClr val="1F2B5B"/>
                  </a:solidFill>
                  <a:latin typeface="Inter Bold"/>
                  <a:ea typeface="Inter Bold"/>
                  <a:cs typeface="Inter Bold"/>
                  <a:sym typeface="Inter Bold"/>
                </a:rPr>
                <a:t>The HRRP penalty window. Prevalence 8.98% — a 10:1 imbalance that drives every later modeling choice.</a:t>
              </a:r>
            </a:p>
          </p:txBody>
        </p:sp>
      </p:grpSp>
      <p:grpSp>
        <p:nvGrpSpPr>
          <p:cNvPr name="Group 73" id="73"/>
          <p:cNvGrpSpPr/>
          <p:nvPr/>
        </p:nvGrpSpPr>
        <p:grpSpPr>
          <a:xfrm rot="0">
            <a:off x="10826115" y="4681347"/>
            <a:ext cx="6602730" cy="3612642"/>
            <a:chOff x="0" y="0"/>
            <a:chExt cx="8803640" cy="4816856"/>
          </a:xfrm>
        </p:grpSpPr>
        <p:sp>
          <p:nvSpPr>
            <p:cNvPr name="Freeform 74" id="74"/>
            <p:cNvSpPr/>
            <p:nvPr/>
          </p:nvSpPr>
          <p:spPr>
            <a:xfrm flipH="false" flipV="false" rot="0">
              <a:off x="0" y="0"/>
              <a:ext cx="8803639" cy="4816856"/>
            </a:xfrm>
            <a:custGeom>
              <a:avLst/>
              <a:gdLst/>
              <a:ahLst/>
              <a:cxnLst/>
              <a:rect r="r" b="b" t="t" l="l"/>
              <a:pathLst>
                <a:path h="4816856" w="8803639">
                  <a:moveTo>
                    <a:pt x="0" y="183896"/>
                  </a:moveTo>
                  <a:cubicBezTo>
                    <a:pt x="0" y="82296"/>
                    <a:pt x="82296" y="0"/>
                    <a:pt x="183896" y="0"/>
                  </a:cubicBezTo>
                  <a:lnTo>
                    <a:pt x="8619744" y="0"/>
                  </a:lnTo>
                  <a:cubicBezTo>
                    <a:pt x="8721344" y="0"/>
                    <a:pt x="8803639" y="82296"/>
                    <a:pt x="8803639" y="183896"/>
                  </a:cubicBezTo>
                  <a:lnTo>
                    <a:pt x="8803639" y="4632960"/>
                  </a:lnTo>
                  <a:cubicBezTo>
                    <a:pt x="8803639" y="4734560"/>
                    <a:pt x="8721344" y="4816856"/>
                    <a:pt x="8619744" y="4816856"/>
                  </a:cubicBezTo>
                  <a:lnTo>
                    <a:pt x="183896" y="4816856"/>
                  </a:lnTo>
                  <a:cubicBezTo>
                    <a:pt x="82296" y="4816856"/>
                    <a:pt x="0" y="4734560"/>
                    <a:pt x="0" y="4632960"/>
                  </a:cubicBezTo>
                  <a:close/>
                </a:path>
              </a:pathLst>
            </a:custGeom>
            <a:solidFill>
              <a:srgbClr val="FFFFFF"/>
            </a:solidFill>
            <a:ln w="19050" cap="sq">
              <a:solidFill>
                <a:srgbClr val="21295C"/>
              </a:solidFill>
              <a:prstDash val="solid"/>
              <a:miter/>
            </a:ln>
          </p:spPr>
        </p:sp>
      </p:grpSp>
      <p:grpSp>
        <p:nvGrpSpPr>
          <p:cNvPr name="Group 75" id="75"/>
          <p:cNvGrpSpPr/>
          <p:nvPr/>
        </p:nvGrpSpPr>
        <p:grpSpPr>
          <a:xfrm rot="0">
            <a:off x="11178540" y="4910328"/>
            <a:ext cx="5897880" cy="532638"/>
            <a:chOff x="0" y="0"/>
            <a:chExt cx="7863840" cy="710184"/>
          </a:xfrm>
        </p:grpSpPr>
        <p:sp>
          <p:nvSpPr>
            <p:cNvPr name="Freeform 76" id="76"/>
            <p:cNvSpPr/>
            <p:nvPr/>
          </p:nvSpPr>
          <p:spPr>
            <a:xfrm flipH="false" flipV="false" rot="0">
              <a:off x="0" y="0"/>
              <a:ext cx="7863840" cy="710184"/>
            </a:xfrm>
            <a:custGeom>
              <a:avLst/>
              <a:gdLst/>
              <a:ahLst/>
              <a:cxnLst/>
              <a:rect r="r" b="b" t="t" l="l"/>
              <a:pathLst>
                <a:path h="710184" w="7863840">
                  <a:moveTo>
                    <a:pt x="0" y="0"/>
                  </a:moveTo>
                  <a:lnTo>
                    <a:pt x="7863840" y="0"/>
                  </a:lnTo>
                  <a:lnTo>
                    <a:pt x="7863840" y="710184"/>
                  </a:lnTo>
                  <a:lnTo>
                    <a:pt x="0" y="710184"/>
                  </a:lnTo>
                  <a:close/>
                </a:path>
              </a:pathLst>
            </a:custGeom>
            <a:blipFill>
              <a:blip r:embed="rId5">
                <a:alphaModFix amt="0"/>
              </a:blip>
              <a:stretch>
                <a:fillRect l="0" t="-171980" r="0" b="-159533"/>
              </a:stretch>
            </a:blipFill>
          </p:spPr>
        </p:sp>
        <p:sp>
          <p:nvSpPr>
            <p:cNvPr name="TextBox 77" id="77"/>
            <p:cNvSpPr txBox="true"/>
            <p:nvPr/>
          </p:nvSpPr>
          <p:spPr>
            <a:xfrm>
              <a:off x="0" y="0"/>
              <a:ext cx="7863840" cy="710184"/>
            </a:xfrm>
            <a:prstGeom prst="rect">
              <a:avLst/>
            </a:prstGeom>
          </p:spPr>
          <p:txBody>
            <a:bodyPr anchor="ctr" rtlCol="false" tIns="0" lIns="0" bIns="0" rIns="0"/>
            <a:lstStyle/>
            <a:p>
              <a:pPr algn="l">
                <a:lnSpc>
                  <a:spcPts val="2879"/>
                </a:lnSpc>
              </a:pPr>
              <a:r>
                <a:rPr lang="en-US" b="true" sz="2400">
                  <a:solidFill>
                    <a:srgbClr val="8D140B"/>
                  </a:solidFill>
                  <a:latin typeface="Bricolage Grotesque Bold"/>
                  <a:ea typeface="Bricolage Grotesque Bold"/>
                  <a:cs typeface="Bricolage Grotesque Bold"/>
                  <a:sym typeface="Bricolage Grotesque Bold"/>
                </a:rPr>
                <a:t>116 ENGINEERED FEATURES</a:t>
              </a:r>
            </a:p>
          </p:txBody>
        </p:sp>
      </p:grpSp>
      <p:grpSp>
        <p:nvGrpSpPr>
          <p:cNvPr name="Group 78" id="78"/>
          <p:cNvGrpSpPr/>
          <p:nvPr/>
        </p:nvGrpSpPr>
        <p:grpSpPr>
          <a:xfrm rot="0">
            <a:off x="11178540" y="5486400"/>
            <a:ext cx="5897880" cy="2606040"/>
            <a:chOff x="0" y="0"/>
            <a:chExt cx="7863840" cy="3474720"/>
          </a:xfrm>
        </p:grpSpPr>
        <p:sp>
          <p:nvSpPr>
            <p:cNvPr name="Freeform 79" id="79"/>
            <p:cNvSpPr/>
            <p:nvPr/>
          </p:nvSpPr>
          <p:spPr>
            <a:xfrm flipH="false" flipV="false" rot="0">
              <a:off x="0" y="0"/>
              <a:ext cx="7863840" cy="3474720"/>
            </a:xfrm>
            <a:custGeom>
              <a:avLst/>
              <a:gdLst/>
              <a:ahLst/>
              <a:cxnLst/>
              <a:rect r="r" b="b" t="t" l="l"/>
              <a:pathLst>
                <a:path h="3474720" w="7863840">
                  <a:moveTo>
                    <a:pt x="0" y="0"/>
                  </a:moveTo>
                  <a:lnTo>
                    <a:pt x="7863840" y="0"/>
                  </a:lnTo>
                  <a:lnTo>
                    <a:pt x="7863840" y="3474720"/>
                  </a:lnTo>
                  <a:lnTo>
                    <a:pt x="0" y="3474720"/>
                  </a:lnTo>
                  <a:close/>
                </a:path>
              </a:pathLst>
            </a:custGeom>
            <a:blipFill>
              <a:blip r:embed="rId5">
                <a:alphaModFix amt="0"/>
              </a:blip>
              <a:stretch>
                <a:fillRect l="-6692" t="0" r="-6692" b="0"/>
              </a:stretch>
            </a:blipFill>
          </p:spPr>
        </p:sp>
        <p:sp>
          <p:nvSpPr>
            <p:cNvPr name="TextBox 80" id="80"/>
            <p:cNvSpPr txBox="true"/>
            <p:nvPr/>
          </p:nvSpPr>
          <p:spPr>
            <a:xfrm>
              <a:off x="0" y="0"/>
              <a:ext cx="7863840" cy="3474720"/>
            </a:xfrm>
            <a:prstGeom prst="rect">
              <a:avLst/>
            </a:prstGeom>
          </p:spPr>
          <p:txBody>
            <a:bodyPr anchor="ctr" rtlCol="false" tIns="0" lIns="0" bIns="0" rIns="0"/>
            <a:lstStyle/>
            <a:p>
              <a:pPr algn="l" marL="357424" indent="-178712" lvl="1">
                <a:lnSpc>
                  <a:spcPts val="2369"/>
                </a:lnSpc>
                <a:buFont typeface="Arial"/>
                <a:buChar char="•"/>
              </a:pPr>
              <a:r>
                <a:rPr lang="en-US" b="true" sz="1974">
                  <a:solidFill>
                    <a:srgbClr val="8D140B"/>
                  </a:solidFill>
                  <a:latin typeface="Inter Bold"/>
                  <a:ea typeface="Inter Bold"/>
                  <a:cs typeface="Inter Bold"/>
                  <a:sym typeface="Inter Bold"/>
                </a:rPr>
                <a:t>Regimen-change / polypharmacy score from the 23 drug columns</a:t>
              </a:r>
            </a:p>
            <a:p>
              <a:pPr algn="l" marL="357424" indent="-178712" lvl="1">
                <a:lnSpc>
                  <a:spcPts val="2369"/>
                </a:lnSpc>
                <a:buFont typeface="Arial"/>
                <a:buChar char="•"/>
              </a:pPr>
              <a:r>
                <a:rPr lang="en-US" b="true" sz="1974">
                  <a:solidFill>
                    <a:srgbClr val="8D140B"/>
                  </a:solidFill>
                  <a:latin typeface="Inter Bold"/>
                  <a:ea typeface="Inter Bold"/>
                  <a:cs typeface="Inter Bold"/>
                  <a:sym typeface="Inter Bold"/>
                </a:rPr>
                <a:t>Medication-count and prior-utilization bands</a:t>
              </a:r>
            </a:p>
            <a:p>
              <a:pPr algn="l" marL="357424" indent="-178712" lvl="1">
                <a:lnSpc>
                  <a:spcPts val="2369"/>
                </a:lnSpc>
                <a:buFont typeface="Arial"/>
                <a:buChar char="•"/>
              </a:pPr>
              <a:r>
                <a:rPr lang="en-US" b="true" sz="1974">
                  <a:solidFill>
                    <a:srgbClr val="8D140B"/>
                  </a:solidFill>
                  <a:latin typeface="Inter Bold"/>
                  <a:ea typeface="Inter Bold"/>
                  <a:cs typeface="Inter Bold"/>
                  <a:sym typeface="Inter Bold"/>
                </a:rPr>
                <a:t>Age bands and ICD-9 comorbidity groupings</a:t>
              </a:r>
            </a:p>
            <a:p>
              <a:pPr algn="l" marL="357424" indent="-178712" lvl="1">
                <a:lnSpc>
                  <a:spcPts val="2369"/>
                </a:lnSpc>
                <a:buFont typeface="Arial"/>
                <a:buChar char="•"/>
              </a:pPr>
              <a:r>
                <a:rPr lang="en-US" b="true" sz="1974">
                  <a:solidFill>
                    <a:srgbClr val="8D140B"/>
                  </a:solidFill>
                  <a:latin typeface="Inter Bold"/>
                  <a:ea typeface="Inter Bold"/>
                  <a:cs typeface="Inter Bold"/>
                  <a:sym typeface="Inter Bold"/>
                </a:rPr>
                <a:t>Care-transition proxies: discharge disposition, home without services</a:t>
              </a:r>
            </a:p>
          </p:txBody>
        </p:sp>
      </p:grpSp>
      <p:grpSp>
        <p:nvGrpSpPr>
          <p:cNvPr name="Group 81" id="81"/>
          <p:cNvGrpSpPr/>
          <p:nvPr/>
        </p:nvGrpSpPr>
        <p:grpSpPr>
          <a:xfrm rot="0">
            <a:off x="822960" y="8613648"/>
            <a:ext cx="16596360" cy="787327"/>
            <a:chOff x="0" y="0"/>
            <a:chExt cx="22128480" cy="1049769"/>
          </a:xfrm>
        </p:grpSpPr>
        <p:sp>
          <p:nvSpPr>
            <p:cNvPr name="Freeform 82" id="82"/>
            <p:cNvSpPr/>
            <p:nvPr/>
          </p:nvSpPr>
          <p:spPr>
            <a:xfrm flipH="false" flipV="false" rot="0">
              <a:off x="0" y="0"/>
              <a:ext cx="22128480" cy="1049769"/>
            </a:xfrm>
            <a:custGeom>
              <a:avLst/>
              <a:gdLst/>
              <a:ahLst/>
              <a:cxnLst/>
              <a:rect r="r" b="b" t="t" l="l"/>
              <a:pathLst>
                <a:path h="1049769" w="22128480">
                  <a:moveTo>
                    <a:pt x="0" y="0"/>
                  </a:moveTo>
                  <a:lnTo>
                    <a:pt x="22128480" y="0"/>
                  </a:lnTo>
                  <a:lnTo>
                    <a:pt x="22128480" y="1049769"/>
                  </a:lnTo>
                  <a:lnTo>
                    <a:pt x="0" y="1049769"/>
                  </a:lnTo>
                  <a:close/>
                </a:path>
              </a:pathLst>
            </a:custGeom>
            <a:blipFill>
              <a:blip r:embed="rId5">
                <a:alphaModFix amt="0"/>
              </a:blip>
              <a:stretch>
                <a:fillRect l="0" t="-384600" r="0" b="-336863"/>
              </a:stretch>
            </a:blipFill>
          </p:spPr>
        </p:sp>
        <p:sp>
          <p:nvSpPr>
            <p:cNvPr name="TextBox 83" id="83"/>
            <p:cNvSpPr txBox="true"/>
            <p:nvPr/>
          </p:nvSpPr>
          <p:spPr>
            <a:xfrm>
              <a:off x="0" y="0"/>
              <a:ext cx="22128480" cy="1049769"/>
            </a:xfrm>
            <a:prstGeom prst="rect">
              <a:avLst/>
            </a:prstGeom>
          </p:spPr>
          <p:txBody>
            <a:bodyPr anchor="ctr" rtlCol="false" tIns="0" lIns="0" bIns="0" rIns="0"/>
            <a:lstStyle/>
            <a:p>
              <a:pPr algn="l">
                <a:lnSpc>
                  <a:spcPts val="2579"/>
                </a:lnSpc>
              </a:pPr>
              <a:r>
                <a:rPr lang="en-US" b="true" sz="2149">
                  <a:solidFill>
                    <a:srgbClr val="000000"/>
                  </a:solidFill>
                  <a:latin typeface="Inter Bold"/>
                  <a:ea typeface="Inter Bold"/>
                  <a:cs typeface="Inter Bold"/>
                  <a:sym typeface="Inter Bold"/>
                </a:rPr>
                <a:t>Model: XGBoost, tuned via 4-fold randomized search on average precision  ·  55,992 train / 13,998 test  ·  scale_pos_weight 10.14</a:t>
              </a:r>
            </a:p>
          </p:txBody>
        </p:sp>
      </p:grpSp>
      <p:grpSp>
        <p:nvGrpSpPr>
          <p:cNvPr name="Group 84" id="84"/>
          <p:cNvGrpSpPr/>
          <p:nvPr/>
        </p:nvGrpSpPr>
        <p:grpSpPr>
          <a:xfrm rot="0">
            <a:off x="832485" y="9562345"/>
            <a:ext cx="16596360" cy="394746"/>
            <a:chOff x="0" y="0"/>
            <a:chExt cx="22128480" cy="526328"/>
          </a:xfrm>
        </p:grpSpPr>
        <p:sp>
          <p:nvSpPr>
            <p:cNvPr name="Freeform 85" id="85"/>
            <p:cNvSpPr/>
            <p:nvPr/>
          </p:nvSpPr>
          <p:spPr>
            <a:xfrm flipH="false" flipV="false" rot="0">
              <a:off x="0" y="0"/>
              <a:ext cx="22128480" cy="526328"/>
            </a:xfrm>
            <a:custGeom>
              <a:avLst/>
              <a:gdLst/>
              <a:ahLst/>
              <a:cxnLst/>
              <a:rect r="r" b="b" t="t" l="l"/>
              <a:pathLst>
                <a:path h="526328" w="22128480">
                  <a:moveTo>
                    <a:pt x="0" y="0"/>
                  </a:moveTo>
                  <a:lnTo>
                    <a:pt x="22128480" y="0"/>
                  </a:lnTo>
                  <a:lnTo>
                    <a:pt x="22128480" y="526328"/>
                  </a:lnTo>
                  <a:lnTo>
                    <a:pt x="0" y="526328"/>
                  </a:lnTo>
                  <a:close/>
                </a:path>
              </a:pathLst>
            </a:custGeom>
            <a:blipFill>
              <a:blip r:embed="rId5">
                <a:alphaModFix amt="0"/>
              </a:blip>
              <a:stretch>
                <a:fillRect l="0" t="-774042" r="0" b="-764383"/>
              </a:stretch>
            </a:blipFill>
          </p:spPr>
        </p:sp>
        <p:sp>
          <p:nvSpPr>
            <p:cNvPr name="TextBox 86" id="86"/>
            <p:cNvSpPr txBox="true"/>
            <p:nvPr/>
          </p:nvSpPr>
          <p:spPr>
            <a:xfrm>
              <a:off x="0" y="0"/>
              <a:ext cx="22128480" cy="526328"/>
            </a:xfrm>
            <a:prstGeom prst="rect">
              <a:avLst/>
            </a:prstGeom>
          </p:spPr>
          <p:txBody>
            <a:bodyPr anchor="ctr" rtlCol="false" tIns="0" lIns="0" bIns="0" rIns="0"/>
            <a:lstStyle/>
            <a:p>
              <a:pPr algn="l" marL="0" indent="0" lvl="0">
                <a:lnSpc>
                  <a:spcPts val="2189"/>
                </a:lnSpc>
                <a:spcBef>
                  <a:spcPct val="0"/>
                </a:spcBef>
              </a:pPr>
              <a:r>
                <a:rPr lang="en-US" sz="1824" i="true" strike="noStrike" u="none">
                  <a:solidFill>
                    <a:srgbClr val="000000"/>
                  </a:solidFill>
                  <a:latin typeface="Inter Italics"/>
                  <a:ea typeface="Inter Italics"/>
                  <a:cs typeface="Inter Italics"/>
                  <a:sym typeface="Inter Italics"/>
                </a:rPr>
                <a:t>Weight field dropped — 97% missing. </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22960" y="987552"/>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MODEL RESULTS — PERFORMANCE</a:t>
              </a:r>
            </a:p>
          </p:txBody>
        </p:sp>
      </p:grpSp>
      <p:grpSp>
        <p:nvGrpSpPr>
          <p:cNvPr name="Group 7" id="7"/>
          <p:cNvGrpSpPr/>
          <p:nvPr/>
        </p:nvGrpSpPr>
        <p:grpSpPr>
          <a:xfrm rot="0">
            <a:off x="822960" y="2057400"/>
            <a:ext cx="16322040" cy="741110"/>
            <a:chOff x="0" y="0"/>
            <a:chExt cx="21762720" cy="988147"/>
          </a:xfrm>
        </p:grpSpPr>
        <p:sp>
          <p:nvSpPr>
            <p:cNvPr name="Freeform 8" id="8"/>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5">
                <a:alphaModFix amt="0"/>
              </a:blip>
              <a:stretch>
                <a:fillRect l="0" t="-390268" r="0" b="-367999"/>
              </a:stretch>
            </a:blipFill>
          </p:spPr>
        </p:sp>
        <p:sp>
          <p:nvSpPr>
            <p:cNvPr name="TextBox 9" id="9"/>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000000"/>
                  </a:solidFill>
                  <a:latin typeface="Inter Bold"/>
                  <a:ea typeface="Inter Bold"/>
                  <a:cs typeface="Inter Bold"/>
                  <a:sym typeface="Inter Bold"/>
                </a:rPr>
                <a:t>Tuning gained little. That is the honest finding: mid-0.60s ROC-AUC is the ceiling for administrative billing data, and matches published work on this dataset.</a:t>
              </a:r>
            </a:p>
          </p:txBody>
        </p:sp>
      </p:grpSp>
      <p:grpSp>
        <p:nvGrpSpPr>
          <p:cNvPr name="Group 10" id="10"/>
          <p:cNvGrpSpPr/>
          <p:nvPr/>
        </p:nvGrpSpPr>
        <p:grpSpPr>
          <a:xfrm rot="0">
            <a:off x="813435" y="2870835"/>
            <a:ext cx="3928110" cy="1966722"/>
            <a:chOff x="0" y="0"/>
            <a:chExt cx="5237480" cy="2622296"/>
          </a:xfrm>
        </p:grpSpPr>
        <p:sp>
          <p:nvSpPr>
            <p:cNvPr name="Freeform 11" id="11"/>
            <p:cNvSpPr/>
            <p:nvPr/>
          </p:nvSpPr>
          <p:spPr>
            <a:xfrm flipH="false" flipV="false" rot="0">
              <a:off x="0" y="0"/>
              <a:ext cx="5237480" cy="2622296"/>
            </a:xfrm>
            <a:custGeom>
              <a:avLst/>
              <a:gdLst/>
              <a:ahLst/>
              <a:cxnLst/>
              <a:rect r="r" b="b" t="t" l="l"/>
              <a:pathLst>
                <a:path h="2622296" w="5237480">
                  <a:moveTo>
                    <a:pt x="0" y="147701"/>
                  </a:moveTo>
                  <a:cubicBezTo>
                    <a:pt x="0" y="66167"/>
                    <a:pt x="66167" y="0"/>
                    <a:pt x="147701" y="0"/>
                  </a:cubicBezTo>
                  <a:lnTo>
                    <a:pt x="5089779" y="0"/>
                  </a:lnTo>
                  <a:cubicBezTo>
                    <a:pt x="5171313" y="0"/>
                    <a:pt x="5237480" y="66167"/>
                    <a:pt x="5237480" y="147701"/>
                  </a:cubicBezTo>
                  <a:lnTo>
                    <a:pt x="5237480" y="2474595"/>
                  </a:lnTo>
                  <a:cubicBezTo>
                    <a:pt x="5237480" y="2556129"/>
                    <a:pt x="5171313" y="2622296"/>
                    <a:pt x="5089779" y="2622296"/>
                  </a:cubicBezTo>
                  <a:lnTo>
                    <a:pt x="147701" y="2622296"/>
                  </a:lnTo>
                  <a:cubicBezTo>
                    <a:pt x="66167" y="2622296"/>
                    <a:pt x="0" y="2556129"/>
                    <a:pt x="0" y="2474595"/>
                  </a:cubicBezTo>
                  <a:close/>
                </a:path>
              </a:pathLst>
            </a:custGeom>
            <a:solidFill>
              <a:srgbClr val="FFF3F2"/>
            </a:solidFill>
            <a:ln w="19050" cap="sq">
              <a:solidFill>
                <a:srgbClr val="F4F7F9"/>
              </a:solidFill>
              <a:prstDash val="solid"/>
              <a:miter/>
            </a:ln>
          </p:spPr>
        </p:sp>
      </p:grpSp>
      <p:grpSp>
        <p:nvGrpSpPr>
          <p:cNvPr name="Group 12" id="12"/>
          <p:cNvGrpSpPr/>
          <p:nvPr/>
        </p:nvGrpSpPr>
        <p:grpSpPr>
          <a:xfrm rot="0">
            <a:off x="822960" y="3072384"/>
            <a:ext cx="3909060" cy="1012789"/>
            <a:chOff x="0" y="0"/>
            <a:chExt cx="5212080" cy="1350386"/>
          </a:xfrm>
        </p:grpSpPr>
        <p:sp>
          <p:nvSpPr>
            <p:cNvPr name="Freeform 13" id="13"/>
            <p:cNvSpPr/>
            <p:nvPr/>
          </p:nvSpPr>
          <p:spPr>
            <a:xfrm flipH="false" flipV="false" rot="0">
              <a:off x="0" y="0"/>
              <a:ext cx="5212080" cy="1350381"/>
            </a:xfrm>
            <a:custGeom>
              <a:avLst/>
              <a:gdLst/>
              <a:ahLst/>
              <a:cxnLst/>
              <a:rect r="r" b="b" t="t" l="l"/>
              <a:pathLst>
                <a:path h="1350381" w="5212080">
                  <a:moveTo>
                    <a:pt x="0" y="0"/>
                  </a:moveTo>
                  <a:lnTo>
                    <a:pt x="5212080" y="0"/>
                  </a:lnTo>
                  <a:lnTo>
                    <a:pt x="5212080" y="1350381"/>
                  </a:lnTo>
                  <a:lnTo>
                    <a:pt x="0" y="1350381"/>
                  </a:lnTo>
                  <a:close/>
                </a:path>
              </a:pathLst>
            </a:custGeom>
            <a:blipFill>
              <a:blip r:embed="rId5">
                <a:alphaModFix amt="0"/>
              </a:blip>
              <a:stretch>
                <a:fillRect l="0" t="-25206" r="0" b="-25206"/>
              </a:stretch>
            </a:blipFill>
          </p:spPr>
        </p:sp>
        <p:sp>
          <p:nvSpPr>
            <p:cNvPr name="TextBox 14" id="14"/>
            <p:cNvSpPr txBox="true"/>
            <p:nvPr/>
          </p:nvSpPr>
          <p:spPr>
            <a:xfrm>
              <a:off x="0" y="-9525"/>
              <a:ext cx="5212080" cy="1359911"/>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0.655</a:t>
              </a:r>
            </a:p>
          </p:txBody>
        </p:sp>
      </p:grpSp>
      <p:grpSp>
        <p:nvGrpSpPr>
          <p:cNvPr name="Group 15" id="15"/>
          <p:cNvGrpSpPr/>
          <p:nvPr/>
        </p:nvGrpSpPr>
        <p:grpSpPr>
          <a:xfrm rot="0">
            <a:off x="987552" y="4048963"/>
            <a:ext cx="3579876" cy="662208"/>
            <a:chOff x="0" y="0"/>
            <a:chExt cx="4773168" cy="882944"/>
          </a:xfrm>
        </p:grpSpPr>
        <p:sp>
          <p:nvSpPr>
            <p:cNvPr name="Freeform 16" id="16"/>
            <p:cNvSpPr/>
            <p:nvPr/>
          </p:nvSpPr>
          <p:spPr>
            <a:xfrm flipH="false" flipV="false" rot="0">
              <a:off x="0" y="0"/>
              <a:ext cx="4773168" cy="882946"/>
            </a:xfrm>
            <a:custGeom>
              <a:avLst/>
              <a:gdLst/>
              <a:ahLst/>
              <a:cxnLst/>
              <a:rect r="r" b="b" t="t" l="l"/>
              <a:pathLst>
                <a:path h="882946" w="4773168">
                  <a:moveTo>
                    <a:pt x="0" y="0"/>
                  </a:moveTo>
                  <a:lnTo>
                    <a:pt x="4773168" y="0"/>
                  </a:lnTo>
                  <a:lnTo>
                    <a:pt x="4773168" y="882946"/>
                  </a:lnTo>
                  <a:lnTo>
                    <a:pt x="0" y="882946"/>
                  </a:lnTo>
                  <a:close/>
                </a:path>
              </a:pathLst>
            </a:custGeom>
            <a:blipFill>
              <a:blip r:embed="rId5">
                <a:alphaModFix amt="0"/>
              </a:blip>
              <a:stretch>
                <a:fillRect l="0" t="-55335" r="0" b="-55335"/>
              </a:stretch>
            </a:blipFill>
          </p:spPr>
        </p:sp>
        <p:sp>
          <p:nvSpPr>
            <p:cNvPr name="TextBox 17" id="17"/>
            <p:cNvSpPr txBox="true"/>
            <p:nvPr/>
          </p:nvSpPr>
          <p:spPr>
            <a:xfrm>
              <a:off x="0" y="0"/>
              <a:ext cx="4773168" cy="882944"/>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ROC-AUC (tuned)</a:t>
              </a:r>
            </a:p>
            <a:p>
              <a:pPr algn="ctr">
                <a:lnSpc>
                  <a:spcPts val="1889"/>
                </a:lnSpc>
              </a:pPr>
              <a:r>
                <a:rPr lang="en-US" b="true" sz="1575">
                  <a:solidFill>
                    <a:srgbClr val="8D140B"/>
                  </a:solidFill>
                  <a:latin typeface="Inter Bold"/>
                  <a:ea typeface="Inter Bold"/>
                  <a:cs typeface="Inter Bold"/>
                  <a:sym typeface="Inter Bold"/>
                </a:rPr>
                <a:t>baseline 0.648</a:t>
              </a:r>
            </a:p>
          </p:txBody>
        </p:sp>
      </p:grpSp>
      <p:grpSp>
        <p:nvGrpSpPr>
          <p:cNvPr name="Group 18" id="18"/>
          <p:cNvGrpSpPr/>
          <p:nvPr/>
        </p:nvGrpSpPr>
        <p:grpSpPr>
          <a:xfrm rot="0">
            <a:off x="4996815" y="2870835"/>
            <a:ext cx="3928110" cy="1966722"/>
            <a:chOff x="0" y="0"/>
            <a:chExt cx="5237480" cy="2622296"/>
          </a:xfrm>
        </p:grpSpPr>
        <p:sp>
          <p:nvSpPr>
            <p:cNvPr name="Freeform 19" id="19"/>
            <p:cNvSpPr/>
            <p:nvPr/>
          </p:nvSpPr>
          <p:spPr>
            <a:xfrm flipH="false" flipV="false" rot="0">
              <a:off x="0" y="0"/>
              <a:ext cx="5237480" cy="2622296"/>
            </a:xfrm>
            <a:custGeom>
              <a:avLst/>
              <a:gdLst/>
              <a:ahLst/>
              <a:cxnLst/>
              <a:rect r="r" b="b" t="t" l="l"/>
              <a:pathLst>
                <a:path h="2622296" w="5237480">
                  <a:moveTo>
                    <a:pt x="0" y="147701"/>
                  </a:moveTo>
                  <a:cubicBezTo>
                    <a:pt x="0" y="66167"/>
                    <a:pt x="66167" y="0"/>
                    <a:pt x="147701" y="0"/>
                  </a:cubicBezTo>
                  <a:lnTo>
                    <a:pt x="5089779" y="0"/>
                  </a:lnTo>
                  <a:cubicBezTo>
                    <a:pt x="5171313" y="0"/>
                    <a:pt x="5237480" y="66167"/>
                    <a:pt x="5237480" y="147701"/>
                  </a:cubicBezTo>
                  <a:lnTo>
                    <a:pt x="5237480" y="2474595"/>
                  </a:lnTo>
                  <a:cubicBezTo>
                    <a:pt x="5237480" y="2556129"/>
                    <a:pt x="5171313" y="2622296"/>
                    <a:pt x="5089779" y="2622296"/>
                  </a:cubicBezTo>
                  <a:lnTo>
                    <a:pt x="147701" y="2622296"/>
                  </a:lnTo>
                  <a:cubicBezTo>
                    <a:pt x="66167" y="2622296"/>
                    <a:pt x="0" y="2556129"/>
                    <a:pt x="0" y="2474595"/>
                  </a:cubicBezTo>
                  <a:close/>
                </a:path>
              </a:pathLst>
            </a:custGeom>
            <a:solidFill>
              <a:srgbClr val="FFF3F2"/>
            </a:solidFill>
            <a:ln w="19050" cap="sq">
              <a:solidFill>
                <a:srgbClr val="F4F7F9"/>
              </a:solidFill>
              <a:prstDash val="solid"/>
              <a:miter/>
            </a:ln>
          </p:spPr>
        </p:sp>
      </p:grpSp>
      <p:grpSp>
        <p:nvGrpSpPr>
          <p:cNvPr name="Group 20" id="20"/>
          <p:cNvGrpSpPr/>
          <p:nvPr/>
        </p:nvGrpSpPr>
        <p:grpSpPr>
          <a:xfrm rot="0">
            <a:off x="5006340" y="3072384"/>
            <a:ext cx="3909060" cy="1012789"/>
            <a:chOff x="0" y="0"/>
            <a:chExt cx="5212080" cy="1350386"/>
          </a:xfrm>
        </p:grpSpPr>
        <p:sp>
          <p:nvSpPr>
            <p:cNvPr name="Freeform 21" id="21"/>
            <p:cNvSpPr/>
            <p:nvPr/>
          </p:nvSpPr>
          <p:spPr>
            <a:xfrm flipH="false" flipV="false" rot="0">
              <a:off x="0" y="0"/>
              <a:ext cx="5212080" cy="1350381"/>
            </a:xfrm>
            <a:custGeom>
              <a:avLst/>
              <a:gdLst/>
              <a:ahLst/>
              <a:cxnLst/>
              <a:rect r="r" b="b" t="t" l="l"/>
              <a:pathLst>
                <a:path h="1350381" w="5212080">
                  <a:moveTo>
                    <a:pt x="0" y="0"/>
                  </a:moveTo>
                  <a:lnTo>
                    <a:pt x="5212080" y="0"/>
                  </a:lnTo>
                  <a:lnTo>
                    <a:pt x="5212080" y="1350381"/>
                  </a:lnTo>
                  <a:lnTo>
                    <a:pt x="0" y="1350381"/>
                  </a:lnTo>
                  <a:close/>
                </a:path>
              </a:pathLst>
            </a:custGeom>
            <a:blipFill>
              <a:blip r:embed="rId5">
                <a:alphaModFix amt="0"/>
              </a:blip>
              <a:stretch>
                <a:fillRect l="0" t="-25206" r="0" b="-25206"/>
              </a:stretch>
            </a:blipFill>
          </p:spPr>
        </p:sp>
        <p:sp>
          <p:nvSpPr>
            <p:cNvPr name="TextBox 22" id="22"/>
            <p:cNvSpPr txBox="true"/>
            <p:nvPr/>
          </p:nvSpPr>
          <p:spPr>
            <a:xfrm>
              <a:off x="0" y="-9525"/>
              <a:ext cx="5212080" cy="1359911"/>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0.166</a:t>
              </a:r>
            </a:p>
          </p:txBody>
        </p:sp>
      </p:grpSp>
      <p:grpSp>
        <p:nvGrpSpPr>
          <p:cNvPr name="Group 23" id="23"/>
          <p:cNvGrpSpPr/>
          <p:nvPr/>
        </p:nvGrpSpPr>
        <p:grpSpPr>
          <a:xfrm rot="0">
            <a:off x="5170932" y="4048963"/>
            <a:ext cx="3579876" cy="662208"/>
            <a:chOff x="0" y="0"/>
            <a:chExt cx="4773168" cy="882944"/>
          </a:xfrm>
        </p:grpSpPr>
        <p:sp>
          <p:nvSpPr>
            <p:cNvPr name="Freeform 24" id="24"/>
            <p:cNvSpPr/>
            <p:nvPr/>
          </p:nvSpPr>
          <p:spPr>
            <a:xfrm flipH="false" flipV="false" rot="0">
              <a:off x="0" y="0"/>
              <a:ext cx="4773168" cy="882946"/>
            </a:xfrm>
            <a:custGeom>
              <a:avLst/>
              <a:gdLst/>
              <a:ahLst/>
              <a:cxnLst/>
              <a:rect r="r" b="b" t="t" l="l"/>
              <a:pathLst>
                <a:path h="882946" w="4773168">
                  <a:moveTo>
                    <a:pt x="0" y="0"/>
                  </a:moveTo>
                  <a:lnTo>
                    <a:pt x="4773168" y="0"/>
                  </a:lnTo>
                  <a:lnTo>
                    <a:pt x="4773168" y="882946"/>
                  </a:lnTo>
                  <a:lnTo>
                    <a:pt x="0" y="882946"/>
                  </a:lnTo>
                  <a:close/>
                </a:path>
              </a:pathLst>
            </a:custGeom>
            <a:blipFill>
              <a:blip r:embed="rId5">
                <a:alphaModFix amt="0"/>
              </a:blip>
              <a:stretch>
                <a:fillRect l="0" t="-55335" r="0" b="-55335"/>
              </a:stretch>
            </a:blipFill>
          </p:spPr>
        </p:sp>
        <p:sp>
          <p:nvSpPr>
            <p:cNvPr name="TextBox 25" id="25"/>
            <p:cNvSpPr txBox="true"/>
            <p:nvPr/>
          </p:nvSpPr>
          <p:spPr>
            <a:xfrm>
              <a:off x="0" y="0"/>
              <a:ext cx="4773168" cy="882944"/>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PR-AUC</a:t>
              </a:r>
            </a:p>
            <a:p>
              <a:pPr algn="ctr">
                <a:lnSpc>
                  <a:spcPts val="1889"/>
                </a:lnSpc>
              </a:pPr>
              <a:r>
                <a:rPr lang="en-US" b="true" sz="1575">
                  <a:solidFill>
                    <a:srgbClr val="8D140B"/>
                  </a:solidFill>
                  <a:latin typeface="Inter Bold"/>
                  <a:ea typeface="Inter Bold"/>
                  <a:cs typeface="Inter Bold"/>
                  <a:sym typeface="Inter Bold"/>
                </a:rPr>
                <a:t>vs. 0.090 base rate</a:t>
              </a:r>
            </a:p>
          </p:txBody>
        </p:sp>
      </p:grpSp>
      <p:grpSp>
        <p:nvGrpSpPr>
          <p:cNvPr name="Group 26" id="26"/>
          <p:cNvGrpSpPr/>
          <p:nvPr/>
        </p:nvGrpSpPr>
        <p:grpSpPr>
          <a:xfrm rot="0">
            <a:off x="9180195" y="2870835"/>
            <a:ext cx="3928110" cy="1966722"/>
            <a:chOff x="0" y="0"/>
            <a:chExt cx="5237480" cy="2622296"/>
          </a:xfrm>
        </p:grpSpPr>
        <p:sp>
          <p:nvSpPr>
            <p:cNvPr name="Freeform 27" id="27"/>
            <p:cNvSpPr/>
            <p:nvPr/>
          </p:nvSpPr>
          <p:spPr>
            <a:xfrm flipH="false" flipV="false" rot="0">
              <a:off x="0" y="0"/>
              <a:ext cx="5237480" cy="2622296"/>
            </a:xfrm>
            <a:custGeom>
              <a:avLst/>
              <a:gdLst/>
              <a:ahLst/>
              <a:cxnLst/>
              <a:rect r="r" b="b" t="t" l="l"/>
              <a:pathLst>
                <a:path h="2622296" w="5237480">
                  <a:moveTo>
                    <a:pt x="0" y="147701"/>
                  </a:moveTo>
                  <a:cubicBezTo>
                    <a:pt x="0" y="66167"/>
                    <a:pt x="66167" y="0"/>
                    <a:pt x="147701" y="0"/>
                  </a:cubicBezTo>
                  <a:lnTo>
                    <a:pt x="5089779" y="0"/>
                  </a:lnTo>
                  <a:cubicBezTo>
                    <a:pt x="5171313" y="0"/>
                    <a:pt x="5237480" y="66167"/>
                    <a:pt x="5237480" y="147701"/>
                  </a:cubicBezTo>
                  <a:lnTo>
                    <a:pt x="5237480" y="2474595"/>
                  </a:lnTo>
                  <a:cubicBezTo>
                    <a:pt x="5237480" y="2556129"/>
                    <a:pt x="5171313" y="2622296"/>
                    <a:pt x="5089779" y="2622296"/>
                  </a:cubicBezTo>
                  <a:lnTo>
                    <a:pt x="147701" y="2622296"/>
                  </a:lnTo>
                  <a:cubicBezTo>
                    <a:pt x="66167" y="2622296"/>
                    <a:pt x="0" y="2556129"/>
                    <a:pt x="0" y="2474595"/>
                  </a:cubicBezTo>
                  <a:close/>
                </a:path>
              </a:pathLst>
            </a:custGeom>
            <a:solidFill>
              <a:srgbClr val="FFF3F2"/>
            </a:solidFill>
            <a:ln w="19050" cap="sq">
              <a:solidFill>
                <a:srgbClr val="F4F7F9"/>
              </a:solidFill>
              <a:prstDash val="solid"/>
              <a:miter/>
            </a:ln>
          </p:spPr>
        </p:sp>
      </p:grpSp>
      <p:grpSp>
        <p:nvGrpSpPr>
          <p:cNvPr name="Group 28" id="28"/>
          <p:cNvGrpSpPr/>
          <p:nvPr/>
        </p:nvGrpSpPr>
        <p:grpSpPr>
          <a:xfrm rot="0">
            <a:off x="9189720" y="3072384"/>
            <a:ext cx="3909060" cy="1012789"/>
            <a:chOff x="0" y="0"/>
            <a:chExt cx="5212080" cy="1350386"/>
          </a:xfrm>
        </p:grpSpPr>
        <p:sp>
          <p:nvSpPr>
            <p:cNvPr name="Freeform 29" id="29"/>
            <p:cNvSpPr/>
            <p:nvPr/>
          </p:nvSpPr>
          <p:spPr>
            <a:xfrm flipH="false" flipV="false" rot="0">
              <a:off x="0" y="0"/>
              <a:ext cx="5212080" cy="1350381"/>
            </a:xfrm>
            <a:custGeom>
              <a:avLst/>
              <a:gdLst/>
              <a:ahLst/>
              <a:cxnLst/>
              <a:rect r="r" b="b" t="t" l="l"/>
              <a:pathLst>
                <a:path h="1350381" w="5212080">
                  <a:moveTo>
                    <a:pt x="0" y="0"/>
                  </a:moveTo>
                  <a:lnTo>
                    <a:pt x="5212080" y="0"/>
                  </a:lnTo>
                  <a:lnTo>
                    <a:pt x="5212080" y="1350381"/>
                  </a:lnTo>
                  <a:lnTo>
                    <a:pt x="0" y="1350381"/>
                  </a:lnTo>
                  <a:close/>
                </a:path>
              </a:pathLst>
            </a:custGeom>
            <a:blipFill>
              <a:blip r:embed="rId5">
                <a:alphaModFix amt="0"/>
              </a:blip>
              <a:stretch>
                <a:fillRect l="0" t="-25206" r="0" b="-25206"/>
              </a:stretch>
            </a:blipFill>
          </p:spPr>
        </p:sp>
        <p:sp>
          <p:nvSpPr>
            <p:cNvPr name="TextBox 30" id="30"/>
            <p:cNvSpPr txBox="true"/>
            <p:nvPr/>
          </p:nvSpPr>
          <p:spPr>
            <a:xfrm>
              <a:off x="0" y="-9525"/>
              <a:ext cx="5212080" cy="1359911"/>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38</a:t>
              </a:r>
              <a:r>
                <a:rPr lang="en-US" b="true" sz="4500">
                  <a:solidFill>
                    <a:srgbClr val="8D140B"/>
                  </a:solidFill>
                  <a:latin typeface="Bricolage Grotesque Bold"/>
                  <a:ea typeface="Bricolage Grotesque Bold"/>
                  <a:cs typeface="Bricolage Grotesque Bold"/>
                  <a:sym typeface="Bricolage Grotesque Bold"/>
                </a:rPr>
                <a:t>%</a:t>
              </a:r>
            </a:p>
          </p:txBody>
        </p:sp>
      </p:grpSp>
      <p:grpSp>
        <p:nvGrpSpPr>
          <p:cNvPr name="Group 31" id="31"/>
          <p:cNvGrpSpPr/>
          <p:nvPr/>
        </p:nvGrpSpPr>
        <p:grpSpPr>
          <a:xfrm rot="0">
            <a:off x="9354312" y="4048963"/>
            <a:ext cx="3579876" cy="662208"/>
            <a:chOff x="0" y="0"/>
            <a:chExt cx="4773168" cy="882944"/>
          </a:xfrm>
        </p:grpSpPr>
        <p:sp>
          <p:nvSpPr>
            <p:cNvPr name="Freeform 32" id="32"/>
            <p:cNvSpPr/>
            <p:nvPr/>
          </p:nvSpPr>
          <p:spPr>
            <a:xfrm flipH="false" flipV="false" rot="0">
              <a:off x="0" y="0"/>
              <a:ext cx="4773168" cy="882946"/>
            </a:xfrm>
            <a:custGeom>
              <a:avLst/>
              <a:gdLst/>
              <a:ahLst/>
              <a:cxnLst/>
              <a:rect r="r" b="b" t="t" l="l"/>
              <a:pathLst>
                <a:path h="882946" w="4773168">
                  <a:moveTo>
                    <a:pt x="0" y="0"/>
                  </a:moveTo>
                  <a:lnTo>
                    <a:pt x="4773168" y="0"/>
                  </a:lnTo>
                  <a:lnTo>
                    <a:pt x="4773168" y="882946"/>
                  </a:lnTo>
                  <a:lnTo>
                    <a:pt x="0" y="882946"/>
                  </a:lnTo>
                  <a:close/>
                </a:path>
              </a:pathLst>
            </a:custGeom>
            <a:blipFill>
              <a:blip r:embed="rId5">
                <a:alphaModFix amt="0"/>
              </a:blip>
              <a:stretch>
                <a:fillRect l="0" t="-55335" r="0" b="-55335"/>
              </a:stretch>
            </a:blipFill>
          </p:spPr>
        </p:sp>
        <p:sp>
          <p:nvSpPr>
            <p:cNvPr name="TextBox 33" id="33"/>
            <p:cNvSpPr txBox="true"/>
            <p:nvPr/>
          </p:nvSpPr>
          <p:spPr>
            <a:xfrm>
              <a:off x="0" y="0"/>
              <a:ext cx="4773168" cy="882944"/>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Recall at operating</a:t>
              </a:r>
            </a:p>
            <a:p>
              <a:pPr algn="ctr">
                <a:lnSpc>
                  <a:spcPts val="1889"/>
                </a:lnSpc>
              </a:pPr>
              <a:r>
                <a:rPr lang="en-US" b="true" sz="1575">
                  <a:solidFill>
                    <a:srgbClr val="8D140B"/>
                  </a:solidFill>
                  <a:latin typeface="Inter Bold"/>
                  <a:ea typeface="Inter Bold"/>
                  <a:cs typeface="Inter Bold"/>
                  <a:sym typeface="Inter Bold"/>
                </a:rPr>
                <a:t>threshold 0.57</a:t>
              </a:r>
            </a:p>
          </p:txBody>
        </p:sp>
      </p:grpSp>
      <p:grpSp>
        <p:nvGrpSpPr>
          <p:cNvPr name="Group 34" id="34"/>
          <p:cNvGrpSpPr/>
          <p:nvPr/>
        </p:nvGrpSpPr>
        <p:grpSpPr>
          <a:xfrm rot="0">
            <a:off x="13363575" y="2870835"/>
            <a:ext cx="3928110" cy="1966722"/>
            <a:chOff x="0" y="0"/>
            <a:chExt cx="5237480" cy="2622296"/>
          </a:xfrm>
        </p:grpSpPr>
        <p:sp>
          <p:nvSpPr>
            <p:cNvPr name="Freeform 35" id="35"/>
            <p:cNvSpPr/>
            <p:nvPr/>
          </p:nvSpPr>
          <p:spPr>
            <a:xfrm flipH="false" flipV="false" rot="0">
              <a:off x="0" y="0"/>
              <a:ext cx="5237480" cy="2622296"/>
            </a:xfrm>
            <a:custGeom>
              <a:avLst/>
              <a:gdLst/>
              <a:ahLst/>
              <a:cxnLst/>
              <a:rect r="r" b="b" t="t" l="l"/>
              <a:pathLst>
                <a:path h="2622296" w="5237480">
                  <a:moveTo>
                    <a:pt x="0" y="147701"/>
                  </a:moveTo>
                  <a:cubicBezTo>
                    <a:pt x="0" y="66167"/>
                    <a:pt x="66167" y="0"/>
                    <a:pt x="147701" y="0"/>
                  </a:cubicBezTo>
                  <a:lnTo>
                    <a:pt x="5089779" y="0"/>
                  </a:lnTo>
                  <a:cubicBezTo>
                    <a:pt x="5171313" y="0"/>
                    <a:pt x="5237480" y="66167"/>
                    <a:pt x="5237480" y="147701"/>
                  </a:cubicBezTo>
                  <a:lnTo>
                    <a:pt x="5237480" y="2474595"/>
                  </a:lnTo>
                  <a:cubicBezTo>
                    <a:pt x="5237480" y="2556129"/>
                    <a:pt x="5171313" y="2622296"/>
                    <a:pt x="5089779" y="2622296"/>
                  </a:cubicBezTo>
                  <a:lnTo>
                    <a:pt x="147701" y="2622296"/>
                  </a:lnTo>
                  <a:cubicBezTo>
                    <a:pt x="66167" y="2622296"/>
                    <a:pt x="0" y="2556129"/>
                    <a:pt x="0" y="2474595"/>
                  </a:cubicBezTo>
                  <a:close/>
                </a:path>
              </a:pathLst>
            </a:custGeom>
            <a:solidFill>
              <a:srgbClr val="FFE4B9"/>
            </a:solidFill>
            <a:ln w="19050" cap="sq">
              <a:solidFill>
                <a:srgbClr val="065A82"/>
              </a:solidFill>
              <a:prstDash val="solid"/>
              <a:miter/>
            </a:ln>
          </p:spPr>
        </p:sp>
      </p:grpSp>
      <p:grpSp>
        <p:nvGrpSpPr>
          <p:cNvPr name="Group 36" id="36"/>
          <p:cNvGrpSpPr/>
          <p:nvPr/>
        </p:nvGrpSpPr>
        <p:grpSpPr>
          <a:xfrm rot="0">
            <a:off x="13373100" y="3072384"/>
            <a:ext cx="3909060" cy="1012789"/>
            <a:chOff x="0" y="0"/>
            <a:chExt cx="5212080" cy="1350386"/>
          </a:xfrm>
        </p:grpSpPr>
        <p:sp>
          <p:nvSpPr>
            <p:cNvPr name="Freeform 37" id="37"/>
            <p:cNvSpPr/>
            <p:nvPr/>
          </p:nvSpPr>
          <p:spPr>
            <a:xfrm flipH="false" flipV="false" rot="0">
              <a:off x="0" y="0"/>
              <a:ext cx="5212080" cy="1350381"/>
            </a:xfrm>
            <a:custGeom>
              <a:avLst/>
              <a:gdLst/>
              <a:ahLst/>
              <a:cxnLst/>
              <a:rect r="r" b="b" t="t" l="l"/>
              <a:pathLst>
                <a:path h="1350381" w="5212080">
                  <a:moveTo>
                    <a:pt x="0" y="0"/>
                  </a:moveTo>
                  <a:lnTo>
                    <a:pt x="5212080" y="0"/>
                  </a:lnTo>
                  <a:lnTo>
                    <a:pt x="5212080" y="1350381"/>
                  </a:lnTo>
                  <a:lnTo>
                    <a:pt x="0" y="1350381"/>
                  </a:lnTo>
                  <a:close/>
                </a:path>
              </a:pathLst>
            </a:custGeom>
            <a:blipFill>
              <a:blip r:embed="rId5">
                <a:alphaModFix amt="0"/>
              </a:blip>
              <a:stretch>
                <a:fillRect l="0" t="-25206" r="0" b="-25206"/>
              </a:stretch>
            </a:blipFill>
          </p:spPr>
        </p:sp>
        <p:sp>
          <p:nvSpPr>
            <p:cNvPr name="TextBox 38" id="38"/>
            <p:cNvSpPr txBox="true"/>
            <p:nvPr/>
          </p:nvSpPr>
          <p:spPr>
            <a:xfrm>
              <a:off x="0" y="-9525"/>
              <a:ext cx="5212080" cy="1359911"/>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1.97×</a:t>
              </a:r>
            </a:p>
          </p:txBody>
        </p:sp>
      </p:grpSp>
      <p:grpSp>
        <p:nvGrpSpPr>
          <p:cNvPr name="Group 39" id="39"/>
          <p:cNvGrpSpPr/>
          <p:nvPr/>
        </p:nvGrpSpPr>
        <p:grpSpPr>
          <a:xfrm rot="0">
            <a:off x="13537692" y="4048963"/>
            <a:ext cx="3579876" cy="662208"/>
            <a:chOff x="0" y="0"/>
            <a:chExt cx="4773168" cy="882944"/>
          </a:xfrm>
        </p:grpSpPr>
        <p:sp>
          <p:nvSpPr>
            <p:cNvPr name="Freeform 40" id="40"/>
            <p:cNvSpPr/>
            <p:nvPr/>
          </p:nvSpPr>
          <p:spPr>
            <a:xfrm flipH="false" flipV="false" rot="0">
              <a:off x="0" y="0"/>
              <a:ext cx="4773168" cy="882946"/>
            </a:xfrm>
            <a:custGeom>
              <a:avLst/>
              <a:gdLst/>
              <a:ahLst/>
              <a:cxnLst/>
              <a:rect r="r" b="b" t="t" l="l"/>
              <a:pathLst>
                <a:path h="882946" w="4773168">
                  <a:moveTo>
                    <a:pt x="0" y="0"/>
                  </a:moveTo>
                  <a:lnTo>
                    <a:pt x="4773168" y="0"/>
                  </a:lnTo>
                  <a:lnTo>
                    <a:pt x="4773168" y="882946"/>
                  </a:lnTo>
                  <a:lnTo>
                    <a:pt x="0" y="882946"/>
                  </a:lnTo>
                  <a:close/>
                </a:path>
              </a:pathLst>
            </a:custGeom>
            <a:blipFill>
              <a:blip r:embed="rId5">
                <a:alphaModFix amt="0"/>
              </a:blip>
              <a:stretch>
                <a:fillRect l="0" t="-55335" r="0" b="-55335"/>
              </a:stretch>
            </a:blipFill>
          </p:spPr>
        </p:sp>
        <p:sp>
          <p:nvSpPr>
            <p:cNvPr name="TextBox 41" id="41"/>
            <p:cNvSpPr txBox="true"/>
            <p:nvPr/>
          </p:nvSpPr>
          <p:spPr>
            <a:xfrm>
              <a:off x="0" y="0"/>
              <a:ext cx="4773168" cy="882944"/>
            </a:xfrm>
            <a:prstGeom prst="rect">
              <a:avLst/>
            </a:prstGeom>
          </p:spPr>
          <p:txBody>
            <a:bodyPr anchor="ctr" rtlCol="false" tIns="0" lIns="0" bIns="0" rIns="0"/>
            <a:lstStyle/>
            <a:p>
              <a:pPr algn="ctr">
                <a:lnSpc>
                  <a:spcPts val="1889"/>
                </a:lnSpc>
              </a:pPr>
              <a:r>
                <a:rPr lang="en-US" b="true" sz="1575">
                  <a:solidFill>
                    <a:srgbClr val="8D140B"/>
                  </a:solidFill>
                  <a:latin typeface="Inter Bold"/>
                  <a:ea typeface="Inter Bold"/>
                  <a:cs typeface="Inter Bold"/>
                  <a:sym typeface="Inter Bold"/>
                </a:rPr>
                <a:t>Precision lift over</a:t>
              </a:r>
            </a:p>
            <a:p>
              <a:pPr algn="ctr">
                <a:lnSpc>
                  <a:spcPts val="1889"/>
                </a:lnSpc>
              </a:pPr>
              <a:r>
                <a:rPr lang="en-US" b="true" sz="1575">
                  <a:solidFill>
                    <a:srgbClr val="8D140B"/>
                  </a:solidFill>
                  <a:latin typeface="Inter Bold"/>
                  <a:ea typeface="Inter Bold"/>
                  <a:cs typeface="Inter Bold"/>
                  <a:sym typeface="Inter Bold"/>
                </a:rPr>
                <a:t>base rate</a:t>
              </a:r>
            </a:p>
          </p:txBody>
        </p:sp>
      </p:grpSp>
      <p:pic>
        <p:nvPicPr>
          <p:cNvPr name="Picture 42" id="42"/>
          <p:cNvPicPr>
            <a:picLocks noChangeAspect="true"/>
          </p:cNvPicPr>
          <p:nvPr/>
        </p:nvPicPr>
        <p:blipFill>
          <a:blip r:embed="rId6"/>
          <a:stretch>
            <a:fillRect/>
          </a:stretch>
        </p:blipFill>
        <p:spPr>
          <a:xfrm rot="0">
            <a:off x="152679" y="4217499"/>
            <a:ext cx="10494514" cy="5660851"/>
          </a:xfrm>
          <a:prstGeom prst="rect">
            <a:avLst/>
          </a:prstGeom>
        </p:spPr>
      </p:pic>
      <p:grpSp>
        <p:nvGrpSpPr>
          <p:cNvPr name="Group 43" id="43"/>
          <p:cNvGrpSpPr/>
          <p:nvPr/>
        </p:nvGrpSpPr>
        <p:grpSpPr>
          <a:xfrm rot="0">
            <a:off x="10346055" y="5229987"/>
            <a:ext cx="7082790" cy="1582674"/>
            <a:chOff x="0" y="0"/>
            <a:chExt cx="9443720" cy="2110232"/>
          </a:xfrm>
        </p:grpSpPr>
        <p:sp>
          <p:nvSpPr>
            <p:cNvPr name="Freeform 44" id="44"/>
            <p:cNvSpPr/>
            <p:nvPr/>
          </p:nvSpPr>
          <p:spPr>
            <a:xfrm flipH="false" flipV="false" rot="0">
              <a:off x="0" y="0"/>
              <a:ext cx="9443720" cy="2110232"/>
            </a:xfrm>
            <a:custGeom>
              <a:avLst/>
              <a:gdLst/>
              <a:ahLst/>
              <a:cxnLst/>
              <a:rect r="r" b="b" t="t" l="l"/>
              <a:pathLst>
                <a:path h="2110232" w="9443720">
                  <a:moveTo>
                    <a:pt x="0" y="148082"/>
                  </a:moveTo>
                  <a:cubicBezTo>
                    <a:pt x="0" y="66294"/>
                    <a:pt x="66294" y="0"/>
                    <a:pt x="148082" y="0"/>
                  </a:cubicBezTo>
                  <a:lnTo>
                    <a:pt x="9295638" y="0"/>
                  </a:lnTo>
                  <a:cubicBezTo>
                    <a:pt x="9377426" y="0"/>
                    <a:pt x="9443720" y="66294"/>
                    <a:pt x="9443720" y="148082"/>
                  </a:cubicBezTo>
                  <a:lnTo>
                    <a:pt x="9443720" y="1962150"/>
                  </a:lnTo>
                  <a:cubicBezTo>
                    <a:pt x="9443720" y="2043938"/>
                    <a:pt x="9377426" y="2110232"/>
                    <a:pt x="9295638" y="2110232"/>
                  </a:cubicBezTo>
                  <a:lnTo>
                    <a:pt x="148082" y="2110232"/>
                  </a:lnTo>
                  <a:cubicBezTo>
                    <a:pt x="66294" y="2110232"/>
                    <a:pt x="0" y="2043938"/>
                    <a:pt x="0" y="1962150"/>
                  </a:cubicBezTo>
                  <a:close/>
                </a:path>
              </a:pathLst>
            </a:custGeom>
            <a:solidFill>
              <a:srgbClr val="FFFFFF"/>
            </a:solidFill>
            <a:ln w="19050" cap="sq">
              <a:solidFill>
                <a:srgbClr val="DDE5EA"/>
              </a:solidFill>
              <a:prstDash val="solid"/>
              <a:miter/>
            </a:ln>
          </p:spPr>
        </p:sp>
      </p:grpSp>
      <p:grpSp>
        <p:nvGrpSpPr>
          <p:cNvPr name="Group 45" id="45"/>
          <p:cNvGrpSpPr/>
          <p:nvPr/>
        </p:nvGrpSpPr>
        <p:grpSpPr>
          <a:xfrm rot="0">
            <a:off x="10671048" y="5404104"/>
            <a:ext cx="6446520" cy="394716"/>
            <a:chOff x="0" y="0"/>
            <a:chExt cx="8595360" cy="526288"/>
          </a:xfrm>
        </p:grpSpPr>
        <p:sp>
          <p:nvSpPr>
            <p:cNvPr name="Freeform 46" id="46"/>
            <p:cNvSpPr/>
            <p:nvPr/>
          </p:nvSpPr>
          <p:spPr>
            <a:xfrm flipH="false" flipV="false" rot="0">
              <a:off x="0" y="0"/>
              <a:ext cx="8595360" cy="526288"/>
            </a:xfrm>
            <a:custGeom>
              <a:avLst/>
              <a:gdLst/>
              <a:ahLst/>
              <a:cxnLst/>
              <a:rect r="r" b="b" t="t" l="l"/>
              <a:pathLst>
                <a:path h="526288" w="8595360">
                  <a:moveTo>
                    <a:pt x="0" y="0"/>
                  </a:moveTo>
                  <a:lnTo>
                    <a:pt x="8595360" y="0"/>
                  </a:lnTo>
                  <a:lnTo>
                    <a:pt x="8595360" y="526288"/>
                  </a:lnTo>
                  <a:lnTo>
                    <a:pt x="0" y="526288"/>
                  </a:lnTo>
                  <a:close/>
                </a:path>
              </a:pathLst>
            </a:custGeom>
            <a:blipFill>
              <a:blip r:embed="rId5">
                <a:alphaModFix amt="0"/>
              </a:blip>
              <a:stretch>
                <a:fillRect l="0" t="-269581" r="0" b="-266879"/>
              </a:stretch>
            </a:blipFill>
          </p:spPr>
        </p:sp>
        <p:sp>
          <p:nvSpPr>
            <p:cNvPr name="TextBox 47" id="47"/>
            <p:cNvSpPr txBox="true"/>
            <p:nvPr/>
          </p:nvSpPr>
          <p:spPr>
            <a:xfrm>
              <a:off x="0" y="-9525"/>
              <a:ext cx="8595360" cy="535813"/>
            </a:xfrm>
            <a:prstGeom prst="rect">
              <a:avLst/>
            </a:prstGeom>
          </p:spPr>
          <p:txBody>
            <a:bodyPr anchor="ctr" rtlCol="false" tIns="0" lIns="0" bIns="0" rIns="0"/>
            <a:lstStyle/>
            <a:p>
              <a:pPr algn="l">
                <a:lnSpc>
                  <a:spcPts val="2160"/>
                </a:lnSpc>
              </a:pPr>
              <a:r>
                <a:rPr lang="en-US" b="true" sz="1800">
                  <a:solidFill>
                    <a:srgbClr val="8D140B"/>
                  </a:solidFill>
                  <a:latin typeface="Bricolage Grotesque Bold"/>
                  <a:ea typeface="Bricolage Grotesque Bold"/>
                  <a:cs typeface="Bricolage Grotesque Bold"/>
                  <a:sym typeface="Bricolage Grotesque Bold"/>
                </a:rPr>
                <a:t>CALIBRATION WAS REQUIRED</a:t>
              </a:r>
            </a:p>
          </p:txBody>
        </p:sp>
      </p:grpSp>
      <p:grpSp>
        <p:nvGrpSpPr>
          <p:cNvPr name="Group 48" id="48"/>
          <p:cNvGrpSpPr/>
          <p:nvPr/>
        </p:nvGrpSpPr>
        <p:grpSpPr>
          <a:xfrm rot="0">
            <a:off x="10671048" y="5788152"/>
            <a:ext cx="6446520" cy="877824"/>
            <a:chOff x="0" y="0"/>
            <a:chExt cx="8595360" cy="1170432"/>
          </a:xfrm>
        </p:grpSpPr>
        <p:sp>
          <p:nvSpPr>
            <p:cNvPr name="Freeform 49" id="49"/>
            <p:cNvSpPr/>
            <p:nvPr/>
          </p:nvSpPr>
          <p:spPr>
            <a:xfrm flipH="false" flipV="false" rot="0">
              <a:off x="0" y="0"/>
              <a:ext cx="8595360" cy="1170432"/>
            </a:xfrm>
            <a:custGeom>
              <a:avLst/>
              <a:gdLst/>
              <a:ahLst/>
              <a:cxnLst/>
              <a:rect r="r" b="b" t="t" l="l"/>
              <a:pathLst>
                <a:path h="1170432" w="8595360">
                  <a:moveTo>
                    <a:pt x="0" y="0"/>
                  </a:moveTo>
                  <a:lnTo>
                    <a:pt x="8595360" y="0"/>
                  </a:lnTo>
                  <a:lnTo>
                    <a:pt x="8595360" y="1170432"/>
                  </a:lnTo>
                  <a:lnTo>
                    <a:pt x="0" y="1170432"/>
                  </a:lnTo>
                  <a:close/>
                </a:path>
              </a:pathLst>
            </a:custGeom>
            <a:blipFill>
              <a:blip r:embed="rId5">
                <a:alphaModFix amt="0"/>
              </a:blip>
              <a:stretch>
                <a:fillRect l="0" t="-93093" r="0" b="-93093"/>
              </a:stretch>
            </a:blipFill>
          </p:spPr>
        </p:sp>
        <p:sp>
          <p:nvSpPr>
            <p:cNvPr name="TextBox 50" id="50"/>
            <p:cNvSpPr txBox="true"/>
            <p:nvPr/>
          </p:nvSpPr>
          <p:spPr>
            <a:xfrm>
              <a:off x="0" y="-9525"/>
              <a:ext cx="8595360" cy="1179957"/>
            </a:xfrm>
            <a:prstGeom prst="rect">
              <a:avLst/>
            </a:prstGeom>
          </p:spPr>
          <p:txBody>
            <a:bodyPr anchor="ctr" rtlCol="false" tIns="0" lIns="0" bIns="0" rIns="0"/>
            <a:lstStyle/>
            <a:p>
              <a:pPr algn="l">
                <a:lnSpc>
                  <a:spcPts val="1919"/>
                </a:lnSpc>
              </a:pPr>
              <a:r>
                <a:rPr lang="en-US" b="true" sz="1599">
                  <a:solidFill>
                    <a:srgbClr val="000000"/>
                  </a:solidFill>
                  <a:latin typeface="Inter Bold"/>
                  <a:ea typeface="Inter Bold"/>
                  <a:cs typeface="Inter Bold"/>
                  <a:sym typeface="Inter Bold"/>
                </a:rPr>
                <a:t>scale_pos_weight distorts probabilities upward. Isotonic calibration cut Brier score 0.222 → 0.079 while preserving AUC — necessary before any dollar figure can mean anything.</a:t>
              </a:r>
            </a:p>
          </p:txBody>
        </p:sp>
      </p:grpSp>
      <p:grpSp>
        <p:nvGrpSpPr>
          <p:cNvPr name="Group 51" id="51"/>
          <p:cNvGrpSpPr/>
          <p:nvPr/>
        </p:nvGrpSpPr>
        <p:grpSpPr>
          <a:xfrm rot="0">
            <a:off x="10346055" y="6985635"/>
            <a:ext cx="7082790" cy="1582674"/>
            <a:chOff x="0" y="0"/>
            <a:chExt cx="9443720" cy="2110232"/>
          </a:xfrm>
        </p:grpSpPr>
        <p:sp>
          <p:nvSpPr>
            <p:cNvPr name="Freeform 52" id="52"/>
            <p:cNvSpPr/>
            <p:nvPr/>
          </p:nvSpPr>
          <p:spPr>
            <a:xfrm flipH="false" flipV="false" rot="0">
              <a:off x="0" y="0"/>
              <a:ext cx="9443720" cy="2110232"/>
            </a:xfrm>
            <a:custGeom>
              <a:avLst/>
              <a:gdLst/>
              <a:ahLst/>
              <a:cxnLst/>
              <a:rect r="r" b="b" t="t" l="l"/>
              <a:pathLst>
                <a:path h="2110232" w="9443720">
                  <a:moveTo>
                    <a:pt x="0" y="148082"/>
                  </a:moveTo>
                  <a:cubicBezTo>
                    <a:pt x="0" y="66294"/>
                    <a:pt x="66294" y="0"/>
                    <a:pt x="148082" y="0"/>
                  </a:cubicBezTo>
                  <a:lnTo>
                    <a:pt x="9295638" y="0"/>
                  </a:lnTo>
                  <a:cubicBezTo>
                    <a:pt x="9377426" y="0"/>
                    <a:pt x="9443720" y="66294"/>
                    <a:pt x="9443720" y="148082"/>
                  </a:cubicBezTo>
                  <a:lnTo>
                    <a:pt x="9443720" y="1962150"/>
                  </a:lnTo>
                  <a:cubicBezTo>
                    <a:pt x="9443720" y="2043938"/>
                    <a:pt x="9377426" y="2110232"/>
                    <a:pt x="9295638" y="2110232"/>
                  </a:cubicBezTo>
                  <a:lnTo>
                    <a:pt x="148082" y="2110232"/>
                  </a:lnTo>
                  <a:cubicBezTo>
                    <a:pt x="66294" y="2110232"/>
                    <a:pt x="0" y="2043938"/>
                    <a:pt x="0" y="1962150"/>
                  </a:cubicBezTo>
                  <a:close/>
                </a:path>
              </a:pathLst>
            </a:custGeom>
            <a:solidFill>
              <a:srgbClr val="FFFFFF"/>
            </a:solidFill>
            <a:ln w="19050" cap="sq">
              <a:solidFill>
                <a:srgbClr val="21295C"/>
              </a:solidFill>
              <a:prstDash val="solid"/>
              <a:miter/>
            </a:ln>
          </p:spPr>
        </p:sp>
      </p:grpSp>
      <p:grpSp>
        <p:nvGrpSpPr>
          <p:cNvPr name="Group 53" id="53"/>
          <p:cNvGrpSpPr/>
          <p:nvPr/>
        </p:nvGrpSpPr>
        <p:grpSpPr>
          <a:xfrm rot="0">
            <a:off x="10671048" y="7159752"/>
            <a:ext cx="6446520" cy="394716"/>
            <a:chOff x="0" y="0"/>
            <a:chExt cx="8595360" cy="526288"/>
          </a:xfrm>
        </p:grpSpPr>
        <p:sp>
          <p:nvSpPr>
            <p:cNvPr name="Freeform 54" id="54"/>
            <p:cNvSpPr/>
            <p:nvPr/>
          </p:nvSpPr>
          <p:spPr>
            <a:xfrm flipH="false" flipV="false" rot="0">
              <a:off x="0" y="0"/>
              <a:ext cx="8595360" cy="526288"/>
            </a:xfrm>
            <a:custGeom>
              <a:avLst/>
              <a:gdLst/>
              <a:ahLst/>
              <a:cxnLst/>
              <a:rect r="r" b="b" t="t" l="l"/>
              <a:pathLst>
                <a:path h="526288" w="8595360">
                  <a:moveTo>
                    <a:pt x="0" y="0"/>
                  </a:moveTo>
                  <a:lnTo>
                    <a:pt x="8595360" y="0"/>
                  </a:lnTo>
                  <a:lnTo>
                    <a:pt x="8595360" y="526288"/>
                  </a:lnTo>
                  <a:lnTo>
                    <a:pt x="0" y="526288"/>
                  </a:lnTo>
                  <a:close/>
                </a:path>
              </a:pathLst>
            </a:custGeom>
            <a:blipFill>
              <a:blip r:embed="rId5">
                <a:alphaModFix amt="0"/>
              </a:blip>
              <a:stretch>
                <a:fillRect l="0" t="-269581" r="0" b="-266879"/>
              </a:stretch>
            </a:blipFill>
          </p:spPr>
        </p:sp>
        <p:sp>
          <p:nvSpPr>
            <p:cNvPr name="TextBox 55" id="55"/>
            <p:cNvSpPr txBox="true"/>
            <p:nvPr/>
          </p:nvSpPr>
          <p:spPr>
            <a:xfrm>
              <a:off x="0" y="-9525"/>
              <a:ext cx="8595360" cy="535813"/>
            </a:xfrm>
            <a:prstGeom prst="rect">
              <a:avLst/>
            </a:prstGeom>
          </p:spPr>
          <p:txBody>
            <a:bodyPr anchor="ctr" rtlCol="false" tIns="0" lIns="0" bIns="0" rIns="0"/>
            <a:lstStyle/>
            <a:p>
              <a:pPr algn="l">
                <a:lnSpc>
                  <a:spcPts val="2160"/>
                </a:lnSpc>
              </a:pPr>
              <a:r>
                <a:rPr lang="en-US" b="true" sz="1800">
                  <a:solidFill>
                    <a:srgbClr val="8D140B"/>
                  </a:solidFill>
                  <a:latin typeface="Bricolage Grotesque Bold"/>
                  <a:ea typeface="Bricolage Grotesque Bold"/>
                  <a:cs typeface="Bricolage Grotesque Bold"/>
                  <a:sym typeface="Bricolage Grotesque Bold"/>
                </a:rPr>
                <a:t>THE THRESHOLD IS A BUSINESS DECISION</a:t>
              </a:r>
            </a:p>
          </p:txBody>
        </p:sp>
      </p:grpSp>
      <p:grpSp>
        <p:nvGrpSpPr>
          <p:cNvPr name="Group 56" id="56"/>
          <p:cNvGrpSpPr/>
          <p:nvPr/>
        </p:nvGrpSpPr>
        <p:grpSpPr>
          <a:xfrm rot="0">
            <a:off x="10671048" y="7543800"/>
            <a:ext cx="6446520" cy="877824"/>
            <a:chOff x="0" y="0"/>
            <a:chExt cx="8595360" cy="1170432"/>
          </a:xfrm>
        </p:grpSpPr>
        <p:sp>
          <p:nvSpPr>
            <p:cNvPr name="Freeform 57" id="57"/>
            <p:cNvSpPr/>
            <p:nvPr/>
          </p:nvSpPr>
          <p:spPr>
            <a:xfrm flipH="false" flipV="false" rot="0">
              <a:off x="0" y="0"/>
              <a:ext cx="8595360" cy="1170432"/>
            </a:xfrm>
            <a:custGeom>
              <a:avLst/>
              <a:gdLst/>
              <a:ahLst/>
              <a:cxnLst/>
              <a:rect r="r" b="b" t="t" l="l"/>
              <a:pathLst>
                <a:path h="1170432" w="8595360">
                  <a:moveTo>
                    <a:pt x="0" y="0"/>
                  </a:moveTo>
                  <a:lnTo>
                    <a:pt x="8595360" y="0"/>
                  </a:lnTo>
                  <a:lnTo>
                    <a:pt x="8595360" y="1170432"/>
                  </a:lnTo>
                  <a:lnTo>
                    <a:pt x="0" y="1170432"/>
                  </a:lnTo>
                  <a:close/>
                </a:path>
              </a:pathLst>
            </a:custGeom>
            <a:blipFill>
              <a:blip r:embed="rId5">
                <a:alphaModFix amt="0"/>
              </a:blip>
              <a:stretch>
                <a:fillRect l="0" t="-93093" r="0" b="-93093"/>
              </a:stretch>
            </a:blipFill>
          </p:spPr>
        </p:sp>
        <p:sp>
          <p:nvSpPr>
            <p:cNvPr name="TextBox 58" id="58"/>
            <p:cNvSpPr txBox="true"/>
            <p:nvPr/>
          </p:nvSpPr>
          <p:spPr>
            <a:xfrm>
              <a:off x="0" y="-9525"/>
              <a:ext cx="8595360" cy="1179957"/>
            </a:xfrm>
            <a:prstGeom prst="rect">
              <a:avLst/>
            </a:prstGeom>
          </p:spPr>
          <p:txBody>
            <a:bodyPr anchor="ctr" rtlCol="false" tIns="0" lIns="0" bIns="0" rIns="0"/>
            <a:lstStyle/>
            <a:p>
              <a:pPr algn="l">
                <a:lnSpc>
                  <a:spcPts val="1919"/>
                </a:lnSpc>
              </a:pPr>
              <a:r>
                <a:rPr lang="en-US" b="true" sz="1599">
                  <a:solidFill>
                    <a:srgbClr val="000000"/>
                  </a:solidFill>
                  <a:latin typeface="Inter Bold"/>
                  <a:ea typeface="Inter Bold"/>
                  <a:cs typeface="Inter Bold"/>
                  <a:sym typeface="Inter Bold"/>
                </a:rPr>
                <a:t>We set 0.57, not 0.5, to match reviewing the top 20% of discharges — a staffing constraint, not a statistical optimum.</a:t>
              </a:r>
            </a:p>
          </p:txBody>
        </p:sp>
      </p:grpSp>
      <p:grpSp>
        <p:nvGrpSpPr>
          <p:cNvPr name="Group 59" id="59"/>
          <p:cNvGrpSpPr/>
          <p:nvPr/>
        </p:nvGrpSpPr>
        <p:grpSpPr>
          <a:xfrm rot="0">
            <a:off x="822960" y="9573768"/>
            <a:ext cx="16596360" cy="394746"/>
            <a:chOff x="0" y="0"/>
            <a:chExt cx="22128480" cy="526328"/>
          </a:xfrm>
        </p:grpSpPr>
        <p:sp>
          <p:nvSpPr>
            <p:cNvPr name="Freeform 60" id="60"/>
            <p:cNvSpPr/>
            <p:nvPr/>
          </p:nvSpPr>
          <p:spPr>
            <a:xfrm flipH="false" flipV="false" rot="0">
              <a:off x="0" y="0"/>
              <a:ext cx="22128480" cy="526328"/>
            </a:xfrm>
            <a:custGeom>
              <a:avLst/>
              <a:gdLst/>
              <a:ahLst/>
              <a:cxnLst/>
              <a:rect r="r" b="b" t="t" l="l"/>
              <a:pathLst>
                <a:path h="526328" w="22128480">
                  <a:moveTo>
                    <a:pt x="0" y="0"/>
                  </a:moveTo>
                  <a:lnTo>
                    <a:pt x="22128480" y="0"/>
                  </a:lnTo>
                  <a:lnTo>
                    <a:pt x="22128480" y="526328"/>
                  </a:lnTo>
                  <a:lnTo>
                    <a:pt x="0" y="526328"/>
                  </a:lnTo>
                  <a:close/>
                </a:path>
              </a:pathLst>
            </a:custGeom>
            <a:blipFill>
              <a:blip r:embed="rId5">
                <a:alphaModFix amt="0"/>
              </a:blip>
              <a:stretch>
                <a:fillRect l="0" t="-774042" r="0" b="-764383"/>
              </a:stretch>
            </a:blipFill>
          </p:spPr>
        </p:sp>
        <p:sp>
          <p:nvSpPr>
            <p:cNvPr name="TextBox 61" id="61"/>
            <p:cNvSpPr txBox="true"/>
            <p:nvPr/>
          </p:nvSpPr>
          <p:spPr>
            <a:xfrm>
              <a:off x="0" y="0"/>
              <a:ext cx="22128480" cy="526328"/>
            </a:xfrm>
            <a:prstGeom prst="rect">
              <a:avLst/>
            </a:prstGeom>
          </p:spPr>
          <p:txBody>
            <a:bodyPr anchor="ctr" rtlCol="false" tIns="0" lIns="0" bIns="0" rIns="0"/>
            <a:lstStyle/>
            <a:p>
              <a:pPr algn="l" marL="0" indent="0" lvl="0">
                <a:lnSpc>
                  <a:spcPts val="2189"/>
                </a:lnSpc>
                <a:spcBef>
                  <a:spcPct val="0"/>
                </a:spcBef>
              </a:pPr>
              <a:r>
                <a:rPr lang="en-US" sz="1824" i="true" strike="noStrike" u="none">
                  <a:solidFill>
                    <a:srgbClr val="000000"/>
                  </a:solidFill>
                  <a:latin typeface="Inter Italics"/>
                  <a:ea typeface="Inter Italics"/>
                  <a:cs typeface="Inter Italics"/>
                  <a:sym typeface="Inter Italics"/>
                </a:rPr>
                <a:t>Held-out test set: 13,998 encounters · 1,257 true 30-day readmissions · 477 caught at the operating threshold</a:t>
              </a:r>
            </a:p>
          </p:txBody>
        </p:sp>
      </p:grpSp>
      <p:sp>
        <p:nvSpPr>
          <p:cNvPr name="TextBox 62" id="62"/>
          <p:cNvSpPr txBox="true"/>
          <p:nvPr/>
        </p:nvSpPr>
        <p:spPr>
          <a:xfrm rot="-5400000">
            <a:off x="-1549750" y="7070026"/>
            <a:ext cx="4474148" cy="271272"/>
          </a:xfrm>
          <a:prstGeom prst="rect">
            <a:avLst/>
          </a:prstGeom>
        </p:spPr>
        <p:txBody>
          <a:bodyPr anchor="t" rtlCol="false" tIns="0" lIns="0" bIns="0" rIns="0">
            <a:spAutoFit/>
          </a:bodyPr>
          <a:lstStyle/>
          <a:p>
            <a:pPr algn="ctr">
              <a:lnSpc>
                <a:spcPts val="2124"/>
              </a:lnSpc>
            </a:pPr>
            <a:r>
              <a:rPr lang="en-US" sz="1800" b="true">
                <a:solidFill>
                  <a:srgbClr val="000000"/>
                </a:solidFill>
                <a:latin typeface="Inter Bold"/>
                <a:ea typeface="Inter Bold"/>
                <a:cs typeface="Inter Bold"/>
                <a:sym typeface="Inter Bold"/>
              </a:rPr>
              <a:t>% of High-Risk Caught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39850" y="350631"/>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MODEL RESULTS — WHAT DRIVES RISK</a:t>
              </a:r>
            </a:p>
          </p:txBody>
        </p:sp>
      </p:grpSp>
      <p:grpSp>
        <p:nvGrpSpPr>
          <p:cNvPr name="Group 7" id="7"/>
          <p:cNvGrpSpPr/>
          <p:nvPr/>
        </p:nvGrpSpPr>
        <p:grpSpPr>
          <a:xfrm rot="0">
            <a:off x="839850" y="1484868"/>
            <a:ext cx="16322040" cy="741110"/>
            <a:chOff x="0" y="0"/>
            <a:chExt cx="21762720" cy="988147"/>
          </a:xfrm>
        </p:grpSpPr>
        <p:sp>
          <p:nvSpPr>
            <p:cNvPr name="Freeform 8" id="8"/>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5">
                <a:alphaModFix amt="0"/>
              </a:blip>
              <a:stretch>
                <a:fillRect l="0" t="-390268" r="0" b="-367999"/>
              </a:stretch>
            </a:blipFill>
          </p:spPr>
        </p:sp>
        <p:sp>
          <p:nvSpPr>
            <p:cNvPr name="TextBox 9" id="9"/>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8D140B"/>
                  </a:solidFill>
                  <a:latin typeface="Inter Bold"/>
                  <a:ea typeface="Inter Bold"/>
                  <a:cs typeface="Inter Bold"/>
                  <a:sym typeface="Inter Bold"/>
                </a:rPr>
                <a:t>Care-transition variables dominate the top of the ranking. Medication churn contributes, but it is not the headline driver — a finding that revises the original hypothesis.</a:t>
              </a:r>
            </a:p>
          </p:txBody>
        </p:sp>
      </p:grpSp>
      <p:grpSp>
        <p:nvGrpSpPr>
          <p:cNvPr name="Group 10" id="10"/>
          <p:cNvGrpSpPr/>
          <p:nvPr/>
        </p:nvGrpSpPr>
        <p:grpSpPr>
          <a:xfrm rot="0">
            <a:off x="10826115" y="2815971"/>
            <a:ext cx="6602730" cy="2570226"/>
            <a:chOff x="0" y="0"/>
            <a:chExt cx="8803640" cy="3426968"/>
          </a:xfrm>
        </p:grpSpPr>
        <p:sp>
          <p:nvSpPr>
            <p:cNvPr name="Freeform 11" id="11"/>
            <p:cNvSpPr/>
            <p:nvPr/>
          </p:nvSpPr>
          <p:spPr>
            <a:xfrm flipH="false" flipV="false" rot="0">
              <a:off x="0" y="0"/>
              <a:ext cx="8803640" cy="3426968"/>
            </a:xfrm>
            <a:custGeom>
              <a:avLst/>
              <a:gdLst/>
              <a:ahLst/>
              <a:cxnLst/>
              <a:rect r="r" b="b" t="t" l="l"/>
              <a:pathLst>
                <a:path h="3426968" w="8803640">
                  <a:moveTo>
                    <a:pt x="0" y="184277"/>
                  </a:moveTo>
                  <a:cubicBezTo>
                    <a:pt x="0" y="82423"/>
                    <a:pt x="82423" y="0"/>
                    <a:pt x="184277" y="0"/>
                  </a:cubicBezTo>
                  <a:lnTo>
                    <a:pt x="8619363" y="0"/>
                  </a:lnTo>
                  <a:cubicBezTo>
                    <a:pt x="8721090" y="0"/>
                    <a:pt x="8803640" y="82423"/>
                    <a:pt x="8803640" y="184277"/>
                  </a:cubicBezTo>
                  <a:lnTo>
                    <a:pt x="8803640" y="3242691"/>
                  </a:lnTo>
                  <a:cubicBezTo>
                    <a:pt x="8803640" y="3344418"/>
                    <a:pt x="8721217" y="3426968"/>
                    <a:pt x="8619363" y="3426968"/>
                  </a:cubicBezTo>
                  <a:lnTo>
                    <a:pt x="184277" y="3426968"/>
                  </a:lnTo>
                  <a:cubicBezTo>
                    <a:pt x="82423" y="3426968"/>
                    <a:pt x="0" y="3344545"/>
                    <a:pt x="0" y="3242691"/>
                  </a:cubicBezTo>
                  <a:close/>
                </a:path>
              </a:pathLst>
            </a:custGeom>
            <a:solidFill>
              <a:srgbClr val="D5C1BF"/>
            </a:solidFill>
            <a:ln w="19050" cap="sq">
              <a:solidFill>
                <a:srgbClr val="DDE5EA"/>
              </a:solidFill>
              <a:prstDash val="solid"/>
              <a:miter/>
            </a:ln>
          </p:spPr>
        </p:sp>
      </p:grpSp>
      <p:grpSp>
        <p:nvGrpSpPr>
          <p:cNvPr name="Group 12" id="12"/>
          <p:cNvGrpSpPr/>
          <p:nvPr/>
        </p:nvGrpSpPr>
        <p:grpSpPr>
          <a:xfrm rot="0">
            <a:off x="11178540" y="3017520"/>
            <a:ext cx="5897880" cy="461899"/>
            <a:chOff x="0" y="0"/>
            <a:chExt cx="7863840" cy="615865"/>
          </a:xfrm>
        </p:grpSpPr>
        <p:sp>
          <p:nvSpPr>
            <p:cNvPr name="Freeform 13" id="13"/>
            <p:cNvSpPr/>
            <p:nvPr/>
          </p:nvSpPr>
          <p:spPr>
            <a:xfrm flipH="false" flipV="false" rot="0">
              <a:off x="0" y="0"/>
              <a:ext cx="7863840" cy="615865"/>
            </a:xfrm>
            <a:custGeom>
              <a:avLst/>
              <a:gdLst/>
              <a:ahLst/>
              <a:cxnLst/>
              <a:rect r="r" b="b" t="t" l="l"/>
              <a:pathLst>
                <a:path h="615865" w="7863840">
                  <a:moveTo>
                    <a:pt x="0" y="0"/>
                  </a:moveTo>
                  <a:lnTo>
                    <a:pt x="7863840" y="0"/>
                  </a:lnTo>
                  <a:lnTo>
                    <a:pt x="7863840" y="615865"/>
                  </a:lnTo>
                  <a:lnTo>
                    <a:pt x="0" y="615865"/>
                  </a:lnTo>
                  <a:close/>
                </a:path>
              </a:pathLst>
            </a:custGeom>
            <a:blipFill>
              <a:blip r:embed="rId5">
                <a:alphaModFix amt="0"/>
              </a:blip>
              <a:stretch>
                <a:fillRect l="0" t="-204257" r="0" b="-193342"/>
              </a:stretch>
            </a:blipFill>
          </p:spPr>
        </p:sp>
        <p:sp>
          <p:nvSpPr>
            <p:cNvPr name="TextBox 14" id="14"/>
            <p:cNvSpPr txBox="true"/>
            <p:nvPr/>
          </p:nvSpPr>
          <p:spPr>
            <a:xfrm>
              <a:off x="0" y="0"/>
              <a:ext cx="7863840" cy="615865"/>
            </a:xfrm>
            <a:prstGeom prst="rect">
              <a:avLst/>
            </a:prstGeom>
          </p:spPr>
          <p:txBody>
            <a:bodyPr anchor="ctr" rtlCol="false" tIns="0" lIns="0" bIns="0" rIns="0"/>
            <a:lstStyle/>
            <a:p>
              <a:pPr algn="l">
                <a:lnSpc>
                  <a:spcPts val="2489"/>
                </a:lnSpc>
              </a:pPr>
              <a:r>
                <a:rPr lang="en-US" b="true" sz="2074">
                  <a:solidFill>
                    <a:srgbClr val="8D140B"/>
                  </a:solidFill>
                  <a:latin typeface="Bricolage Grotesque Bold"/>
                  <a:ea typeface="Bricolage Grotesque Bold"/>
                  <a:cs typeface="Bricolage Grotesque Bold"/>
                  <a:sym typeface="Bricolage Grotesque Bold"/>
                </a:rPr>
                <a:t>WHAT THIS SAYS</a:t>
              </a:r>
            </a:p>
          </p:txBody>
        </p:sp>
      </p:grpSp>
      <p:grpSp>
        <p:nvGrpSpPr>
          <p:cNvPr name="Group 15" id="15"/>
          <p:cNvGrpSpPr/>
          <p:nvPr/>
        </p:nvGrpSpPr>
        <p:grpSpPr>
          <a:xfrm rot="0">
            <a:off x="11178540" y="3456432"/>
            <a:ext cx="5897880" cy="1673352"/>
            <a:chOff x="0" y="0"/>
            <a:chExt cx="7863840" cy="2231136"/>
          </a:xfrm>
        </p:grpSpPr>
        <p:sp>
          <p:nvSpPr>
            <p:cNvPr name="Freeform 16" id="16"/>
            <p:cNvSpPr/>
            <p:nvPr/>
          </p:nvSpPr>
          <p:spPr>
            <a:xfrm flipH="false" flipV="false" rot="0">
              <a:off x="0" y="0"/>
              <a:ext cx="7863840" cy="2231136"/>
            </a:xfrm>
            <a:custGeom>
              <a:avLst/>
              <a:gdLst/>
              <a:ahLst/>
              <a:cxnLst/>
              <a:rect r="r" b="b" t="t" l="l"/>
              <a:pathLst>
                <a:path h="2231136" w="7863840">
                  <a:moveTo>
                    <a:pt x="0" y="0"/>
                  </a:moveTo>
                  <a:lnTo>
                    <a:pt x="7863840" y="0"/>
                  </a:lnTo>
                  <a:lnTo>
                    <a:pt x="7863840" y="2231136"/>
                  </a:lnTo>
                  <a:lnTo>
                    <a:pt x="0" y="2231136"/>
                  </a:lnTo>
                  <a:close/>
                </a:path>
              </a:pathLst>
            </a:custGeom>
            <a:blipFill>
              <a:blip r:embed="rId5">
                <a:alphaModFix amt="0"/>
              </a:blip>
              <a:stretch>
                <a:fillRect l="0" t="-18676" r="0" b="-18676"/>
              </a:stretch>
            </a:blipFill>
          </p:spPr>
        </p:sp>
        <p:sp>
          <p:nvSpPr>
            <p:cNvPr name="TextBox 17" id="17"/>
            <p:cNvSpPr txBox="true"/>
            <p:nvPr/>
          </p:nvSpPr>
          <p:spPr>
            <a:xfrm>
              <a:off x="0" y="-9525"/>
              <a:ext cx="7863840" cy="2240661"/>
            </a:xfrm>
            <a:prstGeom prst="rect">
              <a:avLst/>
            </a:prstGeom>
          </p:spPr>
          <p:txBody>
            <a:bodyPr anchor="ctr" rtlCol="false" tIns="0" lIns="0" bIns="0" rIns="0"/>
            <a:lstStyle/>
            <a:p>
              <a:pPr algn="l">
                <a:lnSpc>
                  <a:spcPts val="2339"/>
                </a:lnSpc>
              </a:pPr>
              <a:r>
                <a:rPr lang="en-US" b="true" sz="1949">
                  <a:solidFill>
                    <a:srgbClr val="000000"/>
                  </a:solidFill>
                  <a:latin typeface="Inter Bold"/>
                  <a:ea typeface="Inter Bold"/>
                  <a:cs typeface="Inter Bold"/>
                  <a:sym typeface="Inter Bold"/>
                </a:rPr>
                <a:t>Where a patient goes at discharge, and how often they have been admitted before, carry more signal than how many diabetes drugs they are on. The transition itself is the risk.</a:t>
              </a:r>
            </a:p>
          </p:txBody>
        </p:sp>
      </p:grpSp>
      <p:grpSp>
        <p:nvGrpSpPr>
          <p:cNvPr name="Group 18" id="18"/>
          <p:cNvGrpSpPr/>
          <p:nvPr/>
        </p:nvGrpSpPr>
        <p:grpSpPr>
          <a:xfrm rot="0">
            <a:off x="10826115" y="5586603"/>
            <a:ext cx="6602730" cy="2542794"/>
            <a:chOff x="0" y="0"/>
            <a:chExt cx="8803640" cy="3390392"/>
          </a:xfrm>
        </p:grpSpPr>
        <p:sp>
          <p:nvSpPr>
            <p:cNvPr name="Freeform 19" id="19"/>
            <p:cNvSpPr/>
            <p:nvPr/>
          </p:nvSpPr>
          <p:spPr>
            <a:xfrm flipH="false" flipV="false" rot="0">
              <a:off x="0" y="0"/>
              <a:ext cx="8803640" cy="3390392"/>
            </a:xfrm>
            <a:custGeom>
              <a:avLst/>
              <a:gdLst/>
              <a:ahLst/>
              <a:cxnLst/>
              <a:rect r="r" b="b" t="t" l="l"/>
              <a:pathLst>
                <a:path h="3390392" w="8803640">
                  <a:moveTo>
                    <a:pt x="0" y="184277"/>
                  </a:moveTo>
                  <a:cubicBezTo>
                    <a:pt x="0" y="82550"/>
                    <a:pt x="82550" y="0"/>
                    <a:pt x="184277" y="0"/>
                  </a:cubicBezTo>
                  <a:lnTo>
                    <a:pt x="8619363" y="0"/>
                  </a:lnTo>
                  <a:cubicBezTo>
                    <a:pt x="8721090" y="0"/>
                    <a:pt x="8803640" y="82550"/>
                    <a:pt x="8803640" y="184277"/>
                  </a:cubicBezTo>
                  <a:lnTo>
                    <a:pt x="8803640" y="3206115"/>
                  </a:lnTo>
                  <a:cubicBezTo>
                    <a:pt x="8803640" y="3307842"/>
                    <a:pt x="8721090" y="3390392"/>
                    <a:pt x="8619363" y="3390392"/>
                  </a:cubicBezTo>
                  <a:lnTo>
                    <a:pt x="184277" y="3390392"/>
                  </a:lnTo>
                  <a:cubicBezTo>
                    <a:pt x="82550" y="3390392"/>
                    <a:pt x="0" y="3307842"/>
                    <a:pt x="0" y="3206115"/>
                  </a:cubicBezTo>
                  <a:close/>
                </a:path>
              </a:pathLst>
            </a:custGeom>
            <a:solidFill>
              <a:srgbClr val="D5C1BF"/>
            </a:solidFill>
            <a:ln w="19050" cap="sq">
              <a:solidFill>
                <a:srgbClr val="F0DCBC"/>
              </a:solidFill>
              <a:prstDash val="solid"/>
              <a:miter/>
            </a:ln>
          </p:spPr>
        </p:sp>
      </p:grpSp>
      <p:grpSp>
        <p:nvGrpSpPr>
          <p:cNvPr name="Group 20" id="20"/>
          <p:cNvGrpSpPr/>
          <p:nvPr/>
        </p:nvGrpSpPr>
        <p:grpSpPr>
          <a:xfrm rot="0">
            <a:off x="11269348" y="5976747"/>
            <a:ext cx="5716264" cy="1268015"/>
            <a:chOff x="0" y="0"/>
            <a:chExt cx="7621685" cy="1690687"/>
          </a:xfrm>
        </p:grpSpPr>
        <p:sp>
          <p:nvSpPr>
            <p:cNvPr name="Freeform 21" id="21"/>
            <p:cNvSpPr/>
            <p:nvPr/>
          </p:nvSpPr>
          <p:spPr>
            <a:xfrm flipH="false" flipV="false" rot="0">
              <a:off x="0" y="0"/>
              <a:ext cx="7621685" cy="1690687"/>
            </a:xfrm>
            <a:custGeom>
              <a:avLst/>
              <a:gdLst/>
              <a:ahLst/>
              <a:cxnLst/>
              <a:rect r="r" b="b" t="t" l="l"/>
              <a:pathLst>
                <a:path h="1690687" w="7621685">
                  <a:moveTo>
                    <a:pt x="0" y="0"/>
                  </a:moveTo>
                  <a:lnTo>
                    <a:pt x="7621685" y="0"/>
                  </a:lnTo>
                  <a:lnTo>
                    <a:pt x="7621685" y="1690687"/>
                  </a:lnTo>
                  <a:lnTo>
                    <a:pt x="0" y="1690687"/>
                  </a:lnTo>
                  <a:close/>
                </a:path>
              </a:pathLst>
            </a:custGeom>
            <a:blipFill>
              <a:blip r:embed="rId5">
                <a:alphaModFix amt="0"/>
              </a:blip>
              <a:stretch>
                <a:fillRect l="0" t="-227986" r="-190335" b="-182071"/>
              </a:stretch>
            </a:blipFill>
          </p:spPr>
        </p:sp>
        <p:sp>
          <p:nvSpPr>
            <p:cNvPr name="TextBox 22" id="22"/>
            <p:cNvSpPr txBox="true"/>
            <p:nvPr/>
          </p:nvSpPr>
          <p:spPr>
            <a:xfrm>
              <a:off x="0" y="-9525"/>
              <a:ext cx="7621685" cy="1700212"/>
            </a:xfrm>
            <a:prstGeom prst="rect">
              <a:avLst/>
            </a:prstGeom>
          </p:spPr>
          <p:txBody>
            <a:bodyPr anchor="ctr" rtlCol="false" tIns="0" lIns="0" bIns="0" rIns="0"/>
            <a:lstStyle/>
            <a:p>
              <a:pPr algn="l">
                <a:lnSpc>
                  <a:spcPts val="2309"/>
                </a:lnSpc>
              </a:pPr>
              <a:r>
                <a:rPr lang="en-US" b="true" sz="1924">
                  <a:solidFill>
                    <a:srgbClr val="8D140B"/>
                  </a:solidFill>
                  <a:latin typeface="Inter Bold"/>
                  <a:ea typeface="Inter Bold"/>
                  <a:cs typeface="Inter Bold"/>
                  <a:sym typeface="Inter Bold"/>
                </a:rPr>
                <a:t>SHAP explanations give each flagged patient a plain-language reason — high medication count, multiple regimen changes, prior ED visits.</a:t>
              </a:r>
            </a:p>
          </p:txBody>
        </p:sp>
      </p:grpSp>
      <p:grpSp>
        <p:nvGrpSpPr>
          <p:cNvPr name="Group 23" id="23"/>
          <p:cNvGrpSpPr/>
          <p:nvPr/>
        </p:nvGrpSpPr>
        <p:grpSpPr>
          <a:xfrm rot="0">
            <a:off x="1351461" y="9636578"/>
            <a:ext cx="16596360" cy="394746"/>
            <a:chOff x="0" y="0"/>
            <a:chExt cx="22128480" cy="526328"/>
          </a:xfrm>
        </p:grpSpPr>
        <p:sp>
          <p:nvSpPr>
            <p:cNvPr name="Freeform 24" id="24"/>
            <p:cNvSpPr/>
            <p:nvPr/>
          </p:nvSpPr>
          <p:spPr>
            <a:xfrm flipH="false" flipV="false" rot="0">
              <a:off x="0" y="0"/>
              <a:ext cx="22128480" cy="526328"/>
            </a:xfrm>
            <a:custGeom>
              <a:avLst/>
              <a:gdLst/>
              <a:ahLst/>
              <a:cxnLst/>
              <a:rect r="r" b="b" t="t" l="l"/>
              <a:pathLst>
                <a:path h="526328" w="22128480">
                  <a:moveTo>
                    <a:pt x="0" y="0"/>
                  </a:moveTo>
                  <a:lnTo>
                    <a:pt x="22128480" y="0"/>
                  </a:lnTo>
                  <a:lnTo>
                    <a:pt x="22128480" y="526328"/>
                  </a:lnTo>
                  <a:lnTo>
                    <a:pt x="0" y="526328"/>
                  </a:lnTo>
                  <a:close/>
                </a:path>
              </a:pathLst>
            </a:custGeom>
            <a:blipFill>
              <a:blip r:embed="rId5">
                <a:alphaModFix amt="0"/>
              </a:blip>
              <a:stretch>
                <a:fillRect l="0" t="-774042" r="0" b="-764383"/>
              </a:stretch>
            </a:blipFill>
          </p:spPr>
        </p:sp>
        <p:sp>
          <p:nvSpPr>
            <p:cNvPr name="TextBox 25" id="25"/>
            <p:cNvSpPr txBox="true"/>
            <p:nvPr/>
          </p:nvSpPr>
          <p:spPr>
            <a:xfrm>
              <a:off x="0" y="0"/>
              <a:ext cx="22128480" cy="526328"/>
            </a:xfrm>
            <a:prstGeom prst="rect">
              <a:avLst/>
            </a:prstGeom>
          </p:spPr>
          <p:txBody>
            <a:bodyPr anchor="ctr" rtlCol="false" tIns="0" lIns="0" bIns="0" rIns="0"/>
            <a:lstStyle/>
            <a:p>
              <a:pPr algn="l" marL="0" indent="0" lvl="0">
                <a:lnSpc>
                  <a:spcPts val="2189"/>
                </a:lnSpc>
                <a:spcBef>
                  <a:spcPct val="0"/>
                </a:spcBef>
              </a:pPr>
              <a:r>
                <a:rPr lang="en-US" sz="1824" i="true" strike="noStrike" u="none">
                  <a:solidFill>
                    <a:srgbClr val="000000"/>
                  </a:solidFill>
                  <a:latin typeface="Inter Italics"/>
                  <a:ea typeface="Inter Italics"/>
                  <a:cs typeface="Inter Italics"/>
                  <a:sym typeface="Inter Italics"/>
                </a:rPr>
                <a:t>Gain-based importance on the tuned model; SHAP used for per-patient explanation in the deployed dashboard.</a:t>
              </a:r>
            </a:p>
          </p:txBody>
        </p:sp>
      </p:grpSp>
      <p:sp>
        <p:nvSpPr>
          <p:cNvPr name="Freeform 26" id="26"/>
          <p:cNvSpPr/>
          <p:nvPr/>
        </p:nvSpPr>
        <p:spPr>
          <a:xfrm flipH="false" flipV="false" rot="0">
            <a:off x="1773387" y="2305667"/>
            <a:ext cx="8374854" cy="6480091"/>
          </a:xfrm>
          <a:custGeom>
            <a:avLst/>
            <a:gdLst/>
            <a:ahLst/>
            <a:cxnLst/>
            <a:rect r="r" b="b" t="t" l="l"/>
            <a:pathLst>
              <a:path h="6480091" w="8374854">
                <a:moveTo>
                  <a:pt x="0" y="0"/>
                </a:moveTo>
                <a:lnTo>
                  <a:pt x="8374855" y="0"/>
                </a:lnTo>
                <a:lnTo>
                  <a:pt x="8374855" y="6480091"/>
                </a:lnTo>
                <a:lnTo>
                  <a:pt x="0" y="6480091"/>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7311" t="-78531" r="-11866" b="-50303"/>
            </a:stretch>
          </a:blipFill>
        </p:spPr>
      </p:sp>
      <p:grpSp>
        <p:nvGrpSpPr>
          <p:cNvPr name="Group 3" id="3"/>
          <p:cNvGrpSpPr/>
          <p:nvPr/>
        </p:nvGrpSpPr>
        <p:grpSpPr>
          <a:xfrm rot="0">
            <a:off x="822960" y="576072"/>
            <a:ext cx="10972800" cy="394716"/>
            <a:chOff x="0" y="0"/>
            <a:chExt cx="14630400" cy="526288"/>
          </a:xfrm>
        </p:grpSpPr>
        <p:sp>
          <p:nvSpPr>
            <p:cNvPr name="Freeform 4" id="4"/>
            <p:cNvSpPr/>
            <p:nvPr/>
          </p:nvSpPr>
          <p:spPr>
            <a:xfrm flipH="false" flipV="false" rot="0">
              <a:off x="0" y="0"/>
              <a:ext cx="14630400" cy="526288"/>
            </a:xfrm>
            <a:custGeom>
              <a:avLst/>
              <a:gdLst/>
              <a:ahLst/>
              <a:cxnLst/>
              <a:rect r="r" b="b" t="t" l="l"/>
              <a:pathLst>
                <a:path h="526288" w="14630400">
                  <a:moveTo>
                    <a:pt x="0" y="0"/>
                  </a:moveTo>
                  <a:lnTo>
                    <a:pt x="14630400" y="0"/>
                  </a:lnTo>
                  <a:lnTo>
                    <a:pt x="14630400" y="526288"/>
                  </a:lnTo>
                  <a:lnTo>
                    <a:pt x="0" y="526288"/>
                  </a:lnTo>
                  <a:close/>
                </a:path>
              </a:pathLst>
            </a:custGeom>
            <a:blipFill>
              <a:blip r:embed="rId4">
                <a:alphaModFix amt="0"/>
              </a:blip>
              <a:stretch>
                <a:fillRect l="0" t="-493020" r="0" b="-490317"/>
              </a:stretch>
            </a:blipFill>
          </p:spPr>
        </p:sp>
        <p:sp>
          <p:nvSpPr>
            <p:cNvPr name="TextBox 5" id="5"/>
            <p:cNvSpPr txBox="true"/>
            <p:nvPr/>
          </p:nvSpPr>
          <p:spPr>
            <a:xfrm>
              <a:off x="0" y="-9525"/>
              <a:ext cx="14630400" cy="535813"/>
            </a:xfrm>
            <a:prstGeom prst="rect">
              <a:avLst/>
            </a:prstGeom>
          </p:spPr>
          <p:txBody>
            <a:bodyPr anchor="ctr" rtlCol="false" tIns="0" lIns="0" bIns="0" rIns="0"/>
            <a:lstStyle/>
            <a:p>
              <a:pPr algn="l">
                <a:lnSpc>
                  <a:spcPts val="2160"/>
                </a:lnSpc>
              </a:pPr>
              <a:r>
                <a:rPr lang="en-US" b="true" sz="1800">
                  <a:solidFill>
                    <a:srgbClr val="8D140B"/>
                  </a:solidFill>
                  <a:latin typeface="Bricolage Grotesque Bold"/>
                  <a:ea typeface="Bricolage Grotesque Bold"/>
                  <a:cs typeface="Bricolage Grotesque Bold"/>
                  <a:sym typeface="Bricolage Grotesque Bold"/>
                </a:rPr>
                <a:t>SECTION 04</a:t>
              </a:r>
            </a:p>
          </p:txBody>
        </p:sp>
      </p:grpSp>
      <p:grpSp>
        <p:nvGrpSpPr>
          <p:cNvPr name="Group 6" id="6"/>
          <p:cNvGrpSpPr/>
          <p:nvPr/>
        </p:nvGrpSpPr>
        <p:grpSpPr>
          <a:xfrm rot="0">
            <a:off x="822960" y="987552"/>
            <a:ext cx="15910560" cy="1134237"/>
            <a:chOff x="0" y="0"/>
            <a:chExt cx="21214080" cy="1512316"/>
          </a:xfrm>
        </p:grpSpPr>
        <p:sp>
          <p:nvSpPr>
            <p:cNvPr name="Freeform 7" id="7"/>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4">
                <a:alphaModFix amt="0"/>
              </a:blip>
              <a:stretch>
                <a:fillRect l="0" t="-229793" r="0" b="-216860"/>
              </a:stretch>
            </a:blipFill>
          </p:spPr>
        </p:sp>
        <p:sp>
          <p:nvSpPr>
            <p:cNvPr name="TextBox 8" id="8"/>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WHY THIS PATIENT WAS FLAGGED</a:t>
              </a:r>
            </a:p>
          </p:txBody>
        </p:sp>
      </p:grpSp>
      <p:grpSp>
        <p:nvGrpSpPr>
          <p:cNvPr name="Group 9" id="9"/>
          <p:cNvGrpSpPr/>
          <p:nvPr/>
        </p:nvGrpSpPr>
        <p:grpSpPr>
          <a:xfrm rot="0">
            <a:off x="822960" y="2057400"/>
            <a:ext cx="16322040" cy="741110"/>
            <a:chOff x="0" y="0"/>
            <a:chExt cx="21762720" cy="988147"/>
          </a:xfrm>
        </p:grpSpPr>
        <p:sp>
          <p:nvSpPr>
            <p:cNvPr name="Freeform 10" id="10"/>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4">
                <a:alphaModFix amt="0"/>
              </a:blip>
              <a:stretch>
                <a:fillRect l="0" t="-390268" r="0" b="-367999"/>
              </a:stretch>
            </a:blipFill>
          </p:spPr>
        </p:sp>
        <p:sp>
          <p:nvSpPr>
            <p:cNvPr name="TextBox 11" id="11"/>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1F2B5B"/>
                  </a:solidFill>
                  <a:latin typeface="Inter Bold"/>
                  <a:ea typeface="Inter Bold"/>
                  <a:cs typeface="Inter Bold"/>
                  <a:sym typeface="Inter Bold"/>
                </a:rPr>
                <a:t>A score alone is not actionable. SHAP decomposes every prediction into the specific factors that drove it — so a pharmacist sees the reasoning, not just a number.</a:t>
              </a:r>
            </a:p>
          </p:txBody>
        </p:sp>
      </p:grpSp>
      <p:grpSp>
        <p:nvGrpSpPr>
          <p:cNvPr name="Group 12" id="12"/>
          <p:cNvGrpSpPr/>
          <p:nvPr/>
        </p:nvGrpSpPr>
        <p:grpSpPr>
          <a:xfrm rot="0">
            <a:off x="813435" y="2815971"/>
            <a:ext cx="4819650" cy="3612642"/>
            <a:chOff x="0" y="0"/>
            <a:chExt cx="6426200" cy="4816856"/>
          </a:xfrm>
        </p:grpSpPr>
        <p:sp>
          <p:nvSpPr>
            <p:cNvPr name="Freeform 13" id="13"/>
            <p:cNvSpPr/>
            <p:nvPr/>
          </p:nvSpPr>
          <p:spPr>
            <a:xfrm flipH="false" flipV="false" rot="0">
              <a:off x="0" y="0"/>
              <a:ext cx="6426200" cy="4816856"/>
            </a:xfrm>
            <a:custGeom>
              <a:avLst/>
              <a:gdLst/>
              <a:ahLst/>
              <a:cxnLst/>
              <a:rect r="r" b="b" t="t" l="l"/>
              <a:pathLst>
                <a:path h="4816856" w="6426200">
                  <a:moveTo>
                    <a:pt x="0" y="183896"/>
                  </a:moveTo>
                  <a:cubicBezTo>
                    <a:pt x="0" y="82296"/>
                    <a:pt x="82296" y="0"/>
                    <a:pt x="183896" y="0"/>
                  </a:cubicBezTo>
                  <a:lnTo>
                    <a:pt x="6242304" y="0"/>
                  </a:lnTo>
                  <a:cubicBezTo>
                    <a:pt x="6343904" y="0"/>
                    <a:pt x="6426200" y="82296"/>
                    <a:pt x="6426200" y="183896"/>
                  </a:cubicBezTo>
                  <a:lnTo>
                    <a:pt x="6426200" y="4632960"/>
                  </a:lnTo>
                  <a:cubicBezTo>
                    <a:pt x="6426200" y="4734560"/>
                    <a:pt x="6343904" y="4816856"/>
                    <a:pt x="6242304" y="4816856"/>
                  </a:cubicBezTo>
                  <a:lnTo>
                    <a:pt x="183896" y="4816856"/>
                  </a:lnTo>
                  <a:cubicBezTo>
                    <a:pt x="82296" y="4816856"/>
                    <a:pt x="0" y="4734560"/>
                    <a:pt x="0" y="4632960"/>
                  </a:cubicBezTo>
                  <a:close/>
                </a:path>
              </a:pathLst>
            </a:custGeom>
            <a:solidFill>
              <a:srgbClr val="FFFFFF"/>
            </a:solidFill>
            <a:ln w="19050" cap="sq">
              <a:solidFill>
                <a:srgbClr val="21295C"/>
              </a:solidFill>
              <a:prstDash val="solid"/>
              <a:miter/>
            </a:ln>
          </p:spPr>
        </p:sp>
      </p:grpSp>
      <p:grpSp>
        <p:nvGrpSpPr>
          <p:cNvPr name="Group 14" id="14"/>
          <p:cNvGrpSpPr/>
          <p:nvPr/>
        </p:nvGrpSpPr>
        <p:grpSpPr>
          <a:xfrm rot="0">
            <a:off x="1179576" y="3044952"/>
            <a:ext cx="4114800" cy="356616"/>
            <a:chOff x="0" y="0"/>
            <a:chExt cx="5486400" cy="475488"/>
          </a:xfrm>
        </p:grpSpPr>
        <p:sp>
          <p:nvSpPr>
            <p:cNvPr name="Freeform 15" id="15"/>
            <p:cNvSpPr/>
            <p:nvPr/>
          </p:nvSpPr>
          <p:spPr>
            <a:xfrm flipH="false" flipV="false" rot="0">
              <a:off x="0" y="0"/>
              <a:ext cx="5486400" cy="475488"/>
            </a:xfrm>
            <a:custGeom>
              <a:avLst/>
              <a:gdLst/>
              <a:ahLst/>
              <a:cxnLst/>
              <a:rect r="r" b="b" t="t" l="l"/>
              <a:pathLst>
                <a:path h="475488" w="5486400">
                  <a:moveTo>
                    <a:pt x="0" y="0"/>
                  </a:moveTo>
                  <a:lnTo>
                    <a:pt x="5486400" y="0"/>
                  </a:lnTo>
                  <a:lnTo>
                    <a:pt x="5486400" y="475488"/>
                  </a:lnTo>
                  <a:lnTo>
                    <a:pt x="0" y="475488"/>
                  </a:lnTo>
                  <a:close/>
                </a:path>
              </a:pathLst>
            </a:custGeom>
            <a:blipFill>
              <a:blip r:embed="rId4">
                <a:alphaModFix amt="0"/>
              </a:blip>
              <a:stretch>
                <a:fillRect l="0" t="-174827" r="0" b="-174827"/>
              </a:stretch>
            </a:blipFill>
          </p:spPr>
        </p:sp>
        <p:sp>
          <p:nvSpPr>
            <p:cNvPr name="TextBox 16" id="16"/>
            <p:cNvSpPr txBox="true"/>
            <p:nvPr/>
          </p:nvSpPr>
          <p:spPr>
            <a:xfrm>
              <a:off x="0" y="0"/>
              <a:ext cx="5486400" cy="475488"/>
            </a:xfrm>
            <a:prstGeom prst="rect">
              <a:avLst/>
            </a:prstGeom>
          </p:spPr>
          <p:txBody>
            <a:bodyPr anchor="ctr" rtlCol="false" tIns="0" lIns="0" bIns="0" rIns="0"/>
            <a:lstStyle/>
            <a:p>
              <a:pPr algn="l">
                <a:lnSpc>
                  <a:spcPts val="1889"/>
                </a:lnSpc>
              </a:pPr>
              <a:r>
                <a:rPr lang="en-US" b="true" sz="1575">
                  <a:solidFill>
                    <a:srgbClr val="8D140B"/>
                  </a:solidFill>
                  <a:latin typeface="Inter Bold"/>
                  <a:ea typeface="Inter Bold"/>
                  <a:cs typeface="Inter Bold"/>
                  <a:sym typeface="Inter Bold"/>
                </a:rPr>
                <a:t>PATIENT 04471</a:t>
              </a:r>
            </a:p>
          </p:txBody>
        </p:sp>
      </p:grpSp>
      <p:grpSp>
        <p:nvGrpSpPr>
          <p:cNvPr name="Group 17" id="17"/>
          <p:cNvGrpSpPr/>
          <p:nvPr/>
        </p:nvGrpSpPr>
        <p:grpSpPr>
          <a:xfrm rot="0">
            <a:off x="1179576" y="3205353"/>
            <a:ext cx="4114800" cy="1873758"/>
            <a:chOff x="0" y="0"/>
            <a:chExt cx="5486400" cy="2498344"/>
          </a:xfrm>
        </p:grpSpPr>
        <p:sp>
          <p:nvSpPr>
            <p:cNvPr name="Freeform 18" id="18"/>
            <p:cNvSpPr/>
            <p:nvPr/>
          </p:nvSpPr>
          <p:spPr>
            <a:xfrm flipH="false" flipV="false" rot="0">
              <a:off x="0" y="0"/>
              <a:ext cx="5486400" cy="2498344"/>
            </a:xfrm>
            <a:custGeom>
              <a:avLst/>
              <a:gdLst/>
              <a:ahLst/>
              <a:cxnLst/>
              <a:rect r="r" b="b" t="t" l="l"/>
              <a:pathLst>
                <a:path h="2498344" w="5486400">
                  <a:moveTo>
                    <a:pt x="0" y="0"/>
                  </a:moveTo>
                  <a:lnTo>
                    <a:pt x="5486400" y="0"/>
                  </a:lnTo>
                  <a:lnTo>
                    <a:pt x="5486400" y="2498344"/>
                  </a:lnTo>
                  <a:lnTo>
                    <a:pt x="0" y="2498344"/>
                  </a:lnTo>
                  <a:close/>
                </a:path>
              </a:pathLst>
            </a:custGeom>
            <a:blipFill>
              <a:blip r:embed="rId4">
                <a:alphaModFix amt="0"/>
              </a:blip>
              <a:stretch>
                <a:fillRect l="0" t="-11313" r="0" b="25734"/>
              </a:stretch>
            </a:blipFill>
          </p:spPr>
        </p:sp>
        <p:sp>
          <p:nvSpPr>
            <p:cNvPr name="TextBox 19" id="19"/>
            <p:cNvSpPr txBox="true"/>
            <p:nvPr/>
          </p:nvSpPr>
          <p:spPr>
            <a:xfrm>
              <a:off x="0" y="0"/>
              <a:ext cx="5486400" cy="2498344"/>
            </a:xfrm>
            <a:prstGeom prst="rect">
              <a:avLst/>
            </a:prstGeom>
          </p:spPr>
          <p:txBody>
            <a:bodyPr anchor="ctr" rtlCol="false" tIns="0" lIns="0" bIns="0" rIns="0"/>
            <a:lstStyle/>
            <a:p>
              <a:pPr algn="l">
                <a:lnSpc>
                  <a:spcPts val="10080"/>
                </a:lnSpc>
              </a:pPr>
              <a:r>
                <a:rPr lang="en-US" b="true" sz="8400">
                  <a:solidFill>
                    <a:srgbClr val="8D140B"/>
                  </a:solidFill>
                  <a:latin typeface="Bricolage Grotesque Bold"/>
                  <a:ea typeface="Bricolage Grotesque Bold"/>
                  <a:cs typeface="Bricolage Grotesque Bold"/>
                  <a:sym typeface="Bricolage Grotesque Bold"/>
                </a:rPr>
                <a:t>0.82</a:t>
              </a:r>
            </a:p>
          </p:txBody>
        </p:sp>
      </p:grpSp>
      <p:grpSp>
        <p:nvGrpSpPr>
          <p:cNvPr name="Group 20" id="20"/>
          <p:cNvGrpSpPr/>
          <p:nvPr/>
        </p:nvGrpSpPr>
        <p:grpSpPr>
          <a:xfrm rot="0">
            <a:off x="1179576" y="4636008"/>
            <a:ext cx="4114800" cy="356616"/>
            <a:chOff x="0" y="0"/>
            <a:chExt cx="5486400" cy="475488"/>
          </a:xfrm>
        </p:grpSpPr>
        <p:sp>
          <p:nvSpPr>
            <p:cNvPr name="Freeform 21" id="21"/>
            <p:cNvSpPr/>
            <p:nvPr/>
          </p:nvSpPr>
          <p:spPr>
            <a:xfrm flipH="false" flipV="false" rot="0">
              <a:off x="0" y="0"/>
              <a:ext cx="5486400" cy="475488"/>
            </a:xfrm>
            <a:custGeom>
              <a:avLst/>
              <a:gdLst/>
              <a:ahLst/>
              <a:cxnLst/>
              <a:rect r="r" b="b" t="t" l="l"/>
              <a:pathLst>
                <a:path h="475488" w="5486400">
                  <a:moveTo>
                    <a:pt x="0" y="0"/>
                  </a:moveTo>
                  <a:lnTo>
                    <a:pt x="5486400" y="0"/>
                  </a:lnTo>
                  <a:lnTo>
                    <a:pt x="5486400" y="475488"/>
                  </a:lnTo>
                  <a:lnTo>
                    <a:pt x="0" y="475488"/>
                  </a:lnTo>
                  <a:close/>
                </a:path>
              </a:pathLst>
            </a:custGeom>
            <a:blipFill>
              <a:blip r:embed="rId4">
                <a:alphaModFix amt="0"/>
              </a:blip>
              <a:stretch>
                <a:fillRect l="0" t="-174827" r="0" b="-174827"/>
              </a:stretch>
            </a:blipFill>
          </p:spPr>
        </p:sp>
        <p:sp>
          <p:nvSpPr>
            <p:cNvPr name="TextBox 22" id="22"/>
            <p:cNvSpPr txBox="true"/>
            <p:nvPr/>
          </p:nvSpPr>
          <p:spPr>
            <a:xfrm>
              <a:off x="0" y="0"/>
              <a:ext cx="5486400" cy="475488"/>
            </a:xfrm>
            <a:prstGeom prst="rect">
              <a:avLst/>
            </a:prstGeom>
          </p:spPr>
          <p:txBody>
            <a:bodyPr anchor="ctr" rtlCol="false" tIns="0" lIns="0" bIns="0" rIns="0"/>
            <a:lstStyle/>
            <a:p>
              <a:pPr algn="l">
                <a:lnSpc>
                  <a:spcPts val="1889"/>
                </a:lnSpc>
              </a:pPr>
              <a:r>
                <a:rPr lang="en-US" b="true" sz="1575">
                  <a:solidFill>
                    <a:srgbClr val="8D140B"/>
                  </a:solidFill>
                  <a:latin typeface="Inter Bold"/>
                  <a:ea typeface="Inter Bold"/>
                  <a:cs typeface="Inter Bold"/>
                  <a:sym typeface="Inter Bold"/>
                </a:rPr>
                <a:t>readmission risk score</a:t>
              </a:r>
            </a:p>
          </p:txBody>
        </p:sp>
      </p:grpSp>
      <p:grpSp>
        <p:nvGrpSpPr>
          <p:cNvPr name="Group 23" id="23"/>
          <p:cNvGrpSpPr/>
          <p:nvPr/>
        </p:nvGrpSpPr>
        <p:grpSpPr>
          <a:xfrm rot="0">
            <a:off x="1170051" y="5120259"/>
            <a:ext cx="2241042" cy="595122"/>
            <a:chOff x="0" y="0"/>
            <a:chExt cx="2988056" cy="793496"/>
          </a:xfrm>
        </p:grpSpPr>
        <p:sp>
          <p:nvSpPr>
            <p:cNvPr name="Freeform 24" id="24"/>
            <p:cNvSpPr/>
            <p:nvPr/>
          </p:nvSpPr>
          <p:spPr>
            <a:xfrm flipH="false" flipV="false" rot="0">
              <a:off x="0" y="0"/>
              <a:ext cx="2988056" cy="793496"/>
            </a:xfrm>
            <a:custGeom>
              <a:avLst/>
              <a:gdLst/>
              <a:ahLst/>
              <a:cxnLst/>
              <a:rect r="r" b="b" t="t" l="l"/>
              <a:pathLst>
                <a:path h="793496" w="2988056">
                  <a:moveTo>
                    <a:pt x="0" y="113411"/>
                  </a:moveTo>
                  <a:cubicBezTo>
                    <a:pt x="0" y="50800"/>
                    <a:pt x="50800" y="0"/>
                    <a:pt x="113411" y="0"/>
                  </a:cubicBezTo>
                  <a:lnTo>
                    <a:pt x="2874645" y="0"/>
                  </a:lnTo>
                  <a:cubicBezTo>
                    <a:pt x="2937256" y="0"/>
                    <a:pt x="2988056" y="50800"/>
                    <a:pt x="2988056" y="113411"/>
                  </a:cubicBezTo>
                  <a:lnTo>
                    <a:pt x="2988056" y="680085"/>
                  </a:lnTo>
                  <a:cubicBezTo>
                    <a:pt x="2988056" y="742696"/>
                    <a:pt x="2937256" y="793496"/>
                    <a:pt x="2874645" y="793496"/>
                  </a:cubicBezTo>
                  <a:lnTo>
                    <a:pt x="113411" y="793496"/>
                  </a:lnTo>
                  <a:cubicBezTo>
                    <a:pt x="50800" y="793496"/>
                    <a:pt x="0" y="742696"/>
                    <a:pt x="0" y="680085"/>
                  </a:cubicBezTo>
                  <a:close/>
                </a:path>
              </a:pathLst>
            </a:custGeom>
            <a:solidFill>
              <a:srgbClr val="535D0F"/>
            </a:solidFill>
            <a:ln w="19050" cap="sq">
              <a:solidFill>
                <a:srgbClr val="C0392B"/>
              </a:solidFill>
              <a:prstDash val="solid"/>
              <a:miter/>
            </a:ln>
          </p:spPr>
        </p:sp>
      </p:grpSp>
      <p:grpSp>
        <p:nvGrpSpPr>
          <p:cNvPr name="Group 25" id="25"/>
          <p:cNvGrpSpPr/>
          <p:nvPr/>
        </p:nvGrpSpPr>
        <p:grpSpPr>
          <a:xfrm rot="0">
            <a:off x="1179576" y="5129784"/>
            <a:ext cx="2221992" cy="576072"/>
            <a:chOff x="0" y="0"/>
            <a:chExt cx="2962656" cy="768096"/>
          </a:xfrm>
        </p:grpSpPr>
        <p:sp>
          <p:nvSpPr>
            <p:cNvPr name="Freeform 26" id="26"/>
            <p:cNvSpPr/>
            <p:nvPr/>
          </p:nvSpPr>
          <p:spPr>
            <a:xfrm flipH="false" flipV="false" rot="0">
              <a:off x="0" y="0"/>
              <a:ext cx="2962656" cy="768096"/>
            </a:xfrm>
            <a:custGeom>
              <a:avLst/>
              <a:gdLst/>
              <a:ahLst/>
              <a:cxnLst/>
              <a:rect r="r" b="b" t="t" l="l"/>
              <a:pathLst>
                <a:path h="768096" w="2962656">
                  <a:moveTo>
                    <a:pt x="0" y="0"/>
                  </a:moveTo>
                  <a:lnTo>
                    <a:pt x="2962656" y="0"/>
                  </a:lnTo>
                  <a:lnTo>
                    <a:pt x="2962656" y="768096"/>
                  </a:lnTo>
                  <a:lnTo>
                    <a:pt x="0" y="768096"/>
                  </a:lnTo>
                  <a:close/>
                </a:path>
              </a:pathLst>
            </a:custGeom>
            <a:blipFill>
              <a:blip r:embed="rId4">
                <a:alphaModFix amt="0"/>
              </a:blip>
              <a:stretch>
                <a:fillRect l="0" t="-25156" r="0" b="-25156"/>
              </a:stretch>
            </a:blipFill>
          </p:spPr>
        </p:sp>
        <p:sp>
          <p:nvSpPr>
            <p:cNvPr name="TextBox 27" id="27"/>
            <p:cNvSpPr txBox="true"/>
            <p:nvPr/>
          </p:nvSpPr>
          <p:spPr>
            <a:xfrm>
              <a:off x="0" y="-9525"/>
              <a:ext cx="2962656" cy="777621"/>
            </a:xfrm>
            <a:prstGeom prst="rect">
              <a:avLst/>
            </a:prstGeom>
          </p:spPr>
          <p:txBody>
            <a:bodyPr anchor="ctr" rtlCol="false" tIns="0" lIns="0" bIns="0" rIns="0"/>
            <a:lstStyle/>
            <a:p>
              <a:pPr algn="ctr">
                <a:lnSpc>
                  <a:spcPts val="2160"/>
                </a:lnSpc>
              </a:pPr>
              <a:r>
                <a:rPr lang="en-US" b="true" sz="1800">
                  <a:solidFill>
                    <a:srgbClr val="FFFFFF"/>
                  </a:solidFill>
                  <a:latin typeface="Bricolage Grotesque Bold"/>
                  <a:ea typeface="Bricolage Grotesque Bold"/>
                  <a:cs typeface="Bricolage Grotesque Bold"/>
                  <a:sym typeface="Bricolage Grotesque Bold"/>
                </a:rPr>
                <a:t>FLAGGED</a:t>
              </a:r>
            </a:p>
          </p:txBody>
        </p:sp>
      </p:grpSp>
      <p:grpSp>
        <p:nvGrpSpPr>
          <p:cNvPr name="Group 28" id="28"/>
          <p:cNvGrpSpPr/>
          <p:nvPr/>
        </p:nvGrpSpPr>
        <p:grpSpPr>
          <a:xfrm rot="0">
            <a:off x="3566160" y="5129784"/>
            <a:ext cx="1783080" cy="721194"/>
            <a:chOff x="0" y="0"/>
            <a:chExt cx="2377440" cy="961592"/>
          </a:xfrm>
        </p:grpSpPr>
        <p:sp>
          <p:nvSpPr>
            <p:cNvPr name="Freeform 29" id="29"/>
            <p:cNvSpPr/>
            <p:nvPr/>
          </p:nvSpPr>
          <p:spPr>
            <a:xfrm flipH="false" flipV="false" rot="0">
              <a:off x="0" y="0"/>
              <a:ext cx="2377440" cy="961592"/>
            </a:xfrm>
            <a:custGeom>
              <a:avLst/>
              <a:gdLst/>
              <a:ahLst/>
              <a:cxnLst/>
              <a:rect r="r" b="b" t="t" l="l"/>
              <a:pathLst>
                <a:path h="961592" w="2377440">
                  <a:moveTo>
                    <a:pt x="0" y="0"/>
                  </a:moveTo>
                  <a:lnTo>
                    <a:pt x="2377440" y="0"/>
                  </a:lnTo>
                  <a:lnTo>
                    <a:pt x="2377440" y="961592"/>
                  </a:lnTo>
                  <a:lnTo>
                    <a:pt x="0" y="961592"/>
                  </a:lnTo>
                  <a:close/>
                </a:path>
              </a:pathLst>
            </a:custGeom>
            <a:blipFill>
              <a:blip r:embed="rId4">
                <a:alphaModFix amt="0"/>
              </a:blip>
              <a:stretch>
                <a:fillRect l="0" t="-6334" r="0" b="9984"/>
              </a:stretch>
            </a:blipFill>
          </p:spPr>
        </p:sp>
        <p:sp>
          <p:nvSpPr>
            <p:cNvPr name="TextBox 30" id="30"/>
            <p:cNvSpPr txBox="true"/>
            <p:nvPr/>
          </p:nvSpPr>
          <p:spPr>
            <a:xfrm>
              <a:off x="0" y="-9525"/>
              <a:ext cx="2377440" cy="971117"/>
            </a:xfrm>
            <a:prstGeom prst="rect">
              <a:avLst/>
            </a:prstGeom>
          </p:spPr>
          <p:txBody>
            <a:bodyPr anchor="ctr" rtlCol="false" tIns="0" lIns="0" bIns="0" rIns="0"/>
            <a:lstStyle/>
            <a:p>
              <a:pPr algn="l">
                <a:lnSpc>
                  <a:spcPts val="1709"/>
                </a:lnSpc>
              </a:pPr>
              <a:r>
                <a:rPr lang="en-US" b="true" sz="1425">
                  <a:solidFill>
                    <a:srgbClr val="8D140B"/>
                  </a:solidFill>
                  <a:latin typeface="Inter Bold"/>
                  <a:ea typeface="Inter Bold"/>
                  <a:cs typeface="Inter Bold"/>
                  <a:sym typeface="Inter Bold"/>
                </a:rPr>
                <a:t>threshold 0.57</a:t>
              </a:r>
            </a:p>
            <a:p>
              <a:pPr algn="l">
                <a:lnSpc>
                  <a:spcPts val="1709"/>
                </a:lnSpc>
              </a:pPr>
              <a:r>
                <a:rPr lang="en-US" b="true" sz="1425">
                  <a:solidFill>
                    <a:srgbClr val="8D140B"/>
                  </a:solidFill>
                  <a:latin typeface="Inter Bold"/>
                  <a:ea typeface="Inter Bold"/>
                  <a:cs typeface="Inter Bold"/>
                  <a:sym typeface="Inter Bold"/>
                </a:rPr>
                <a:t>cohort average 0.09</a:t>
              </a:r>
            </a:p>
          </p:txBody>
        </p:sp>
      </p:grpSp>
      <p:grpSp>
        <p:nvGrpSpPr>
          <p:cNvPr name="Group 31" id="31"/>
          <p:cNvGrpSpPr/>
          <p:nvPr/>
        </p:nvGrpSpPr>
        <p:grpSpPr>
          <a:xfrm rot="0">
            <a:off x="1179576" y="5843016"/>
            <a:ext cx="4114800" cy="411480"/>
            <a:chOff x="0" y="0"/>
            <a:chExt cx="5486400" cy="548640"/>
          </a:xfrm>
        </p:grpSpPr>
        <p:sp>
          <p:nvSpPr>
            <p:cNvPr name="Freeform 32" id="32"/>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4">
                <a:alphaModFix amt="0"/>
              </a:blip>
              <a:stretch>
                <a:fillRect l="0" t="-144850" r="0" b="-144850"/>
              </a:stretch>
            </a:blipFill>
          </p:spPr>
        </p:sp>
        <p:sp>
          <p:nvSpPr>
            <p:cNvPr name="TextBox 33" id="33"/>
            <p:cNvSpPr txBox="true"/>
            <p:nvPr/>
          </p:nvSpPr>
          <p:spPr>
            <a:xfrm>
              <a:off x="0" y="-9525"/>
              <a:ext cx="5486400" cy="558165"/>
            </a:xfrm>
            <a:prstGeom prst="rect">
              <a:avLst/>
            </a:prstGeom>
          </p:spPr>
          <p:txBody>
            <a:bodyPr anchor="ctr" rtlCol="false" tIns="0" lIns="0" bIns="0" rIns="0"/>
            <a:lstStyle/>
            <a:p>
              <a:pPr algn="l">
                <a:lnSpc>
                  <a:spcPts val="1980"/>
                </a:lnSpc>
              </a:pPr>
              <a:r>
                <a:rPr lang="en-US" b="true" sz="1650">
                  <a:solidFill>
                    <a:srgbClr val="8D140B"/>
                  </a:solidFill>
                  <a:latin typeface="Inter Bold"/>
                  <a:ea typeface="Inter Bold"/>
                  <a:cs typeface="Inter Bold"/>
                  <a:sym typeface="Inter Bold"/>
                </a:rPr>
                <a:t>9× the average patient's risk</a:t>
              </a:r>
            </a:p>
          </p:txBody>
        </p:sp>
      </p:grpSp>
      <p:grpSp>
        <p:nvGrpSpPr>
          <p:cNvPr name="Group 34" id="34"/>
          <p:cNvGrpSpPr/>
          <p:nvPr/>
        </p:nvGrpSpPr>
        <p:grpSpPr>
          <a:xfrm rot="0">
            <a:off x="6062472" y="2825496"/>
            <a:ext cx="7662072" cy="551243"/>
            <a:chOff x="0" y="0"/>
            <a:chExt cx="9144000" cy="657859"/>
          </a:xfrm>
        </p:grpSpPr>
        <p:sp>
          <p:nvSpPr>
            <p:cNvPr name="Freeform 35" id="35"/>
            <p:cNvSpPr/>
            <p:nvPr/>
          </p:nvSpPr>
          <p:spPr>
            <a:xfrm flipH="false" flipV="false" rot="0">
              <a:off x="0" y="0"/>
              <a:ext cx="9144000" cy="657859"/>
            </a:xfrm>
            <a:custGeom>
              <a:avLst/>
              <a:gdLst/>
              <a:ahLst/>
              <a:cxnLst/>
              <a:rect r="r" b="b" t="t" l="l"/>
              <a:pathLst>
                <a:path h="657859" w="9144000">
                  <a:moveTo>
                    <a:pt x="0" y="0"/>
                  </a:moveTo>
                  <a:lnTo>
                    <a:pt x="9144000" y="0"/>
                  </a:lnTo>
                  <a:lnTo>
                    <a:pt x="9144000" y="657859"/>
                  </a:lnTo>
                  <a:lnTo>
                    <a:pt x="0" y="657859"/>
                  </a:lnTo>
                  <a:close/>
                </a:path>
              </a:pathLst>
            </a:custGeom>
            <a:blipFill>
              <a:blip r:embed="rId4">
                <a:alphaModFix amt="0"/>
              </a:blip>
              <a:stretch>
                <a:fillRect l="0" t="-231915" r="0" b="-209753"/>
              </a:stretch>
            </a:blipFill>
          </p:spPr>
        </p:sp>
        <p:sp>
          <p:nvSpPr>
            <p:cNvPr name="TextBox 36" id="36"/>
            <p:cNvSpPr txBox="true"/>
            <p:nvPr/>
          </p:nvSpPr>
          <p:spPr>
            <a:xfrm>
              <a:off x="0" y="0"/>
              <a:ext cx="9144000" cy="657859"/>
            </a:xfrm>
            <a:prstGeom prst="rect">
              <a:avLst/>
            </a:prstGeom>
          </p:spPr>
          <p:txBody>
            <a:bodyPr anchor="ctr" rtlCol="false" tIns="0" lIns="0" bIns="0" rIns="0"/>
            <a:lstStyle/>
            <a:p>
              <a:pPr algn="l">
                <a:lnSpc>
                  <a:spcPts val="2699"/>
                </a:lnSpc>
              </a:pPr>
              <a:r>
                <a:rPr lang="en-US" b="true" sz="2249" u="sng">
                  <a:solidFill>
                    <a:srgbClr val="1F2B5B"/>
                  </a:solidFill>
                  <a:latin typeface="Bricolage Grotesque Bold"/>
                  <a:ea typeface="Bricolage Grotesque Bold"/>
                  <a:cs typeface="Bricolage Grotesque Bold"/>
                  <a:sym typeface="Bricolage Grotesque Bold"/>
                </a:rPr>
                <a:t>WHAT DROVE THE SCORE</a:t>
              </a:r>
            </a:p>
          </p:txBody>
        </p:sp>
      </p:grpSp>
      <p:grpSp>
        <p:nvGrpSpPr>
          <p:cNvPr name="Group 37" id="37"/>
          <p:cNvGrpSpPr/>
          <p:nvPr/>
        </p:nvGrpSpPr>
        <p:grpSpPr>
          <a:xfrm rot="0">
            <a:off x="6062472" y="3319272"/>
            <a:ext cx="5157216" cy="411480"/>
            <a:chOff x="0" y="0"/>
            <a:chExt cx="6876288" cy="548640"/>
          </a:xfrm>
        </p:grpSpPr>
        <p:sp>
          <p:nvSpPr>
            <p:cNvPr name="Freeform 38" id="38"/>
            <p:cNvSpPr/>
            <p:nvPr/>
          </p:nvSpPr>
          <p:spPr>
            <a:xfrm flipH="false" flipV="false" rot="0">
              <a:off x="0" y="0"/>
              <a:ext cx="6876288" cy="548640"/>
            </a:xfrm>
            <a:custGeom>
              <a:avLst/>
              <a:gdLst/>
              <a:ahLst/>
              <a:cxnLst/>
              <a:rect r="r" b="b" t="t" l="l"/>
              <a:pathLst>
                <a:path h="548640" w="6876288">
                  <a:moveTo>
                    <a:pt x="0" y="0"/>
                  </a:moveTo>
                  <a:lnTo>
                    <a:pt x="6876288" y="0"/>
                  </a:lnTo>
                  <a:lnTo>
                    <a:pt x="6876288" y="548640"/>
                  </a:lnTo>
                  <a:lnTo>
                    <a:pt x="0" y="548640"/>
                  </a:lnTo>
                  <a:close/>
                </a:path>
              </a:pathLst>
            </a:custGeom>
            <a:blipFill>
              <a:blip r:embed="rId4">
                <a:alphaModFix amt="0"/>
              </a:blip>
              <a:stretch>
                <a:fillRect l="0" t="-194212" r="0" b="-194212"/>
              </a:stretch>
            </a:blipFill>
          </p:spPr>
        </p:sp>
        <p:sp>
          <p:nvSpPr>
            <p:cNvPr name="TextBox 39" id="39"/>
            <p:cNvSpPr txBox="true"/>
            <p:nvPr/>
          </p:nvSpPr>
          <p:spPr>
            <a:xfrm>
              <a:off x="0" y="-9525"/>
              <a:ext cx="6876288" cy="558165"/>
            </a:xfrm>
            <a:prstGeom prst="rect">
              <a:avLst/>
            </a:prstGeom>
          </p:spPr>
          <p:txBody>
            <a:bodyPr anchor="ctr" rtlCol="false" tIns="0" lIns="0" bIns="0" rIns="0"/>
            <a:lstStyle/>
            <a:p>
              <a:pPr algn="l">
                <a:lnSpc>
                  <a:spcPts val="1944"/>
                </a:lnSpc>
              </a:pPr>
              <a:r>
                <a:rPr lang="en-US" b="true" sz="1620">
                  <a:solidFill>
                    <a:srgbClr val="1F2B5B"/>
                  </a:solidFill>
                  <a:latin typeface="Inter Bold"/>
                  <a:ea typeface="Inter Bold"/>
                  <a:cs typeface="Inter Bold"/>
                  <a:sym typeface="Inter Bold"/>
                </a:rPr>
                <a:t>3 prior inpatient admissions this year</a:t>
              </a:r>
            </a:p>
          </p:txBody>
        </p:sp>
      </p:grpSp>
      <p:grpSp>
        <p:nvGrpSpPr>
          <p:cNvPr name="Group 40" id="40"/>
          <p:cNvGrpSpPr/>
          <p:nvPr/>
        </p:nvGrpSpPr>
        <p:grpSpPr>
          <a:xfrm rot="0">
            <a:off x="11374755" y="3378327"/>
            <a:ext cx="4202430" cy="320802"/>
            <a:chOff x="0" y="0"/>
            <a:chExt cx="5603240" cy="427736"/>
          </a:xfrm>
        </p:grpSpPr>
        <p:sp>
          <p:nvSpPr>
            <p:cNvPr name="Freeform 41" id="41"/>
            <p:cNvSpPr/>
            <p:nvPr/>
          </p:nvSpPr>
          <p:spPr>
            <a:xfrm flipH="false" flipV="false" rot="0">
              <a:off x="0" y="0"/>
              <a:ext cx="5603240" cy="427736"/>
            </a:xfrm>
            <a:custGeom>
              <a:avLst/>
              <a:gdLst/>
              <a:ahLst/>
              <a:cxnLst/>
              <a:rect r="r" b="b" t="t" l="l"/>
              <a:pathLst>
                <a:path h="427736" w="5603240">
                  <a:moveTo>
                    <a:pt x="0" y="58293"/>
                  </a:moveTo>
                  <a:cubicBezTo>
                    <a:pt x="0" y="26162"/>
                    <a:pt x="26162" y="0"/>
                    <a:pt x="58293" y="0"/>
                  </a:cubicBezTo>
                  <a:lnTo>
                    <a:pt x="5544947" y="0"/>
                  </a:lnTo>
                  <a:cubicBezTo>
                    <a:pt x="5577205" y="0"/>
                    <a:pt x="5603240" y="26162"/>
                    <a:pt x="5603240" y="58293"/>
                  </a:cubicBezTo>
                  <a:lnTo>
                    <a:pt x="5603240" y="369443"/>
                  </a:lnTo>
                  <a:cubicBezTo>
                    <a:pt x="5603240" y="401701"/>
                    <a:pt x="5577078" y="427736"/>
                    <a:pt x="5544947" y="427736"/>
                  </a:cubicBezTo>
                  <a:lnTo>
                    <a:pt x="58293" y="427736"/>
                  </a:lnTo>
                  <a:cubicBezTo>
                    <a:pt x="26162" y="427736"/>
                    <a:pt x="0" y="401574"/>
                    <a:pt x="0" y="369443"/>
                  </a:cubicBezTo>
                  <a:close/>
                </a:path>
              </a:pathLst>
            </a:custGeom>
            <a:solidFill>
              <a:srgbClr val="FFFFFF"/>
            </a:solidFill>
            <a:ln w="19050" cap="sq">
              <a:solidFill>
                <a:srgbClr val="EDF2F5"/>
              </a:solidFill>
              <a:prstDash val="solid"/>
              <a:miter/>
            </a:ln>
          </p:spPr>
        </p:sp>
      </p:grpSp>
      <p:grpSp>
        <p:nvGrpSpPr>
          <p:cNvPr name="Group 42" id="42"/>
          <p:cNvGrpSpPr/>
          <p:nvPr/>
        </p:nvGrpSpPr>
        <p:grpSpPr>
          <a:xfrm rot="0">
            <a:off x="11374755" y="3378327"/>
            <a:ext cx="3948436" cy="320802"/>
            <a:chOff x="0" y="0"/>
            <a:chExt cx="5264582" cy="427736"/>
          </a:xfrm>
        </p:grpSpPr>
        <p:sp>
          <p:nvSpPr>
            <p:cNvPr name="Freeform 43" id="43"/>
            <p:cNvSpPr/>
            <p:nvPr/>
          </p:nvSpPr>
          <p:spPr>
            <a:xfrm flipH="false" flipV="false" rot="0">
              <a:off x="0" y="0"/>
              <a:ext cx="5264531" cy="427736"/>
            </a:xfrm>
            <a:custGeom>
              <a:avLst/>
              <a:gdLst/>
              <a:ahLst/>
              <a:cxnLst/>
              <a:rect r="r" b="b" t="t" l="l"/>
              <a:pathLst>
                <a:path h="427736" w="5264531">
                  <a:moveTo>
                    <a:pt x="0" y="58293"/>
                  </a:moveTo>
                  <a:cubicBezTo>
                    <a:pt x="0" y="26162"/>
                    <a:pt x="26162" y="0"/>
                    <a:pt x="58293" y="0"/>
                  </a:cubicBezTo>
                  <a:lnTo>
                    <a:pt x="5206238" y="0"/>
                  </a:lnTo>
                  <a:cubicBezTo>
                    <a:pt x="5238496" y="0"/>
                    <a:pt x="5264531" y="26162"/>
                    <a:pt x="5264531" y="58293"/>
                  </a:cubicBezTo>
                  <a:lnTo>
                    <a:pt x="5264531" y="369443"/>
                  </a:lnTo>
                  <a:cubicBezTo>
                    <a:pt x="5264531" y="401701"/>
                    <a:pt x="5238369" y="427736"/>
                    <a:pt x="5206238" y="427736"/>
                  </a:cubicBezTo>
                  <a:lnTo>
                    <a:pt x="58293" y="427736"/>
                  </a:lnTo>
                  <a:cubicBezTo>
                    <a:pt x="26162" y="427736"/>
                    <a:pt x="0" y="401574"/>
                    <a:pt x="0" y="369443"/>
                  </a:cubicBezTo>
                  <a:close/>
                </a:path>
              </a:pathLst>
            </a:custGeom>
            <a:solidFill>
              <a:srgbClr val="535D0F"/>
            </a:solidFill>
            <a:ln w="19050" cap="sq">
              <a:solidFill>
                <a:srgbClr val="C77400"/>
              </a:solidFill>
              <a:prstDash val="solid"/>
              <a:miter/>
            </a:ln>
          </p:spPr>
        </p:sp>
      </p:grpSp>
      <p:grpSp>
        <p:nvGrpSpPr>
          <p:cNvPr name="Group 44" id="44"/>
          <p:cNvGrpSpPr/>
          <p:nvPr/>
        </p:nvGrpSpPr>
        <p:grpSpPr>
          <a:xfrm rot="0">
            <a:off x="15677388" y="3332988"/>
            <a:ext cx="850392" cy="384048"/>
            <a:chOff x="0" y="0"/>
            <a:chExt cx="1133856" cy="512064"/>
          </a:xfrm>
        </p:grpSpPr>
        <p:sp>
          <p:nvSpPr>
            <p:cNvPr name="Freeform 45" id="45"/>
            <p:cNvSpPr/>
            <p:nvPr/>
          </p:nvSpPr>
          <p:spPr>
            <a:xfrm flipH="false" flipV="false" rot="0">
              <a:off x="0" y="0"/>
              <a:ext cx="1133856" cy="512064"/>
            </a:xfrm>
            <a:custGeom>
              <a:avLst/>
              <a:gdLst/>
              <a:ahLst/>
              <a:cxnLst/>
              <a:rect r="r" b="b" t="t" l="l"/>
              <a:pathLst>
                <a:path h="512064" w="1133856">
                  <a:moveTo>
                    <a:pt x="0" y="0"/>
                  </a:moveTo>
                  <a:lnTo>
                    <a:pt x="1133856" y="0"/>
                  </a:lnTo>
                  <a:lnTo>
                    <a:pt x="1133856" y="512064"/>
                  </a:lnTo>
                  <a:lnTo>
                    <a:pt x="0" y="512064"/>
                  </a:lnTo>
                  <a:close/>
                </a:path>
              </a:pathLst>
            </a:custGeom>
            <a:blipFill>
              <a:blip r:embed="rId4">
                <a:alphaModFix amt="0"/>
              </a:blip>
              <a:stretch>
                <a:fillRect l="-7943" t="0" r="-7943" b="0"/>
              </a:stretch>
            </a:blipFill>
          </p:spPr>
        </p:sp>
        <p:sp>
          <p:nvSpPr>
            <p:cNvPr name="TextBox 46" id="46"/>
            <p:cNvSpPr txBox="true"/>
            <p:nvPr/>
          </p:nvSpPr>
          <p:spPr>
            <a:xfrm>
              <a:off x="0" y="-9525"/>
              <a:ext cx="1133856" cy="521589"/>
            </a:xfrm>
            <a:prstGeom prst="rect">
              <a:avLst/>
            </a:prstGeom>
          </p:spPr>
          <p:txBody>
            <a:bodyPr anchor="ctr" rtlCol="false" tIns="0" lIns="0" bIns="0" rIns="0"/>
            <a:lstStyle/>
            <a:p>
              <a:pPr algn="l">
                <a:lnSpc>
                  <a:spcPts val="1800"/>
                </a:lnSpc>
              </a:pPr>
              <a:r>
                <a:rPr lang="en-US" b="true" sz="1500">
                  <a:solidFill>
                    <a:srgbClr val="8D140B"/>
                  </a:solidFill>
                  <a:latin typeface="Inter Bold"/>
                  <a:ea typeface="Inter Bold"/>
                  <a:cs typeface="Inter Bold"/>
                  <a:sym typeface="Inter Bold"/>
                </a:rPr>
                <a:t>+0.53</a:t>
              </a:r>
            </a:p>
          </p:txBody>
        </p:sp>
      </p:grpSp>
      <p:grpSp>
        <p:nvGrpSpPr>
          <p:cNvPr name="Group 47" id="47"/>
          <p:cNvGrpSpPr/>
          <p:nvPr/>
        </p:nvGrpSpPr>
        <p:grpSpPr>
          <a:xfrm rot="0">
            <a:off x="6062472" y="3922776"/>
            <a:ext cx="5157216" cy="411480"/>
            <a:chOff x="0" y="0"/>
            <a:chExt cx="6876288" cy="548640"/>
          </a:xfrm>
        </p:grpSpPr>
        <p:sp>
          <p:nvSpPr>
            <p:cNvPr name="Freeform 48" id="48"/>
            <p:cNvSpPr/>
            <p:nvPr/>
          </p:nvSpPr>
          <p:spPr>
            <a:xfrm flipH="false" flipV="false" rot="0">
              <a:off x="0" y="0"/>
              <a:ext cx="6876288" cy="548640"/>
            </a:xfrm>
            <a:custGeom>
              <a:avLst/>
              <a:gdLst/>
              <a:ahLst/>
              <a:cxnLst/>
              <a:rect r="r" b="b" t="t" l="l"/>
              <a:pathLst>
                <a:path h="548640" w="6876288">
                  <a:moveTo>
                    <a:pt x="0" y="0"/>
                  </a:moveTo>
                  <a:lnTo>
                    <a:pt x="6876288" y="0"/>
                  </a:lnTo>
                  <a:lnTo>
                    <a:pt x="6876288" y="548640"/>
                  </a:lnTo>
                  <a:lnTo>
                    <a:pt x="0" y="548640"/>
                  </a:lnTo>
                  <a:close/>
                </a:path>
              </a:pathLst>
            </a:custGeom>
            <a:blipFill>
              <a:blip r:embed="rId4">
                <a:alphaModFix amt="0"/>
              </a:blip>
              <a:stretch>
                <a:fillRect l="0" t="-194212" r="0" b="-194212"/>
              </a:stretch>
            </a:blipFill>
          </p:spPr>
        </p:sp>
        <p:sp>
          <p:nvSpPr>
            <p:cNvPr name="TextBox 49" id="49"/>
            <p:cNvSpPr txBox="true"/>
            <p:nvPr/>
          </p:nvSpPr>
          <p:spPr>
            <a:xfrm>
              <a:off x="0" y="-9525"/>
              <a:ext cx="6876288" cy="558165"/>
            </a:xfrm>
            <a:prstGeom prst="rect">
              <a:avLst/>
            </a:prstGeom>
          </p:spPr>
          <p:txBody>
            <a:bodyPr anchor="ctr" rtlCol="false" tIns="0" lIns="0" bIns="0" rIns="0"/>
            <a:lstStyle/>
            <a:p>
              <a:pPr algn="l">
                <a:lnSpc>
                  <a:spcPts val="1944"/>
                </a:lnSpc>
              </a:pPr>
              <a:r>
                <a:rPr lang="en-US" b="true" sz="1620">
                  <a:solidFill>
                    <a:srgbClr val="1F2B5B"/>
                  </a:solidFill>
                  <a:latin typeface="Inter Bold"/>
                  <a:ea typeface="Inter Bold"/>
                  <a:cs typeface="Inter Bold"/>
                  <a:sym typeface="Inter Bold"/>
                </a:rPr>
                <a:t>Transferred to another facility, not home</a:t>
              </a:r>
            </a:p>
          </p:txBody>
        </p:sp>
      </p:grpSp>
      <p:grpSp>
        <p:nvGrpSpPr>
          <p:cNvPr name="Group 50" id="50"/>
          <p:cNvGrpSpPr/>
          <p:nvPr/>
        </p:nvGrpSpPr>
        <p:grpSpPr>
          <a:xfrm rot="0">
            <a:off x="11374755" y="3981831"/>
            <a:ext cx="4202430" cy="320802"/>
            <a:chOff x="0" y="0"/>
            <a:chExt cx="5603240" cy="427736"/>
          </a:xfrm>
        </p:grpSpPr>
        <p:sp>
          <p:nvSpPr>
            <p:cNvPr name="Freeform 51" id="51"/>
            <p:cNvSpPr/>
            <p:nvPr/>
          </p:nvSpPr>
          <p:spPr>
            <a:xfrm flipH="false" flipV="false" rot="0">
              <a:off x="0" y="0"/>
              <a:ext cx="5603240" cy="427736"/>
            </a:xfrm>
            <a:custGeom>
              <a:avLst/>
              <a:gdLst/>
              <a:ahLst/>
              <a:cxnLst/>
              <a:rect r="r" b="b" t="t" l="l"/>
              <a:pathLst>
                <a:path h="427736" w="5603240">
                  <a:moveTo>
                    <a:pt x="0" y="58293"/>
                  </a:moveTo>
                  <a:cubicBezTo>
                    <a:pt x="0" y="26162"/>
                    <a:pt x="26162" y="0"/>
                    <a:pt x="58293" y="0"/>
                  </a:cubicBezTo>
                  <a:lnTo>
                    <a:pt x="5544947" y="0"/>
                  </a:lnTo>
                  <a:cubicBezTo>
                    <a:pt x="5577205" y="0"/>
                    <a:pt x="5603240" y="26162"/>
                    <a:pt x="5603240" y="58293"/>
                  </a:cubicBezTo>
                  <a:lnTo>
                    <a:pt x="5603240" y="369443"/>
                  </a:lnTo>
                  <a:cubicBezTo>
                    <a:pt x="5603240" y="401701"/>
                    <a:pt x="5577078" y="427736"/>
                    <a:pt x="5544947" y="427736"/>
                  </a:cubicBezTo>
                  <a:lnTo>
                    <a:pt x="58293" y="427736"/>
                  </a:lnTo>
                  <a:cubicBezTo>
                    <a:pt x="26162" y="427736"/>
                    <a:pt x="0" y="401574"/>
                    <a:pt x="0" y="369443"/>
                  </a:cubicBezTo>
                  <a:close/>
                </a:path>
              </a:pathLst>
            </a:custGeom>
            <a:solidFill>
              <a:srgbClr val="FFFFFF"/>
            </a:solidFill>
            <a:ln w="19050" cap="sq">
              <a:solidFill>
                <a:srgbClr val="EDF2F5"/>
              </a:solidFill>
              <a:prstDash val="solid"/>
              <a:miter/>
            </a:ln>
          </p:spPr>
        </p:sp>
      </p:grpSp>
      <p:grpSp>
        <p:nvGrpSpPr>
          <p:cNvPr name="Group 52" id="52"/>
          <p:cNvGrpSpPr/>
          <p:nvPr/>
        </p:nvGrpSpPr>
        <p:grpSpPr>
          <a:xfrm rot="0">
            <a:off x="11374755" y="3981831"/>
            <a:ext cx="2349789" cy="320802"/>
            <a:chOff x="0" y="0"/>
            <a:chExt cx="3133052" cy="427736"/>
          </a:xfrm>
        </p:grpSpPr>
        <p:sp>
          <p:nvSpPr>
            <p:cNvPr name="Freeform 53" id="53"/>
            <p:cNvSpPr/>
            <p:nvPr/>
          </p:nvSpPr>
          <p:spPr>
            <a:xfrm flipH="false" flipV="false" rot="0">
              <a:off x="0" y="0"/>
              <a:ext cx="3132963" cy="427736"/>
            </a:xfrm>
            <a:custGeom>
              <a:avLst/>
              <a:gdLst/>
              <a:ahLst/>
              <a:cxnLst/>
              <a:rect r="r" b="b" t="t" l="l"/>
              <a:pathLst>
                <a:path h="427736" w="3132963">
                  <a:moveTo>
                    <a:pt x="0" y="58293"/>
                  </a:moveTo>
                  <a:cubicBezTo>
                    <a:pt x="0" y="26162"/>
                    <a:pt x="26162" y="0"/>
                    <a:pt x="58293" y="0"/>
                  </a:cubicBezTo>
                  <a:lnTo>
                    <a:pt x="3074670" y="0"/>
                  </a:lnTo>
                  <a:cubicBezTo>
                    <a:pt x="3106928" y="0"/>
                    <a:pt x="3132963" y="26162"/>
                    <a:pt x="3132963" y="58293"/>
                  </a:cubicBezTo>
                  <a:lnTo>
                    <a:pt x="3132963" y="369443"/>
                  </a:lnTo>
                  <a:cubicBezTo>
                    <a:pt x="3132963" y="401701"/>
                    <a:pt x="3106801" y="427736"/>
                    <a:pt x="3074670" y="427736"/>
                  </a:cubicBezTo>
                  <a:lnTo>
                    <a:pt x="58293" y="427736"/>
                  </a:lnTo>
                  <a:cubicBezTo>
                    <a:pt x="26162" y="427736"/>
                    <a:pt x="0" y="401574"/>
                    <a:pt x="0" y="369443"/>
                  </a:cubicBezTo>
                  <a:close/>
                </a:path>
              </a:pathLst>
            </a:custGeom>
            <a:solidFill>
              <a:srgbClr val="535D0F"/>
            </a:solidFill>
            <a:ln w="19050" cap="sq">
              <a:solidFill>
                <a:srgbClr val="C77400"/>
              </a:solidFill>
              <a:prstDash val="solid"/>
              <a:miter/>
            </a:ln>
          </p:spPr>
        </p:sp>
      </p:grpSp>
      <p:grpSp>
        <p:nvGrpSpPr>
          <p:cNvPr name="Group 54" id="54"/>
          <p:cNvGrpSpPr/>
          <p:nvPr/>
        </p:nvGrpSpPr>
        <p:grpSpPr>
          <a:xfrm rot="0">
            <a:off x="15677388" y="3936492"/>
            <a:ext cx="850392" cy="384048"/>
            <a:chOff x="0" y="0"/>
            <a:chExt cx="1133856" cy="512064"/>
          </a:xfrm>
        </p:grpSpPr>
        <p:sp>
          <p:nvSpPr>
            <p:cNvPr name="Freeform 55" id="55"/>
            <p:cNvSpPr/>
            <p:nvPr/>
          </p:nvSpPr>
          <p:spPr>
            <a:xfrm flipH="false" flipV="false" rot="0">
              <a:off x="0" y="0"/>
              <a:ext cx="1133856" cy="512064"/>
            </a:xfrm>
            <a:custGeom>
              <a:avLst/>
              <a:gdLst/>
              <a:ahLst/>
              <a:cxnLst/>
              <a:rect r="r" b="b" t="t" l="l"/>
              <a:pathLst>
                <a:path h="512064" w="1133856">
                  <a:moveTo>
                    <a:pt x="0" y="0"/>
                  </a:moveTo>
                  <a:lnTo>
                    <a:pt x="1133856" y="0"/>
                  </a:lnTo>
                  <a:lnTo>
                    <a:pt x="1133856" y="512064"/>
                  </a:lnTo>
                  <a:lnTo>
                    <a:pt x="0" y="512064"/>
                  </a:lnTo>
                  <a:close/>
                </a:path>
              </a:pathLst>
            </a:custGeom>
            <a:blipFill>
              <a:blip r:embed="rId4">
                <a:alphaModFix amt="0"/>
              </a:blip>
              <a:stretch>
                <a:fillRect l="-7943" t="0" r="-7943" b="0"/>
              </a:stretch>
            </a:blipFill>
          </p:spPr>
        </p:sp>
        <p:sp>
          <p:nvSpPr>
            <p:cNvPr name="TextBox 56" id="56"/>
            <p:cNvSpPr txBox="true"/>
            <p:nvPr/>
          </p:nvSpPr>
          <p:spPr>
            <a:xfrm>
              <a:off x="0" y="-9525"/>
              <a:ext cx="1133856" cy="521589"/>
            </a:xfrm>
            <a:prstGeom prst="rect">
              <a:avLst/>
            </a:prstGeom>
          </p:spPr>
          <p:txBody>
            <a:bodyPr anchor="ctr" rtlCol="false" tIns="0" lIns="0" bIns="0" rIns="0"/>
            <a:lstStyle/>
            <a:p>
              <a:pPr algn="l">
                <a:lnSpc>
                  <a:spcPts val="1800"/>
                </a:lnSpc>
              </a:pPr>
              <a:r>
                <a:rPr lang="en-US" b="true" sz="1500">
                  <a:solidFill>
                    <a:srgbClr val="8D140B"/>
                  </a:solidFill>
                  <a:latin typeface="Inter Bold"/>
                  <a:ea typeface="Inter Bold"/>
                  <a:cs typeface="Inter Bold"/>
                  <a:sym typeface="Inter Bold"/>
                </a:rPr>
                <a:t>+0.31</a:t>
              </a:r>
            </a:p>
          </p:txBody>
        </p:sp>
      </p:grpSp>
      <p:grpSp>
        <p:nvGrpSpPr>
          <p:cNvPr name="Group 57" id="57"/>
          <p:cNvGrpSpPr/>
          <p:nvPr/>
        </p:nvGrpSpPr>
        <p:grpSpPr>
          <a:xfrm rot="0">
            <a:off x="6062472" y="4526280"/>
            <a:ext cx="5157216" cy="411480"/>
            <a:chOff x="0" y="0"/>
            <a:chExt cx="6876288" cy="548640"/>
          </a:xfrm>
        </p:grpSpPr>
        <p:sp>
          <p:nvSpPr>
            <p:cNvPr name="Freeform 58" id="58"/>
            <p:cNvSpPr/>
            <p:nvPr/>
          </p:nvSpPr>
          <p:spPr>
            <a:xfrm flipH="false" flipV="false" rot="0">
              <a:off x="0" y="0"/>
              <a:ext cx="6876288" cy="548640"/>
            </a:xfrm>
            <a:custGeom>
              <a:avLst/>
              <a:gdLst/>
              <a:ahLst/>
              <a:cxnLst/>
              <a:rect r="r" b="b" t="t" l="l"/>
              <a:pathLst>
                <a:path h="548640" w="6876288">
                  <a:moveTo>
                    <a:pt x="0" y="0"/>
                  </a:moveTo>
                  <a:lnTo>
                    <a:pt x="6876288" y="0"/>
                  </a:lnTo>
                  <a:lnTo>
                    <a:pt x="6876288" y="548640"/>
                  </a:lnTo>
                  <a:lnTo>
                    <a:pt x="0" y="548640"/>
                  </a:lnTo>
                  <a:close/>
                </a:path>
              </a:pathLst>
            </a:custGeom>
            <a:blipFill>
              <a:blip r:embed="rId4">
                <a:alphaModFix amt="0"/>
              </a:blip>
              <a:stretch>
                <a:fillRect l="0" t="-194212" r="0" b="-194212"/>
              </a:stretch>
            </a:blipFill>
          </p:spPr>
        </p:sp>
        <p:sp>
          <p:nvSpPr>
            <p:cNvPr name="TextBox 59" id="59"/>
            <p:cNvSpPr txBox="true"/>
            <p:nvPr/>
          </p:nvSpPr>
          <p:spPr>
            <a:xfrm>
              <a:off x="0" y="-9525"/>
              <a:ext cx="6876288" cy="558165"/>
            </a:xfrm>
            <a:prstGeom prst="rect">
              <a:avLst/>
            </a:prstGeom>
          </p:spPr>
          <p:txBody>
            <a:bodyPr anchor="ctr" rtlCol="false" tIns="0" lIns="0" bIns="0" rIns="0"/>
            <a:lstStyle/>
            <a:p>
              <a:pPr algn="l">
                <a:lnSpc>
                  <a:spcPts val="1944"/>
                </a:lnSpc>
              </a:pPr>
              <a:r>
                <a:rPr lang="en-US" b="true" sz="1620">
                  <a:solidFill>
                    <a:srgbClr val="1F2B5B"/>
                  </a:solidFill>
                  <a:latin typeface="Inter Bold"/>
                  <a:ea typeface="Inter Bold"/>
                  <a:cs typeface="Inter Bold"/>
                  <a:sym typeface="Inter Bold"/>
                </a:rPr>
                <a:t>Repeat-admission band: high</a:t>
              </a:r>
            </a:p>
          </p:txBody>
        </p:sp>
      </p:grpSp>
      <p:grpSp>
        <p:nvGrpSpPr>
          <p:cNvPr name="Group 60" id="60"/>
          <p:cNvGrpSpPr/>
          <p:nvPr/>
        </p:nvGrpSpPr>
        <p:grpSpPr>
          <a:xfrm rot="0">
            <a:off x="11374755" y="4585335"/>
            <a:ext cx="4202430" cy="320802"/>
            <a:chOff x="0" y="0"/>
            <a:chExt cx="5603240" cy="427736"/>
          </a:xfrm>
        </p:grpSpPr>
        <p:sp>
          <p:nvSpPr>
            <p:cNvPr name="Freeform 61" id="61"/>
            <p:cNvSpPr/>
            <p:nvPr/>
          </p:nvSpPr>
          <p:spPr>
            <a:xfrm flipH="false" flipV="false" rot="0">
              <a:off x="0" y="0"/>
              <a:ext cx="5603240" cy="427736"/>
            </a:xfrm>
            <a:custGeom>
              <a:avLst/>
              <a:gdLst/>
              <a:ahLst/>
              <a:cxnLst/>
              <a:rect r="r" b="b" t="t" l="l"/>
              <a:pathLst>
                <a:path h="427736" w="5603240">
                  <a:moveTo>
                    <a:pt x="0" y="58293"/>
                  </a:moveTo>
                  <a:cubicBezTo>
                    <a:pt x="0" y="26162"/>
                    <a:pt x="26162" y="0"/>
                    <a:pt x="58293" y="0"/>
                  </a:cubicBezTo>
                  <a:lnTo>
                    <a:pt x="5544947" y="0"/>
                  </a:lnTo>
                  <a:cubicBezTo>
                    <a:pt x="5577205" y="0"/>
                    <a:pt x="5603240" y="26162"/>
                    <a:pt x="5603240" y="58293"/>
                  </a:cubicBezTo>
                  <a:lnTo>
                    <a:pt x="5603240" y="369443"/>
                  </a:lnTo>
                  <a:cubicBezTo>
                    <a:pt x="5603240" y="401701"/>
                    <a:pt x="5577078" y="427736"/>
                    <a:pt x="5544947" y="427736"/>
                  </a:cubicBezTo>
                  <a:lnTo>
                    <a:pt x="58293" y="427736"/>
                  </a:lnTo>
                  <a:cubicBezTo>
                    <a:pt x="26162" y="427736"/>
                    <a:pt x="0" y="401574"/>
                    <a:pt x="0" y="369443"/>
                  </a:cubicBezTo>
                  <a:close/>
                </a:path>
              </a:pathLst>
            </a:custGeom>
            <a:solidFill>
              <a:srgbClr val="FFFFFF"/>
            </a:solidFill>
            <a:ln w="19050" cap="sq">
              <a:solidFill>
                <a:srgbClr val="EDF2F5"/>
              </a:solidFill>
              <a:prstDash val="solid"/>
              <a:miter/>
            </a:ln>
          </p:spPr>
        </p:sp>
      </p:grpSp>
      <p:grpSp>
        <p:nvGrpSpPr>
          <p:cNvPr name="Group 62" id="62"/>
          <p:cNvGrpSpPr/>
          <p:nvPr/>
        </p:nvGrpSpPr>
        <p:grpSpPr>
          <a:xfrm rot="0">
            <a:off x="11374755" y="4585335"/>
            <a:ext cx="1259119" cy="320802"/>
            <a:chOff x="0" y="0"/>
            <a:chExt cx="1678826" cy="427736"/>
          </a:xfrm>
        </p:grpSpPr>
        <p:sp>
          <p:nvSpPr>
            <p:cNvPr name="Freeform 63" id="63"/>
            <p:cNvSpPr/>
            <p:nvPr/>
          </p:nvSpPr>
          <p:spPr>
            <a:xfrm flipH="false" flipV="false" rot="0">
              <a:off x="0" y="0"/>
              <a:ext cx="1678813" cy="427736"/>
            </a:xfrm>
            <a:custGeom>
              <a:avLst/>
              <a:gdLst/>
              <a:ahLst/>
              <a:cxnLst/>
              <a:rect r="r" b="b" t="t" l="l"/>
              <a:pathLst>
                <a:path h="427736" w="1678813">
                  <a:moveTo>
                    <a:pt x="0" y="58293"/>
                  </a:moveTo>
                  <a:cubicBezTo>
                    <a:pt x="0" y="26162"/>
                    <a:pt x="26162" y="0"/>
                    <a:pt x="58293" y="0"/>
                  </a:cubicBezTo>
                  <a:lnTo>
                    <a:pt x="1620520" y="0"/>
                  </a:lnTo>
                  <a:cubicBezTo>
                    <a:pt x="1652778" y="0"/>
                    <a:pt x="1678813" y="26162"/>
                    <a:pt x="1678813" y="58293"/>
                  </a:cubicBezTo>
                  <a:lnTo>
                    <a:pt x="1678813" y="369443"/>
                  </a:lnTo>
                  <a:cubicBezTo>
                    <a:pt x="1678813" y="401701"/>
                    <a:pt x="1652651" y="427736"/>
                    <a:pt x="1620520" y="427736"/>
                  </a:cubicBezTo>
                  <a:lnTo>
                    <a:pt x="58293" y="427736"/>
                  </a:lnTo>
                  <a:cubicBezTo>
                    <a:pt x="26162" y="427736"/>
                    <a:pt x="0" y="401574"/>
                    <a:pt x="0" y="369443"/>
                  </a:cubicBezTo>
                  <a:close/>
                </a:path>
              </a:pathLst>
            </a:custGeom>
            <a:solidFill>
              <a:srgbClr val="535D0F"/>
            </a:solidFill>
            <a:ln w="19050" cap="sq">
              <a:solidFill>
                <a:srgbClr val="C77400"/>
              </a:solidFill>
              <a:prstDash val="solid"/>
              <a:miter/>
            </a:ln>
          </p:spPr>
        </p:sp>
      </p:grpSp>
      <p:grpSp>
        <p:nvGrpSpPr>
          <p:cNvPr name="Group 64" id="64"/>
          <p:cNvGrpSpPr/>
          <p:nvPr/>
        </p:nvGrpSpPr>
        <p:grpSpPr>
          <a:xfrm rot="0">
            <a:off x="15677388" y="4539996"/>
            <a:ext cx="850392" cy="384048"/>
            <a:chOff x="0" y="0"/>
            <a:chExt cx="1133856" cy="512064"/>
          </a:xfrm>
        </p:grpSpPr>
        <p:sp>
          <p:nvSpPr>
            <p:cNvPr name="Freeform 65" id="65"/>
            <p:cNvSpPr/>
            <p:nvPr/>
          </p:nvSpPr>
          <p:spPr>
            <a:xfrm flipH="false" flipV="false" rot="0">
              <a:off x="0" y="0"/>
              <a:ext cx="1133856" cy="512064"/>
            </a:xfrm>
            <a:custGeom>
              <a:avLst/>
              <a:gdLst/>
              <a:ahLst/>
              <a:cxnLst/>
              <a:rect r="r" b="b" t="t" l="l"/>
              <a:pathLst>
                <a:path h="512064" w="1133856">
                  <a:moveTo>
                    <a:pt x="0" y="0"/>
                  </a:moveTo>
                  <a:lnTo>
                    <a:pt x="1133856" y="0"/>
                  </a:lnTo>
                  <a:lnTo>
                    <a:pt x="1133856" y="512064"/>
                  </a:lnTo>
                  <a:lnTo>
                    <a:pt x="0" y="512064"/>
                  </a:lnTo>
                  <a:close/>
                </a:path>
              </a:pathLst>
            </a:custGeom>
            <a:blipFill>
              <a:blip r:embed="rId4">
                <a:alphaModFix amt="0"/>
              </a:blip>
              <a:stretch>
                <a:fillRect l="-7943" t="0" r="-7943" b="0"/>
              </a:stretch>
            </a:blipFill>
          </p:spPr>
        </p:sp>
        <p:sp>
          <p:nvSpPr>
            <p:cNvPr name="TextBox 66" id="66"/>
            <p:cNvSpPr txBox="true"/>
            <p:nvPr/>
          </p:nvSpPr>
          <p:spPr>
            <a:xfrm>
              <a:off x="0" y="-9525"/>
              <a:ext cx="1133856" cy="521589"/>
            </a:xfrm>
            <a:prstGeom prst="rect">
              <a:avLst/>
            </a:prstGeom>
          </p:spPr>
          <p:txBody>
            <a:bodyPr anchor="ctr" rtlCol="false" tIns="0" lIns="0" bIns="0" rIns="0"/>
            <a:lstStyle/>
            <a:p>
              <a:pPr algn="l">
                <a:lnSpc>
                  <a:spcPts val="1800"/>
                </a:lnSpc>
              </a:pPr>
              <a:r>
                <a:rPr lang="en-US" b="true" sz="1500">
                  <a:solidFill>
                    <a:srgbClr val="8D140B"/>
                  </a:solidFill>
                  <a:latin typeface="Inter Bold"/>
                  <a:ea typeface="Inter Bold"/>
                  <a:cs typeface="Inter Bold"/>
                  <a:sym typeface="Inter Bold"/>
                </a:rPr>
                <a:t>+0.17</a:t>
              </a:r>
            </a:p>
          </p:txBody>
        </p:sp>
      </p:grpSp>
      <p:grpSp>
        <p:nvGrpSpPr>
          <p:cNvPr name="Group 67" id="67"/>
          <p:cNvGrpSpPr/>
          <p:nvPr/>
        </p:nvGrpSpPr>
        <p:grpSpPr>
          <a:xfrm rot="0">
            <a:off x="6062472" y="5129784"/>
            <a:ext cx="5157216" cy="411480"/>
            <a:chOff x="0" y="0"/>
            <a:chExt cx="6876288" cy="548640"/>
          </a:xfrm>
        </p:grpSpPr>
        <p:sp>
          <p:nvSpPr>
            <p:cNvPr name="Freeform 68" id="68"/>
            <p:cNvSpPr/>
            <p:nvPr/>
          </p:nvSpPr>
          <p:spPr>
            <a:xfrm flipH="false" flipV="false" rot="0">
              <a:off x="0" y="0"/>
              <a:ext cx="6876288" cy="548640"/>
            </a:xfrm>
            <a:custGeom>
              <a:avLst/>
              <a:gdLst/>
              <a:ahLst/>
              <a:cxnLst/>
              <a:rect r="r" b="b" t="t" l="l"/>
              <a:pathLst>
                <a:path h="548640" w="6876288">
                  <a:moveTo>
                    <a:pt x="0" y="0"/>
                  </a:moveTo>
                  <a:lnTo>
                    <a:pt x="6876288" y="0"/>
                  </a:lnTo>
                  <a:lnTo>
                    <a:pt x="6876288" y="548640"/>
                  </a:lnTo>
                  <a:lnTo>
                    <a:pt x="0" y="548640"/>
                  </a:lnTo>
                  <a:close/>
                </a:path>
              </a:pathLst>
            </a:custGeom>
            <a:blipFill>
              <a:blip r:embed="rId4">
                <a:alphaModFix amt="0"/>
              </a:blip>
              <a:stretch>
                <a:fillRect l="0" t="-194212" r="0" b="-194212"/>
              </a:stretch>
            </a:blipFill>
          </p:spPr>
        </p:sp>
        <p:sp>
          <p:nvSpPr>
            <p:cNvPr name="TextBox 69" id="69"/>
            <p:cNvSpPr txBox="true"/>
            <p:nvPr/>
          </p:nvSpPr>
          <p:spPr>
            <a:xfrm>
              <a:off x="0" y="-9525"/>
              <a:ext cx="6876288" cy="558165"/>
            </a:xfrm>
            <a:prstGeom prst="rect">
              <a:avLst/>
            </a:prstGeom>
          </p:spPr>
          <p:txBody>
            <a:bodyPr anchor="ctr" rtlCol="false" tIns="0" lIns="0" bIns="0" rIns="0"/>
            <a:lstStyle/>
            <a:p>
              <a:pPr algn="l">
                <a:lnSpc>
                  <a:spcPts val="1944"/>
                </a:lnSpc>
              </a:pPr>
              <a:r>
                <a:rPr lang="en-US" b="true" sz="1620">
                  <a:solidFill>
                    <a:srgbClr val="1F2B5B"/>
                  </a:solidFill>
                  <a:latin typeface="Inter Bold"/>
                  <a:ea typeface="Inter Bold"/>
                  <a:cs typeface="Inter Bold"/>
                  <a:sym typeface="Inter Bold"/>
                </a:rPr>
                <a:t>Discharged to a facility rather than home</a:t>
              </a:r>
            </a:p>
          </p:txBody>
        </p:sp>
      </p:grpSp>
      <p:grpSp>
        <p:nvGrpSpPr>
          <p:cNvPr name="Group 70" id="70"/>
          <p:cNvGrpSpPr/>
          <p:nvPr/>
        </p:nvGrpSpPr>
        <p:grpSpPr>
          <a:xfrm rot="0">
            <a:off x="11374755" y="5188839"/>
            <a:ext cx="4202430" cy="320802"/>
            <a:chOff x="0" y="0"/>
            <a:chExt cx="5603240" cy="427736"/>
          </a:xfrm>
        </p:grpSpPr>
        <p:sp>
          <p:nvSpPr>
            <p:cNvPr name="Freeform 71" id="71"/>
            <p:cNvSpPr/>
            <p:nvPr/>
          </p:nvSpPr>
          <p:spPr>
            <a:xfrm flipH="false" flipV="false" rot="0">
              <a:off x="0" y="0"/>
              <a:ext cx="5603240" cy="427736"/>
            </a:xfrm>
            <a:custGeom>
              <a:avLst/>
              <a:gdLst/>
              <a:ahLst/>
              <a:cxnLst/>
              <a:rect r="r" b="b" t="t" l="l"/>
              <a:pathLst>
                <a:path h="427736" w="5603240">
                  <a:moveTo>
                    <a:pt x="0" y="58293"/>
                  </a:moveTo>
                  <a:cubicBezTo>
                    <a:pt x="0" y="26162"/>
                    <a:pt x="26162" y="0"/>
                    <a:pt x="58293" y="0"/>
                  </a:cubicBezTo>
                  <a:lnTo>
                    <a:pt x="5544947" y="0"/>
                  </a:lnTo>
                  <a:cubicBezTo>
                    <a:pt x="5577205" y="0"/>
                    <a:pt x="5603240" y="26162"/>
                    <a:pt x="5603240" y="58293"/>
                  </a:cubicBezTo>
                  <a:lnTo>
                    <a:pt x="5603240" y="369443"/>
                  </a:lnTo>
                  <a:cubicBezTo>
                    <a:pt x="5603240" y="401701"/>
                    <a:pt x="5577078" y="427736"/>
                    <a:pt x="5544947" y="427736"/>
                  </a:cubicBezTo>
                  <a:lnTo>
                    <a:pt x="58293" y="427736"/>
                  </a:lnTo>
                  <a:cubicBezTo>
                    <a:pt x="26162" y="427736"/>
                    <a:pt x="0" y="401574"/>
                    <a:pt x="0" y="369443"/>
                  </a:cubicBezTo>
                  <a:close/>
                </a:path>
              </a:pathLst>
            </a:custGeom>
            <a:solidFill>
              <a:srgbClr val="FFFFFF"/>
            </a:solidFill>
            <a:ln w="19050" cap="sq">
              <a:solidFill>
                <a:srgbClr val="EDF2F5"/>
              </a:solidFill>
              <a:prstDash val="solid"/>
              <a:miter/>
            </a:ln>
          </p:spPr>
        </p:sp>
      </p:grpSp>
      <p:grpSp>
        <p:nvGrpSpPr>
          <p:cNvPr name="Group 72" id="72"/>
          <p:cNvGrpSpPr/>
          <p:nvPr/>
        </p:nvGrpSpPr>
        <p:grpSpPr>
          <a:xfrm rot="0">
            <a:off x="11374755" y="5188839"/>
            <a:ext cx="1124655" cy="320802"/>
            <a:chOff x="0" y="0"/>
            <a:chExt cx="1499540" cy="427736"/>
          </a:xfrm>
        </p:grpSpPr>
        <p:sp>
          <p:nvSpPr>
            <p:cNvPr name="Freeform 73" id="73"/>
            <p:cNvSpPr/>
            <p:nvPr/>
          </p:nvSpPr>
          <p:spPr>
            <a:xfrm flipH="false" flipV="false" rot="0">
              <a:off x="0" y="0"/>
              <a:ext cx="1499489" cy="427736"/>
            </a:xfrm>
            <a:custGeom>
              <a:avLst/>
              <a:gdLst/>
              <a:ahLst/>
              <a:cxnLst/>
              <a:rect r="r" b="b" t="t" l="l"/>
              <a:pathLst>
                <a:path h="427736" w="1499489">
                  <a:moveTo>
                    <a:pt x="0" y="58293"/>
                  </a:moveTo>
                  <a:cubicBezTo>
                    <a:pt x="0" y="26162"/>
                    <a:pt x="26162" y="0"/>
                    <a:pt x="58293" y="0"/>
                  </a:cubicBezTo>
                  <a:lnTo>
                    <a:pt x="1441196" y="0"/>
                  </a:lnTo>
                  <a:cubicBezTo>
                    <a:pt x="1473454" y="0"/>
                    <a:pt x="1499489" y="26162"/>
                    <a:pt x="1499489" y="58293"/>
                  </a:cubicBezTo>
                  <a:lnTo>
                    <a:pt x="1499489" y="369443"/>
                  </a:lnTo>
                  <a:cubicBezTo>
                    <a:pt x="1499489" y="401701"/>
                    <a:pt x="1473327" y="427736"/>
                    <a:pt x="1441196" y="427736"/>
                  </a:cubicBezTo>
                  <a:lnTo>
                    <a:pt x="58293" y="427736"/>
                  </a:lnTo>
                  <a:cubicBezTo>
                    <a:pt x="26162" y="427736"/>
                    <a:pt x="0" y="401574"/>
                    <a:pt x="0" y="369443"/>
                  </a:cubicBezTo>
                  <a:close/>
                </a:path>
              </a:pathLst>
            </a:custGeom>
            <a:solidFill>
              <a:srgbClr val="535D0F"/>
            </a:solidFill>
            <a:ln w="19050" cap="sq">
              <a:solidFill>
                <a:srgbClr val="C77400"/>
              </a:solidFill>
              <a:prstDash val="solid"/>
              <a:miter/>
            </a:ln>
          </p:spPr>
        </p:sp>
      </p:grpSp>
      <p:grpSp>
        <p:nvGrpSpPr>
          <p:cNvPr name="Group 74" id="74"/>
          <p:cNvGrpSpPr/>
          <p:nvPr/>
        </p:nvGrpSpPr>
        <p:grpSpPr>
          <a:xfrm rot="0">
            <a:off x="15677388" y="5143500"/>
            <a:ext cx="850392" cy="384048"/>
            <a:chOff x="0" y="0"/>
            <a:chExt cx="1133856" cy="512064"/>
          </a:xfrm>
        </p:grpSpPr>
        <p:sp>
          <p:nvSpPr>
            <p:cNvPr name="Freeform 75" id="75"/>
            <p:cNvSpPr/>
            <p:nvPr/>
          </p:nvSpPr>
          <p:spPr>
            <a:xfrm flipH="false" flipV="false" rot="0">
              <a:off x="0" y="0"/>
              <a:ext cx="1133856" cy="512064"/>
            </a:xfrm>
            <a:custGeom>
              <a:avLst/>
              <a:gdLst/>
              <a:ahLst/>
              <a:cxnLst/>
              <a:rect r="r" b="b" t="t" l="l"/>
              <a:pathLst>
                <a:path h="512064" w="1133856">
                  <a:moveTo>
                    <a:pt x="0" y="0"/>
                  </a:moveTo>
                  <a:lnTo>
                    <a:pt x="1133856" y="0"/>
                  </a:lnTo>
                  <a:lnTo>
                    <a:pt x="1133856" y="512064"/>
                  </a:lnTo>
                  <a:lnTo>
                    <a:pt x="0" y="512064"/>
                  </a:lnTo>
                  <a:close/>
                </a:path>
              </a:pathLst>
            </a:custGeom>
            <a:blipFill>
              <a:blip r:embed="rId4">
                <a:alphaModFix amt="0"/>
              </a:blip>
              <a:stretch>
                <a:fillRect l="-7943" t="0" r="-7943" b="0"/>
              </a:stretch>
            </a:blipFill>
          </p:spPr>
        </p:sp>
        <p:sp>
          <p:nvSpPr>
            <p:cNvPr name="TextBox 76" id="76"/>
            <p:cNvSpPr txBox="true"/>
            <p:nvPr/>
          </p:nvSpPr>
          <p:spPr>
            <a:xfrm>
              <a:off x="0" y="-9525"/>
              <a:ext cx="1133856" cy="521589"/>
            </a:xfrm>
            <a:prstGeom prst="rect">
              <a:avLst/>
            </a:prstGeom>
          </p:spPr>
          <p:txBody>
            <a:bodyPr anchor="ctr" rtlCol="false" tIns="0" lIns="0" bIns="0" rIns="0"/>
            <a:lstStyle/>
            <a:p>
              <a:pPr algn="l">
                <a:lnSpc>
                  <a:spcPts val="1800"/>
                </a:lnSpc>
              </a:pPr>
              <a:r>
                <a:rPr lang="en-US" b="true" sz="1500">
                  <a:solidFill>
                    <a:srgbClr val="8D140B"/>
                  </a:solidFill>
                  <a:latin typeface="Inter Bold"/>
                  <a:ea typeface="Inter Bold"/>
                  <a:cs typeface="Inter Bold"/>
                  <a:sym typeface="Inter Bold"/>
                </a:rPr>
                <a:t>+0.15</a:t>
              </a:r>
            </a:p>
          </p:txBody>
        </p:sp>
      </p:grpSp>
      <p:grpSp>
        <p:nvGrpSpPr>
          <p:cNvPr name="Group 77" id="77"/>
          <p:cNvGrpSpPr/>
          <p:nvPr/>
        </p:nvGrpSpPr>
        <p:grpSpPr>
          <a:xfrm rot="0">
            <a:off x="6062472" y="5733288"/>
            <a:ext cx="5157216" cy="411480"/>
            <a:chOff x="0" y="0"/>
            <a:chExt cx="6876288" cy="548640"/>
          </a:xfrm>
        </p:grpSpPr>
        <p:sp>
          <p:nvSpPr>
            <p:cNvPr name="Freeform 78" id="78"/>
            <p:cNvSpPr/>
            <p:nvPr/>
          </p:nvSpPr>
          <p:spPr>
            <a:xfrm flipH="false" flipV="false" rot="0">
              <a:off x="0" y="0"/>
              <a:ext cx="6876288" cy="548640"/>
            </a:xfrm>
            <a:custGeom>
              <a:avLst/>
              <a:gdLst/>
              <a:ahLst/>
              <a:cxnLst/>
              <a:rect r="r" b="b" t="t" l="l"/>
              <a:pathLst>
                <a:path h="548640" w="6876288">
                  <a:moveTo>
                    <a:pt x="0" y="0"/>
                  </a:moveTo>
                  <a:lnTo>
                    <a:pt x="6876288" y="0"/>
                  </a:lnTo>
                  <a:lnTo>
                    <a:pt x="6876288" y="548640"/>
                  </a:lnTo>
                  <a:lnTo>
                    <a:pt x="0" y="548640"/>
                  </a:lnTo>
                  <a:close/>
                </a:path>
              </a:pathLst>
            </a:custGeom>
            <a:blipFill>
              <a:blip r:embed="rId4">
                <a:alphaModFix amt="0"/>
              </a:blip>
              <a:stretch>
                <a:fillRect l="0" t="-194212" r="0" b="-194212"/>
              </a:stretch>
            </a:blipFill>
          </p:spPr>
        </p:sp>
        <p:sp>
          <p:nvSpPr>
            <p:cNvPr name="TextBox 79" id="79"/>
            <p:cNvSpPr txBox="true"/>
            <p:nvPr/>
          </p:nvSpPr>
          <p:spPr>
            <a:xfrm>
              <a:off x="0" y="-9525"/>
              <a:ext cx="6876288" cy="558165"/>
            </a:xfrm>
            <a:prstGeom prst="rect">
              <a:avLst/>
            </a:prstGeom>
          </p:spPr>
          <p:txBody>
            <a:bodyPr anchor="ctr" rtlCol="false" tIns="0" lIns="0" bIns="0" rIns="0"/>
            <a:lstStyle/>
            <a:p>
              <a:pPr algn="l">
                <a:lnSpc>
                  <a:spcPts val="1944"/>
                </a:lnSpc>
              </a:pPr>
              <a:r>
                <a:rPr lang="en-US" b="true" sz="1620">
                  <a:solidFill>
                    <a:srgbClr val="1F2B5B"/>
                  </a:solidFill>
                  <a:latin typeface="Inter Bold"/>
                  <a:ea typeface="Inter Bold"/>
                  <a:cs typeface="Inter Bold"/>
                  <a:sym typeface="Inter Bold"/>
                </a:rPr>
                <a:t>4 total prior encounters</a:t>
              </a:r>
            </a:p>
          </p:txBody>
        </p:sp>
      </p:grpSp>
      <p:grpSp>
        <p:nvGrpSpPr>
          <p:cNvPr name="Group 80" id="80"/>
          <p:cNvGrpSpPr/>
          <p:nvPr/>
        </p:nvGrpSpPr>
        <p:grpSpPr>
          <a:xfrm rot="0">
            <a:off x="11374755" y="5792343"/>
            <a:ext cx="4202430" cy="320802"/>
            <a:chOff x="0" y="0"/>
            <a:chExt cx="5603240" cy="427736"/>
          </a:xfrm>
        </p:grpSpPr>
        <p:sp>
          <p:nvSpPr>
            <p:cNvPr name="Freeform 81" id="81"/>
            <p:cNvSpPr/>
            <p:nvPr/>
          </p:nvSpPr>
          <p:spPr>
            <a:xfrm flipH="false" flipV="false" rot="0">
              <a:off x="0" y="0"/>
              <a:ext cx="5603240" cy="427736"/>
            </a:xfrm>
            <a:custGeom>
              <a:avLst/>
              <a:gdLst/>
              <a:ahLst/>
              <a:cxnLst/>
              <a:rect r="r" b="b" t="t" l="l"/>
              <a:pathLst>
                <a:path h="427736" w="5603240">
                  <a:moveTo>
                    <a:pt x="0" y="58293"/>
                  </a:moveTo>
                  <a:cubicBezTo>
                    <a:pt x="0" y="26162"/>
                    <a:pt x="26162" y="0"/>
                    <a:pt x="58293" y="0"/>
                  </a:cubicBezTo>
                  <a:lnTo>
                    <a:pt x="5544947" y="0"/>
                  </a:lnTo>
                  <a:cubicBezTo>
                    <a:pt x="5577205" y="0"/>
                    <a:pt x="5603240" y="26162"/>
                    <a:pt x="5603240" y="58293"/>
                  </a:cubicBezTo>
                  <a:lnTo>
                    <a:pt x="5603240" y="369443"/>
                  </a:lnTo>
                  <a:cubicBezTo>
                    <a:pt x="5603240" y="401701"/>
                    <a:pt x="5577078" y="427736"/>
                    <a:pt x="5544947" y="427736"/>
                  </a:cubicBezTo>
                  <a:lnTo>
                    <a:pt x="58293" y="427736"/>
                  </a:lnTo>
                  <a:cubicBezTo>
                    <a:pt x="26162" y="427736"/>
                    <a:pt x="0" y="401574"/>
                    <a:pt x="0" y="369443"/>
                  </a:cubicBezTo>
                  <a:close/>
                </a:path>
              </a:pathLst>
            </a:custGeom>
            <a:solidFill>
              <a:srgbClr val="FFFFFF"/>
            </a:solidFill>
            <a:ln w="19050" cap="sq">
              <a:solidFill>
                <a:srgbClr val="EDF2F5"/>
              </a:solidFill>
              <a:prstDash val="solid"/>
              <a:miter/>
            </a:ln>
          </p:spPr>
        </p:sp>
      </p:grpSp>
      <p:grpSp>
        <p:nvGrpSpPr>
          <p:cNvPr name="Group 82" id="82"/>
          <p:cNvGrpSpPr/>
          <p:nvPr/>
        </p:nvGrpSpPr>
        <p:grpSpPr>
          <a:xfrm rot="0">
            <a:off x="11374755" y="5792343"/>
            <a:ext cx="654025" cy="320802"/>
            <a:chOff x="0" y="0"/>
            <a:chExt cx="872033" cy="427736"/>
          </a:xfrm>
        </p:grpSpPr>
        <p:sp>
          <p:nvSpPr>
            <p:cNvPr name="Freeform 83" id="83"/>
            <p:cNvSpPr/>
            <p:nvPr/>
          </p:nvSpPr>
          <p:spPr>
            <a:xfrm flipH="false" flipV="false" rot="0">
              <a:off x="0" y="0"/>
              <a:ext cx="871982" cy="427736"/>
            </a:xfrm>
            <a:custGeom>
              <a:avLst/>
              <a:gdLst/>
              <a:ahLst/>
              <a:cxnLst/>
              <a:rect r="r" b="b" t="t" l="l"/>
              <a:pathLst>
                <a:path h="427736" w="871982">
                  <a:moveTo>
                    <a:pt x="0" y="58293"/>
                  </a:moveTo>
                  <a:cubicBezTo>
                    <a:pt x="0" y="26162"/>
                    <a:pt x="26162" y="0"/>
                    <a:pt x="58293" y="0"/>
                  </a:cubicBezTo>
                  <a:lnTo>
                    <a:pt x="813689" y="0"/>
                  </a:lnTo>
                  <a:cubicBezTo>
                    <a:pt x="845947" y="0"/>
                    <a:pt x="871982" y="26162"/>
                    <a:pt x="871982" y="58293"/>
                  </a:cubicBezTo>
                  <a:lnTo>
                    <a:pt x="871982" y="369443"/>
                  </a:lnTo>
                  <a:cubicBezTo>
                    <a:pt x="871982" y="401701"/>
                    <a:pt x="845820" y="427736"/>
                    <a:pt x="813689" y="427736"/>
                  </a:cubicBezTo>
                  <a:lnTo>
                    <a:pt x="58293" y="427736"/>
                  </a:lnTo>
                  <a:cubicBezTo>
                    <a:pt x="26162" y="427736"/>
                    <a:pt x="0" y="401574"/>
                    <a:pt x="0" y="369443"/>
                  </a:cubicBezTo>
                  <a:close/>
                </a:path>
              </a:pathLst>
            </a:custGeom>
            <a:solidFill>
              <a:srgbClr val="535D0F"/>
            </a:solidFill>
            <a:ln w="19050" cap="sq">
              <a:solidFill>
                <a:srgbClr val="C77400"/>
              </a:solidFill>
              <a:prstDash val="solid"/>
              <a:miter/>
            </a:ln>
          </p:spPr>
        </p:sp>
      </p:grpSp>
      <p:grpSp>
        <p:nvGrpSpPr>
          <p:cNvPr name="Group 84" id="84"/>
          <p:cNvGrpSpPr/>
          <p:nvPr/>
        </p:nvGrpSpPr>
        <p:grpSpPr>
          <a:xfrm rot="0">
            <a:off x="15677388" y="5747004"/>
            <a:ext cx="850392" cy="384048"/>
            <a:chOff x="0" y="0"/>
            <a:chExt cx="1133856" cy="512064"/>
          </a:xfrm>
        </p:grpSpPr>
        <p:sp>
          <p:nvSpPr>
            <p:cNvPr name="Freeform 85" id="85"/>
            <p:cNvSpPr/>
            <p:nvPr/>
          </p:nvSpPr>
          <p:spPr>
            <a:xfrm flipH="false" flipV="false" rot="0">
              <a:off x="0" y="0"/>
              <a:ext cx="1133856" cy="512064"/>
            </a:xfrm>
            <a:custGeom>
              <a:avLst/>
              <a:gdLst/>
              <a:ahLst/>
              <a:cxnLst/>
              <a:rect r="r" b="b" t="t" l="l"/>
              <a:pathLst>
                <a:path h="512064" w="1133856">
                  <a:moveTo>
                    <a:pt x="0" y="0"/>
                  </a:moveTo>
                  <a:lnTo>
                    <a:pt x="1133856" y="0"/>
                  </a:lnTo>
                  <a:lnTo>
                    <a:pt x="1133856" y="512064"/>
                  </a:lnTo>
                  <a:lnTo>
                    <a:pt x="0" y="512064"/>
                  </a:lnTo>
                  <a:close/>
                </a:path>
              </a:pathLst>
            </a:custGeom>
            <a:blipFill>
              <a:blip r:embed="rId4">
                <a:alphaModFix amt="0"/>
              </a:blip>
              <a:stretch>
                <a:fillRect l="-7943" t="0" r="-7943" b="0"/>
              </a:stretch>
            </a:blipFill>
          </p:spPr>
        </p:sp>
        <p:sp>
          <p:nvSpPr>
            <p:cNvPr name="TextBox 86" id="86"/>
            <p:cNvSpPr txBox="true"/>
            <p:nvPr/>
          </p:nvSpPr>
          <p:spPr>
            <a:xfrm>
              <a:off x="0" y="-9525"/>
              <a:ext cx="1133856" cy="521589"/>
            </a:xfrm>
            <a:prstGeom prst="rect">
              <a:avLst/>
            </a:prstGeom>
          </p:spPr>
          <p:txBody>
            <a:bodyPr anchor="ctr" rtlCol="false" tIns="0" lIns="0" bIns="0" rIns="0"/>
            <a:lstStyle/>
            <a:p>
              <a:pPr algn="l">
                <a:lnSpc>
                  <a:spcPts val="1800"/>
                </a:lnSpc>
              </a:pPr>
              <a:r>
                <a:rPr lang="en-US" b="true" sz="1500">
                  <a:solidFill>
                    <a:srgbClr val="8D140B"/>
                  </a:solidFill>
                  <a:latin typeface="Inter Bold"/>
                  <a:ea typeface="Inter Bold"/>
                  <a:cs typeface="Inter Bold"/>
                  <a:sym typeface="Inter Bold"/>
                </a:rPr>
                <a:t>+0.09</a:t>
              </a:r>
            </a:p>
          </p:txBody>
        </p:sp>
      </p:grpSp>
      <p:grpSp>
        <p:nvGrpSpPr>
          <p:cNvPr name="Group 87" id="87"/>
          <p:cNvGrpSpPr/>
          <p:nvPr/>
        </p:nvGrpSpPr>
        <p:grpSpPr>
          <a:xfrm rot="0">
            <a:off x="11374755" y="5939028"/>
            <a:ext cx="5735831" cy="1197102"/>
            <a:chOff x="0" y="0"/>
            <a:chExt cx="7742386" cy="1615882"/>
          </a:xfrm>
        </p:grpSpPr>
        <p:sp>
          <p:nvSpPr>
            <p:cNvPr name="Freeform 88" id="88"/>
            <p:cNvSpPr/>
            <p:nvPr/>
          </p:nvSpPr>
          <p:spPr>
            <a:xfrm flipH="false" flipV="false" rot="0">
              <a:off x="0" y="0"/>
              <a:ext cx="7742387" cy="1615882"/>
            </a:xfrm>
            <a:custGeom>
              <a:avLst/>
              <a:gdLst/>
              <a:ahLst/>
              <a:cxnLst/>
              <a:rect r="r" b="b" t="t" l="l"/>
              <a:pathLst>
                <a:path h="1615882" w="7742387">
                  <a:moveTo>
                    <a:pt x="0" y="0"/>
                  </a:moveTo>
                  <a:lnTo>
                    <a:pt x="7742387" y="0"/>
                  </a:lnTo>
                  <a:lnTo>
                    <a:pt x="7742387" y="1615882"/>
                  </a:lnTo>
                  <a:lnTo>
                    <a:pt x="0" y="1615882"/>
                  </a:lnTo>
                  <a:close/>
                </a:path>
              </a:pathLst>
            </a:custGeom>
            <a:blipFill>
              <a:blip r:embed="rId4">
                <a:alphaModFix amt="0"/>
              </a:blip>
              <a:stretch>
                <a:fillRect l="0" t="-165618" r="-95578" b="-99571"/>
              </a:stretch>
            </a:blipFill>
          </p:spPr>
        </p:sp>
        <p:sp>
          <p:nvSpPr>
            <p:cNvPr name="TextBox 89" id="89"/>
            <p:cNvSpPr txBox="true"/>
            <p:nvPr/>
          </p:nvSpPr>
          <p:spPr>
            <a:xfrm>
              <a:off x="0" y="-9525"/>
              <a:ext cx="7742386" cy="1625407"/>
            </a:xfrm>
            <a:prstGeom prst="rect">
              <a:avLst/>
            </a:prstGeom>
          </p:spPr>
          <p:txBody>
            <a:bodyPr anchor="ctr" rtlCol="false" tIns="0" lIns="0" bIns="0" rIns="0"/>
            <a:lstStyle/>
            <a:p>
              <a:pPr algn="l">
                <a:lnSpc>
                  <a:spcPts val="1800"/>
                </a:lnSpc>
              </a:pPr>
              <a:r>
                <a:rPr lang="en-US" b="true" sz="1500">
                  <a:solidFill>
                    <a:srgbClr val="1F2B5B"/>
                  </a:solidFill>
                  <a:latin typeface="Inter Bold"/>
                  <a:ea typeface="Inter Bold"/>
                  <a:cs typeface="Inter Bold"/>
                  <a:sym typeface="Inter Bold"/>
                </a:rPr>
                <a:t>Each bar is that factor's contribution to the risk score. Longer = more influence. Every prediction decomposes this way.</a:t>
              </a:r>
            </a:p>
          </p:txBody>
        </p:sp>
      </p:grpSp>
      <p:grpSp>
        <p:nvGrpSpPr>
          <p:cNvPr name="Group 90" id="90"/>
          <p:cNvGrpSpPr/>
          <p:nvPr/>
        </p:nvGrpSpPr>
        <p:grpSpPr>
          <a:xfrm rot="0">
            <a:off x="813435" y="7067931"/>
            <a:ext cx="16615410" cy="1527810"/>
            <a:chOff x="0" y="0"/>
            <a:chExt cx="22153880" cy="2037080"/>
          </a:xfrm>
        </p:grpSpPr>
        <p:sp>
          <p:nvSpPr>
            <p:cNvPr name="Freeform 91" id="91"/>
            <p:cNvSpPr/>
            <p:nvPr/>
          </p:nvSpPr>
          <p:spPr>
            <a:xfrm flipH="false" flipV="false" rot="0">
              <a:off x="0" y="0"/>
              <a:ext cx="22153879" cy="2037080"/>
            </a:xfrm>
            <a:custGeom>
              <a:avLst/>
              <a:gdLst/>
              <a:ahLst/>
              <a:cxnLst/>
              <a:rect r="r" b="b" t="t" l="l"/>
              <a:pathLst>
                <a:path h="2037080" w="22153879">
                  <a:moveTo>
                    <a:pt x="0" y="185166"/>
                  </a:moveTo>
                  <a:cubicBezTo>
                    <a:pt x="0" y="82931"/>
                    <a:pt x="82931" y="0"/>
                    <a:pt x="185166" y="0"/>
                  </a:cubicBezTo>
                  <a:lnTo>
                    <a:pt x="21968713" y="0"/>
                  </a:lnTo>
                  <a:cubicBezTo>
                    <a:pt x="22070949" y="0"/>
                    <a:pt x="22153879" y="82931"/>
                    <a:pt x="22153879" y="185166"/>
                  </a:cubicBezTo>
                  <a:lnTo>
                    <a:pt x="22153879" y="1851914"/>
                  </a:lnTo>
                  <a:cubicBezTo>
                    <a:pt x="22153879" y="1954149"/>
                    <a:pt x="22070949" y="2037080"/>
                    <a:pt x="21968713" y="2037080"/>
                  </a:cubicBezTo>
                  <a:lnTo>
                    <a:pt x="185166" y="2037080"/>
                  </a:lnTo>
                  <a:cubicBezTo>
                    <a:pt x="82931" y="2037080"/>
                    <a:pt x="0" y="1954149"/>
                    <a:pt x="0" y="1851914"/>
                  </a:cubicBezTo>
                  <a:close/>
                </a:path>
              </a:pathLst>
            </a:custGeom>
            <a:solidFill>
              <a:srgbClr val="FFFFFF"/>
            </a:solidFill>
            <a:ln w="19050" cap="sq">
              <a:solidFill>
                <a:srgbClr val="DDE5EA"/>
              </a:solidFill>
              <a:prstDash val="solid"/>
              <a:miter/>
            </a:ln>
          </p:spPr>
        </p:sp>
      </p:grpSp>
      <p:grpSp>
        <p:nvGrpSpPr>
          <p:cNvPr name="Group 92" id="92"/>
          <p:cNvGrpSpPr/>
          <p:nvPr/>
        </p:nvGrpSpPr>
        <p:grpSpPr>
          <a:xfrm rot="0">
            <a:off x="1207008" y="7242048"/>
            <a:ext cx="15773400" cy="461899"/>
            <a:chOff x="0" y="0"/>
            <a:chExt cx="21031200" cy="615865"/>
          </a:xfrm>
        </p:grpSpPr>
        <p:sp>
          <p:nvSpPr>
            <p:cNvPr name="Freeform 93" id="93"/>
            <p:cNvSpPr/>
            <p:nvPr/>
          </p:nvSpPr>
          <p:spPr>
            <a:xfrm flipH="false" flipV="false" rot="0">
              <a:off x="0" y="0"/>
              <a:ext cx="21031200" cy="615865"/>
            </a:xfrm>
            <a:custGeom>
              <a:avLst/>
              <a:gdLst/>
              <a:ahLst/>
              <a:cxnLst/>
              <a:rect r="r" b="b" t="t" l="l"/>
              <a:pathLst>
                <a:path h="615865" w="21031200">
                  <a:moveTo>
                    <a:pt x="0" y="0"/>
                  </a:moveTo>
                  <a:lnTo>
                    <a:pt x="21031200" y="0"/>
                  </a:lnTo>
                  <a:lnTo>
                    <a:pt x="21031200" y="615865"/>
                  </a:lnTo>
                  <a:lnTo>
                    <a:pt x="0" y="615865"/>
                  </a:lnTo>
                  <a:close/>
                </a:path>
              </a:pathLst>
            </a:custGeom>
            <a:blipFill>
              <a:blip r:embed="rId4">
                <a:alphaModFix amt="0"/>
              </a:blip>
              <a:stretch>
                <a:fillRect l="0" t="-623822" r="0" b="-606968"/>
              </a:stretch>
            </a:blipFill>
          </p:spPr>
        </p:sp>
        <p:sp>
          <p:nvSpPr>
            <p:cNvPr name="TextBox 94" id="94"/>
            <p:cNvSpPr txBox="true"/>
            <p:nvPr/>
          </p:nvSpPr>
          <p:spPr>
            <a:xfrm>
              <a:off x="0" y="0"/>
              <a:ext cx="21031200" cy="615865"/>
            </a:xfrm>
            <a:prstGeom prst="rect">
              <a:avLst/>
            </a:prstGeom>
          </p:spPr>
          <p:txBody>
            <a:bodyPr anchor="ctr" rtlCol="false" tIns="0" lIns="0" bIns="0" rIns="0"/>
            <a:lstStyle/>
            <a:p>
              <a:pPr algn="l">
                <a:lnSpc>
                  <a:spcPts val="2489"/>
                </a:lnSpc>
              </a:pPr>
              <a:r>
                <a:rPr lang="en-US" b="true" sz="2074">
                  <a:solidFill>
                    <a:srgbClr val="1F2B5B"/>
                  </a:solidFill>
                  <a:latin typeface="Bricolage Grotesque Bold"/>
                  <a:ea typeface="Bricolage Grotesque Bold"/>
                  <a:cs typeface="Bricolage Grotesque Bold"/>
                  <a:sym typeface="Bricolage Grotesque Bold"/>
                </a:rPr>
                <a:t>WHY THIS MATTERS TO THE PHARMACIST</a:t>
              </a:r>
            </a:p>
          </p:txBody>
        </p:sp>
      </p:grpSp>
      <p:grpSp>
        <p:nvGrpSpPr>
          <p:cNvPr name="Group 95" id="95"/>
          <p:cNvGrpSpPr/>
          <p:nvPr/>
        </p:nvGrpSpPr>
        <p:grpSpPr>
          <a:xfrm rot="0">
            <a:off x="1207008" y="7653528"/>
            <a:ext cx="15773400" cy="795528"/>
            <a:chOff x="0" y="0"/>
            <a:chExt cx="21031200" cy="1060704"/>
          </a:xfrm>
        </p:grpSpPr>
        <p:sp>
          <p:nvSpPr>
            <p:cNvPr name="Freeform 96" id="96"/>
            <p:cNvSpPr/>
            <p:nvPr/>
          </p:nvSpPr>
          <p:spPr>
            <a:xfrm flipH="false" flipV="false" rot="0">
              <a:off x="0" y="0"/>
              <a:ext cx="21031200" cy="1060704"/>
            </a:xfrm>
            <a:custGeom>
              <a:avLst/>
              <a:gdLst/>
              <a:ahLst/>
              <a:cxnLst/>
              <a:rect r="r" b="b" t="t" l="l"/>
              <a:pathLst>
                <a:path h="1060704" w="21031200">
                  <a:moveTo>
                    <a:pt x="0" y="0"/>
                  </a:moveTo>
                  <a:lnTo>
                    <a:pt x="21031200" y="0"/>
                  </a:lnTo>
                  <a:lnTo>
                    <a:pt x="21031200" y="1060704"/>
                  </a:lnTo>
                  <a:lnTo>
                    <a:pt x="0" y="1060704"/>
                  </a:lnTo>
                  <a:close/>
                </a:path>
              </a:pathLst>
            </a:custGeom>
            <a:blipFill>
              <a:blip r:embed="rId4">
                <a:alphaModFix amt="0"/>
              </a:blip>
              <a:stretch>
                <a:fillRect l="0" t="-336341" r="0" b="-336341"/>
              </a:stretch>
            </a:blipFill>
          </p:spPr>
        </p:sp>
        <p:sp>
          <p:nvSpPr>
            <p:cNvPr name="TextBox 97" id="97"/>
            <p:cNvSpPr txBox="true"/>
            <p:nvPr/>
          </p:nvSpPr>
          <p:spPr>
            <a:xfrm>
              <a:off x="0" y="-9525"/>
              <a:ext cx="21031200" cy="1070229"/>
            </a:xfrm>
            <a:prstGeom prst="rect">
              <a:avLst/>
            </a:prstGeom>
          </p:spPr>
          <p:txBody>
            <a:bodyPr anchor="ctr" rtlCol="false" tIns="0" lIns="0" bIns="0" rIns="0"/>
            <a:lstStyle/>
            <a:p>
              <a:pPr algn="l">
                <a:lnSpc>
                  <a:spcPts val="2219"/>
                </a:lnSpc>
              </a:pPr>
              <a:r>
                <a:rPr lang="en-US" b="true" sz="1849">
                  <a:solidFill>
                    <a:srgbClr val="1F2B5B"/>
                  </a:solidFill>
                  <a:latin typeface="Inter Bold"/>
                  <a:ea typeface="Inter Bold"/>
                  <a:cs typeface="Inter Bold"/>
                  <a:sym typeface="Inter Bold"/>
                </a:rPr>
                <a:t>This is not a generic high-risk patient — it is a repeat admitter being handed off to another facility. That points to a specific action: verify the medication list transfers with them. </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7311" t="-78531" r="-11866" b="-50303"/>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22960" y="987552"/>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RAG COMPONENT</a:t>
              </a:r>
            </a:p>
          </p:txBody>
        </p:sp>
      </p:grpSp>
      <p:grpSp>
        <p:nvGrpSpPr>
          <p:cNvPr name="Group 7" id="7"/>
          <p:cNvGrpSpPr/>
          <p:nvPr/>
        </p:nvGrpSpPr>
        <p:grpSpPr>
          <a:xfrm rot="0">
            <a:off x="822960" y="2151879"/>
            <a:ext cx="17319461" cy="576072"/>
            <a:chOff x="0" y="0"/>
            <a:chExt cx="23092614" cy="768096"/>
          </a:xfrm>
        </p:grpSpPr>
        <p:sp>
          <p:nvSpPr>
            <p:cNvPr name="Freeform 8" id="8"/>
            <p:cNvSpPr/>
            <p:nvPr/>
          </p:nvSpPr>
          <p:spPr>
            <a:xfrm flipH="false" flipV="false" rot="0">
              <a:off x="0" y="0"/>
              <a:ext cx="23092614" cy="768096"/>
            </a:xfrm>
            <a:custGeom>
              <a:avLst/>
              <a:gdLst/>
              <a:ahLst/>
              <a:cxnLst/>
              <a:rect r="r" b="b" t="t" l="l"/>
              <a:pathLst>
                <a:path h="768096" w="23092614">
                  <a:moveTo>
                    <a:pt x="0" y="0"/>
                  </a:moveTo>
                  <a:lnTo>
                    <a:pt x="23092614" y="0"/>
                  </a:lnTo>
                  <a:lnTo>
                    <a:pt x="23092614" y="768096"/>
                  </a:lnTo>
                  <a:lnTo>
                    <a:pt x="0" y="768096"/>
                  </a:lnTo>
                  <a:close/>
                </a:path>
              </a:pathLst>
            </a:custGeom>
            <a:blipFill>
              <a:blip r:embed="rId5">
                <a:alphaModFix amt="0"/>
              </a:blip>
              <a:stretch>
                <a:fillRect l="0" t="-502076" r="5758" b="-502076"/>
              </a:stretch>
            </a:blipFill>
          </p:spPr>
        </p:sp>
        <p:sp>
          <p:nvSpPr>
            <p:cNvPr name="TextBox 9" id="9"/>
            <p:cNvSpPr txBox="true"/>
            <p:nvPr/>
          </p:nvSpPr>
          <p:spPr>
            <a:xfrm>
              <a:off x="0" y="0"/>
              <a:ext cx="23092614" cy="768096"/>
            </a:xfrm>
            <a:prstGeom prst="rect">
              <a:avLst/>
            </a:prstGeom>
          </p:spPr>
          <p:txBody>
            <a:bodyPr anchor="ctr" rtlCol="false" tIns="0" lIns="0" bIns="0" rIns="0"/>
            <a:lstStyle/>
            <a:p>
              <a:pPr algn="l">
                <a:lnSpc>
                  <a:spcPts val="2520"/>
                </a:lnSpc>
              </a:pPr>
              <a:r>
                <a:rPr lang="en-US" b="true" sz="2100">
                  <a:solidFill>
                    <a:srgbClr val="1F2B5B"/>
                  </a:solidFill>
                  <a:latin typeface="Inter Bold"/>
                  <a:ea typeface="Inter Bold"/>
                  <a:cs typeface="Inter Bold"/>
                  <a:sym typeface="Inter Bold"/>
                </a:rPr>
                <a:t>Retrieval over curated CMS and AHRQ guidance. The model says who is high risk; this says what to do about it — with citations.</a:t>
              </a:r>
            </a:p>
          </p:txBody>
        </p:sp>
      </p:grpSp>
      <p:grpSp>
        <p:nvGrpSpPr>
          <p:cNvPr name="Group 10" id="10"/>
          <p:cNvGrpSpPr/>
          <p:nvPr/>
        </p:nvGrpSpPr>
        <p:grpSpPr>
          <a:xfrm rot="0">
            <a:off x="813435" y="2843403"/>
            <a:ext cx="3091434" cy="1280922"/>
            <a:chOff x="0" y="0"/>
            <a:chExt cx="4121912" cy="1707896"/>
          </a:xfrm>
        </p:grpSpPr>
        <p:sp>
          <p:nvSpPr>
            <p:cNvPr name="Freeform 11" id="11"/>
            <p:cNvSpPr/>
            <p:nvPr/>
          </p:nvSpPr>
          <p:spPr>
            <a:xfrm flipH="false" flipV="false" rot="0">
              <a:off x="0" y="0"/>
              <a:ext cx="4121912" cy="1707896"/>
            </a:xfrm>
            <a:custGeom>
              <a:avLst/>
              <a:gdLst/>
              <a:ahLst/>
              <a:cxnLst/>
              <a:rect r="r" b="b" t="t" l="l"/>
              <a:pathLst>
                <a:path h="1707896" w="4121912">
                  <a:moveTo>
                    <a:pt x="0" y="148463"/>
                  </a:moveTo>
                  <a:cubicBezTo>
                    <a:pt x="0" y="66548"/>
                    <a:pt x="66548" y="0"/>
                    <a:pt x="148463" y="0"/>
                  </a:cubicBezTo>
                  <a:lnTo>
                    <a:pt x="3973449" y="0"/>
                  </a:lnTo>
                  <a:cubicBezTo>
                    <a:pt x="4055491" y="0"/>
                    <a:pt x="4121912" y="66548"/>
                    <a:pt x="4121912" y="148463"/>
                  </a:cubicBezTo>
                  <a:lnTo>
                    <a:pt x="4121912" y="1559433"/>
                  </a:lnTo>
                  <a:cubicBezTo>
                    <a:pt x="4121912" y="1641475"/>
                    <a:pt x="4055364" y="1707896"/>
                    <a:pt x="3973449" y="1707896"/>
                  </a:cubicBezTo>
                  <a:lnTo>
                    <a:pt x="148463" y="1707896"/>
                  </a:lnTo>
                  <a:cubicBezTo>
                    <a:pt x="66548" y="1707896"/>
                    <a:pt x="0" y="1641348"/>
                    <a:pt x="0" y="1559433"/>
                  </a:cubicBezTo>
                  <a:close/>
                </a:path>
              </a:pathLst>
            </a:custGeom>
            <a:solidFill>
              <a:srgbClr val="FFFFFF"/>
            </a:solidFill>
            <a:ln w="19050" cap="sq">
              <a:solidFill>
                <a:srgbClr val="DDE5EA"/>
              </a:solidFill>
              <a:prstDash val="solid"/>
              <a:miter/>
            </a:ln>
          </p:spPr>
        </p:sp>
      </p:grpSp>
      <p:grpSp>
        <p:nvGrpSpPr>
          <p:cNvPr name="Group 12" id="12"/>
          <p:cNvGrpSpPr/>
          <p:nvPr/>
        </p:nvGrpSpPr>
        <p:grpSpPr>
          <a:xfrm rot="0">
            <a:off x="932688" y="2935224"/>
            <a:ext cx="2852928" cy="1097280"/>
            <a:chOff x="0" y="0"/>
            <a:chExt cx="3803904" cy="1463040"/>
          </a:xfrm>
        </p:grpSpPr>
        <p:sp>
          <p:nvSpPr>
            <p:cNvPr name="Freeform 13" id="13"/>
            <p:cNvSpPr/>
            <p:nvPr/>
          </p:nvSpPr>
          <p:spPr>
            <a:xfrm flipH="false" flipV="false" rot="0">
              <a:off x="0" y="0"/>
              <a:ext cx="3803904" cy="1463040"/>
            </a:xfrm>
            <a:custGeom>
              <a:avLst/>
              <a:gdLst/>
              <a:ahLst/>
              <a:cxnLst/>
              <a:rect r="r" b="b" t="t" l="l"/>
              <a:pathLst>
                <a:path h="1463040" w="3803904">
                  <a:moveTo>
                    <a:pt x="0" y="0"/>
                  </a:moveTo>
                  <a:lnTo>
                    <a:pt x="3803904" y="0"/>
                  </a:lnTo>
                  <a:lnTo>
                    <a:pt x="3803904" y="1463040"/>
                  </a:lnTo>
                  <a:lnTo>
                    <a:pt x="0" y="1463040"/>
                  </a:lnTo>
                  <a:close/>
                </a:path>
              </a:pathLst>
            </a:custGeom>
            <a:blipFill>
              <a:blip r:embed="rId5">
                <a:alphaModFix amt="0"/>
              </a:blip>
              <a:stretch>
                <a:fillRect l="0" t="-661" r="0" b="-661"/>
              </a:stretch>
            </a:blipFill>
          </p:spPr>
        </p:sp>
        <p:sp>
          <p:nvSpPr>
            <p:cNvPr name="TextBox 14" id="14"/>
            <p:cNvSpPr txBox="true"/>
            <p:nvPr/>
          </p:nvSpPr>
          <p:spPr>
            <a:xfrm>
              <a:off x="0" y="0"/>
              <a:ext cx="3803904" cy="1463040"/>
            </a:xfrm>
            <a:prstGeom prst="rect">
              <a:avLst/>
            </a:prstGeom>
          </p:spPr>
          <p:txBody>
            <a:bodyPr anchor="ctr" rtlCol="false" tIns="0" lIns="0" bIns="0" rIns="0"/>
            <a:lstStyle/>
            <a:p>
              <a:pPr algn="ctr">
                <a:lnSpc>
                  <a:spcPts val="2483"/>
                </a:lnSpc>
              </a:pPr>
              <a:r>
                <a:rPr lang="en-US" b="true" sz="2069">
                  <a:solidFill>
                    <a:srgbClr val="1F2B5B"/>
                  </a:solidFill>
                  <a:latin typeface="Inter Bold"/>
                  <a:ea typeface="Inter Bold"/>
                  <a:cs typeface="Inter Bold"/>
                  <a:sym typeface="Inter Bold"/>
                </a:rPr>
                <a:t>6 source documents</a:t>
              </a:r>
            </a:p>
          </p:txBody>
        </p:sp>
      </p:grpSp>
      <p:grpSp>
        <p:nvGrpSpPr>
          <p:cNvPr name="Group 15" id="15"/>
          <p:cNvGrpSpPr/>
          <p:nvPr/>
        </p:nvGrpSpPr>
        <p:grpSpPr>
          <a:xfrm rot="0">
            <a:off x="3922776" y="3236976"/>
            <a:ext cx="274320" cy="502920"/>
            <a:chOff x="0" y="0"/>
            <a:chExt cx="365760" cy="670560"/>
          </a:xfrm>
        </p:grpSpPr>
        <p:sp>
          <p:nvSpPr>
            <p:cNvPr name="Freeform 16" id="16"/>
            <p:cNvSpPr/>
            <p:nvPr/>
          </p:nvSpPr>
          <p:spPr>
            <a:xfrm flipH="false" flipV="false" rot="0">
              <a:off x="0" y="0"/>
              <a:ext cx="365760" cy="670560"/>
            </a:xfrm>
            <a:custGeom>
              <a:avLst/>
              <a:gdLst/>
              <a:ahLst/>
              <a:cxnLst/>
              <a:rect r="r" b="b" t="t" l="l"/>
              <a:pathLst>
                <a:path h="670560" w="365760">
                  <a:moveTo>
                    <a:pt x="0" y="0"/>
                  </a:moveTo>
                  <a:lnTo>
                    <a:pt x="365760" y="0"/>
                  </a:lnTo>
                  <a:lnTo>
                    <a:pt x="365760" y="670560"/>
                  </a:lnTo>
                  <a:lnTo>
                    <a:pt x="0" y="670560"/>
                  </a:lnTo>
                  <a:close/>
                </a:path>
              </a:pathLst>
            </a:custGeom>
            <a:blipFill>
              <a:blip r:embed="rId5">
                <a:alphaModFix amt="0"/>
              </a:blip>
              <a:stretch>
                <a:fillRect l="-180946" t="0" r="-180946" b="1818"/>
              </a:stretch>
            </a:blipFill>
          </p:spPr>
        </p:sp>
        <p:sp>
          <p:nvSpPr>
            <p:cNvPr name="TextBox 17" id="17"/>
            <p:cNvSpPr txBox="true"/>
            <p:nvPr/>
          </p:nvSpPr>
          <p:spPr>
            <a:xfrm>
              <a:off x="0" y="-9525"/>
              <a:ext cx="365760" cy="680085"/>
            </a:xfrm>
            <a:prstGeom prst="rect">
              <a:avLst/>
            </a:prstGeom>
          </p:spPr>
          <p:txBody>
            <a:bodyPr anchor="ctr" rtlCol="false" tIns="0" lIns="0" bIns="0" rIns="0"/>
            <a:lstStyle/>
            <a:p>
              <a:pPr algn="ctr">
                <a:lnSpc>
                  <a:spcPts val="2700"/>
                </a:lnSpc>
              </a:pPr>
              <a:r>
                <a:rPr lang="en-US" b="true" sz="2250">
                  <a:solidFill>
                    <a:srgbClr val="8D140B"/>
                  </a:solidFill>
                  <a:latin typeface="Bricolage Grotesque Bold"/>
                  <a:ea typeface="Bricolage Grotesque Bold"/>
                  <a:cs typeface="Bricolage Grotesque Bold"/>
                  <a:sym typeface="Bricolage Grotesque Bold"/>
                </a:rPr>
                <a:t>→</a:t>
              </a:r>
            </a:p>
          </p:txBody>
        </p:sp>
      </p:grpSp>
      <p:grpSp>
        <p:nvGrpSpPr>
          <p:cNvPr name="Group 18" id="18"/>
          <p:cNvGrpSpPr/>
          <p:nvPr/>
        </p:nvGrpSpPr>
        <p:grpSpPr>
          <a:xfrm rot="0">
            <a:off x="4187571" y="2843403"/>
            <a:ext cx="3091434" cy="1280922"/>
            <a:chOff x="0" y="0"/>
            <a:chExt cx="4121912" cy="1707896"/>
          </a:xfrm>
        </p:grpSpPr>
        <p:sp>
          <p:nvSpPr>
            <p:cNvPr name="Freeform 19" id="19"/>
            <p:cNvSpPr/>
            <p:nvPr/>
          </p:nvSpPr>
          <p:spPr>
            <a:xfrm flipH="false" flipV="false" rot="0">
              <a:off x="0" y="0"/>
              <a:ext cx="4121912" cy="1707896"/>
            </a:xfrm>
            <a:custGeom>
              <a:avLst/>
              <a:gdLst/>
              <a:ahLst/>
              <a:cxnLst/>
              <a:rect r="r" b="b" t="t" l="l"/>
              <a:pathLst>
                <a:path h="1707896" w="4121912">
                  <a:moveTo>
                    <a:pt x="0" y="148463"/>
                  </a:moveTo>
                  <a:cubicBezTo>
                    <a:pt x="0" y="66548"/>
                    <a:pt x="66548" y="0"/>
                    <a:pt x="148463" y="0"/>
                  </a:cubicBezTo>
                  <a:lnTo>
                    <a:pt x="3973449" y="0"/>
                  </a:lnTo>
                  <a:cubicBezTo>
                    <a:pt x="4055491" y="0"/>
                    <a:pt x="4121912" y="66548"/>
                    <a:pt x="4121912" y="148463"/>
                  </a:cubicBezTo>
                  <a:lnTo>
                    <a:pt x="4121912" y="1559433"/>
                  </a:lnTo>
                  <a:cubicBezTo>
                    <a:pt x="4121912" y="1641475"/>
                    <a:pt x="4055364" y="1707896"/>
                    <a:pt x="3973449" y="1707896"/>
                  </a:cubicBezTo>
                  <a:lnTo>
                    <a:pt x="148463" y="1707896"/>
                  </a:lnTo>
                  <a:cubicBezTo>
                    <a:pt x="66548" y="1707896"/>
                    <a:pt x="0" y="1641348"/>
                    <a:pt x="0" y="1559433"/>
                  </a:cubicBezTo>
                  <a:close/>
                </a:path>
              </a:pathLst>
            </a:custGeom>
            <a:solidFill>
              <a:srgbClr val="FFFFFF"/>
            </a:solidFill>
            <a:ln w="19050" cap="sq">
              <a:solidFill>
                <a:srgbClr val="DDE5EA"/>
              </a:solidFill>
              <a:prstDash val="solid"/>
              <a:miter/>
            </a:ln>
          </p:spPr>
        </p:sp>
      </p:grpSp>
      <p:grpSp>
        <p:nvGrpSpPr>
          <p:cNvPr name="Group 20" id="20"/>
          <p:cNvGrpSpPr/>
          <p:nvPr/>
        </p:nvGrpSpPr>
        <p:grpSpPr>
          <a:xfrm rot="0">
            <a:off x="4306824" y="2935224"/>
            <a:ext cx="2852928" cy="1097280"/>
            <a:chOff x="0" y="0"/>
            <a:chExt cx="3803904" cy="1463040"/>
          </a:xfrm>
        </p:grpSpPr>
        <p:sp>
          <p:nvSpPr>
            <p:cNvPr name="Freeform 21" id="21"/>
            <p:cNvSpPr/>
            <p:nvPr/>
          </p:nvSpPr>
          <p:spPr>
            <a:xfrm flipH="false" flipV="false" rot="0">
              <a:off x="0" y="0"/>
              <a:ext cx="3803904" cy="1463040"/>
            </a:xfrm>
            <a:custGeom>
              <a:avLst/>
              <a:gdLst/>
              <a:ahLst/>
              <a:cxnLst/>
              <a:rect r="r" b="b" t="t" l="l"/>
              <a:pathLst>
                <a:path h="1463040" w="3803904">
                  <a:moveTo>
                    <a:pt x="0" y="0"/>
                  </a:moveTo>
                  <a:lnTo>
                    <a:pt x="3803904" y="0"/>
                  </a:lnTo>
                  <a:lnTo>
                    <a:pt x="3803904" y="1463040"/>
                  </a:lnTo>
                  <a:lnTo>
                    <a:pt x="0" y="1463040"/>
                  </a:lnTo>
                  <a:close/>
                </a:path>
              </a:pathLst>
            </a:custGeom>
            <a:blipFill>
              <a:blip r:embed="rId5">
                <a:alphaModFix amt="0"/>
              </a:blip>
              <a:stretch>
                <a:fillRect l="0" t="-661" r="0" b="-661"/>
              </a:stretch>
            </a:blipFill>
          </p:spPr>
        </p:sp>
        <p:sp>
          <p:nvSpPr>
            <p:cNvPr name="TextBox 22" id="22"/>
            <p:cNvSpPr txBox="true"/>
            <p:nvPr/>
          </p:nvSpPr>
          <p:spPr>
            <a:xfrm>
              <a:off x="0" y="0"/>
              <a:ext cx="3803904" cy="1463040"/>
            </a:xfrm>
            <a:prstGeom prst="rect">
              <a:avLst/>
            </a:prstGeom>
          </p:spPr>
          <p:txBody>
            <a:bodyPr anchor="ctr" rtlCol="false" tIns="0" lIns="0" bIns="0" rIns="0"/>
            <a:lstStyle/>
            <a:p>
              <a:pPr algn="ctr">
                <a:lnSpc>
                  <a:spcPts val="2483"/>
                </a:lnSpc>
              </a:pPr>
              <a:r>
                <a:rPr lang="en-US" b="true" sz="2069">
                  <a:solidFill>
                    <a:srgbClr val="1F2B5B"/>
                  </a:solidFill>
                  <a:latin typeface="Inter Bold"/>
                  <a:ea typeface="Inter Bold"/>
                  <a:cs typeface="Inter Bold"/>
                  <a:sym typeface="Inter Bold"/>
                </a:rPr>
                <a:t>1,408 chunks</a:t>
              </a:r>
            </a:p>
            <a:p>
              <a:pPr algn="ctr">
                <a:lnSpc>
                  <a:spcPts val="2483"/>
                </a:lnSpc>
              </a:pPr>
              <a:r>
                <a:rPr lang="en-US" b="true" sz="2069">
                  <a:solidFill>
                    <a:srgbClr val="1F2B5B"/>
                  </a:solidFill>
                  <a:latin typeface="Inter Bold"/>
                  <a:ea typeface="Inter Bold"/>
                  <a:cs typeface="Inter Bold"/>
                  <a:sym typeface="Inter Bold"/>
                </a:rPr>
                <a:t>900 chars / 150 overlap</a:t>
              </a:r>
            </a:p>
          </p:txBody>
        </p:sp>
      </p:grpSp>
      <p:grpSp>
        <p:nvGrpSpPr>
          <p:cNvPr name="Group 23" id="23"/>
          <p:cNvGrpSpPr/>
          <p:nvPr/>
        </p:nvGrpSpPr>
        <p:grpSpPr>
          <a:xfrm rot="0">
            <a:off x="7296912" y="3236976"/>
            <a:ext cx="274320" cy="502920"/>
            <a:chOff x="0" y="0"/>
            <a:chExt cx="365760" cy="670560"/>
          </a:xfrm>
        </p:grpSpPr>
        <p:sp>
          <p:nvSpPr>
            <p:cNvPr name="Freeform 24" id="24"/>
            <p:cNvSpPr/>
            <p:nvPr/>
          </p:nvSpPr>
          <p:spPr>
            <a:xfrm flipH="false" flipV="false" rot="0">
              <a:off x="0" y="0"/>
              <a:ext cx="365760" cy="670560"/>
            </a:xfrm>
            <a:custGeom>
              <a:avLst/>
              <a:gdLst/>
              <a:ahLst/>
              <a:cxnLst/>
              <a:rect r="r" b="b" t="t" l="l"/>
              <a:pathLst>
                <a:path h="670560" w="365760">
                  <a:moveTo>
                    <a:pt x="0" y="0"/>
                  </a:moveTo>
                  <a:lnTo>
                    <a:pt x="365760" y="0"/>
                  </a:lnTo>
                  <a:lnTo>
                    <a:pt x="365760" y="670560"/>
                  </a:lnTo>
                  <a:lnTo>
                    <a:pt x="0" y="670560"/>
                  </a:lnTo>
                  <a:close/>
                </a:path>
              </a:pathLst>
            </a:custGeom>
            <a:blipFill>
              <a:blip r:embed="rId5">
                <a:alphaModFix amt="0"/>
              </a:blip>
              <a:stretch>
                <a:fillRect l="-180946" t="0" r="-180946" b="1818"/>
              </a:stretch>
            </a:blipFill>
          </p:spPr>
        </p:sp>
        <p:sp>
          <p:nvSpPr>
            <p:cNvPr name="TextBox 25" id="25"/>
            <p:cNvSpPr txBox="true"/>
            <p:nvPr/>
          </p:nvSpPr>
          <p:spPr>
            <a:xfrm>
              <a:off x="0" y="-9525"/>
              <a:ext cx="365760" cy="680085"/>
            </a:xfrm>
            <a:prstGeom prst="rect">
              <a:avLst/>
            </a:prstGeom>
          </p:spPr>
          <p:txBody>
            <a:bodyPr anchor="ctr" rtlCol="false" tIns="0" lIns="0" bIns="0" rIns="0"/>
            <a:lstStyle/>
            <a:p>
              <a:pPr algn="ctr">
                <a:lnSpc>
                  <a:spcPts val="2700"/>
                </a:lnSpc>
              </a:pPr>
              <a:r>
                <a:rPr lang="en-US" b="true" sz="2250">
                  <a:solidFill>
                    <a:srgbClr val="8D140B"/>
                  </a:solidFill>
                  <a:latin typeface="Bricolage Grotesque Bold"/>
                  <a:ea typeface="Bricolage Grotesque Bold"/>
                  <a:cs typeface="Bricolage Grotesque Bold"/>
                  <a:sym typeface="Bricolage Grotesque Bold"/>
                </a:rPr>
                <a:t>→</a:t>
              </a:r>
            </a:p>
          </p:txBody>
        </p:sp>
      </p:grpSp>
      <p:grpSp>
        <p:nvGrpSpPr>
          <p:cNvPr name="Group 26" id="26"/>
          <p:cNvGrpSpPr/>
          <p:nvPr/>
        </p:nvGrpSpPr>
        <p:grpSpPr>
          <a:xfrm rot="0">
            <a:off x="7561707" y="2843403"/>
            <a:ext cx="3091434" cy="1280922"/>
            <a:chOff x="0" y="0"/>
            <a:chExt cx="4121912" cy="1707896"/>
          </a:xfrm>
        </p:grpSpPr>
        <p:sp>
          <p:nvSpPr>
            <p:cNvPr name="Freeform 27" id="27"/>
            <p:cNvSpPr/>
            <p:nvPr/>
          </p:nvSpPr>
          <p:spPr>
            <a:xfrm flipH="false" flipV="false" rot="0">
              <a:off x="0" y="0"/>
              <a:ext cx="4121912" cy="1707896"/>
            </a:xfrm>
            <a:custGeom>
              <a:avLst/>
              <a:gdLst/>
              <a:ahLst/>
              <a:cxnLst/>
              <a:rect r="r" b="b" t="t" l="l"/>
              <a:pathLst>
                <a:path h="1707896" w="4121912">
                  <a:moveTo>
                    <a:pt x="0" y="148463"/>
                  </a:moveTo>
                  <a:cubicBezTo>
                    <a:pt x="0" y="66548"/>
                    <a:pt x="66548" y="0"/>
                    <a:pt x="148463" y="0"/>
                  </a:cubicBezTo>
                  <a:lnTo>
                    <a:pt x="3973449" y="0"/>
                  </a:lnTo>
                  <a:cubicBezTo>
                    <a:pt x="4055491" y="0"/>
                    <a:pt x="4121912" y="66548"/>
                    <a:pt x="4121912" y="148463"/>
                  </a:cubicBezTo>
                  <a:lnTo>
                    <a:pt x="4121912" y="1559433"/>
                  </a:lnTo>
                  <a:cubicBezTo>
                    <a:pt x="4121912" y="1641475"/>
                    <a:pt x="4055364" y="1707896"/>
                    <a:pt x="3973449" y="1707896"/>
                  </a:cubicBezTo>
                  <a:lnTo>
                    <a:pt x="148463" y="1707896"/>
                  </a:lnTo>
                  <a:cubicBezTo>
                    <a:pt x="66548" y="1707896"/>
                    <a:pt x="0" y="1641348"/>
                    <a:pt x="0" y="1559433"/>
                  </a:cubicBezTo>
                  <a:close/>
                </a:path>
              </a:pathLst>
            </a:custGeom>
            <a:solidFill>
              <a:srgbClr val="FFFFFF"/>
            </a:solidFill>
            <a:ln w="19050" cap="sq">
              <a:solidFill>
                <a:srgbClr val="DDE5EA"/>
              </a:solidFill>
              <a:prstDash val="solid"/>
              <a:miter/>
            </a:ln>
          </p:spPr>
        </p:sp>
      </p:grpSp>
      <p:grpSp>
        <p:nvGrpSpPr>
          <p:cNvPr name="Group 28" id="28"/>
          <p:cNvGrpSpPr/>
          <p:nvPr/>
        </p:nvGrpSpPr>
        <p:grpSpPr>
          <a:xfrm rot="0">
            <a:off x="7680960" y="2935224"/>
            <a:ext cx="2852928" cy="1097280"/>
            <a:chOff x="0" y="0"/>
            <a:chExt cx="3803904" cy="1463040"/>
          </a:xfrm>
        </p:grpSpPr>
        <p:sp>
          <p:nvSpPr>
            <p:cNvPr name="Freeform 29" id="29"/>
            <p:cNvSpPr/>
            <p:nvPr/>
          </p:nvSpPr>
          <p:spPr>
            <a:xfrm flipH="false" flipV="false" rot="0">
              <a:off x="0" y="0"/>
              <a:ext cx="3803904" cy="1463040"/>
            </a:xfrm>
            <a:custGeom>
              <a:avLst/>
              <a:gdLst/>
              <a:ahLst/>
              <a:cxnLst/>
              <a:rect r="r" b="b" t="t" l="l"/>
              <a:pathLst>
                <a:path h="1463040" w="3803904">
                  <a:moveTo>
                    <a:pt x="0" y="0"/>
                  </a:moveTo>
                  <a:lnTo>
                    <a:pt x="3803904" y="0"/>
                  </a:lnTo>
                  <a:lnTo>
                    <a:pt x="3803904" y="1463040"/>
                  </a:lnTo>
                  <a:lnTo>
                    <a:pt x="0" y="1463040"/>
                  </a:lnTo>
                  <a:close/>
                </a:path>
              </a:pathLst>
            </a:custGeom>
            <a:blipFill>
              <a:blip r:embed="rId5">
                <a:alphaModFix amt="0"/>
              </a:blip>
              <a:stretch>
                <a:fillRect l="0" t="-661" r="0" b="-661"/>
              </a:stretch>
            </a:blipFill>
          </p:spPr>
        </p:sp>
        <p:sp>
          <p:nvSpPr>
            <p:cNvPr name="TextBox 30" id="30"/>
            <p:cNvSpPr txBox="true"/>
            <p:nvPr/>
          </p:nvSpPr>
          <p:spPr>
            <a:xfrm>
              <a:off x="0" y="0"/>
              <a:ext cx="3803904" cy="1463040"/>
            </a:xfrm>
            <a:prstGeom prst="rect">
              <a:avLst/>
            </a:prstGeom>
          </p:spPr>
          <p:txBody>
            <a:bodyPr anchor="ctr" rtlCol="false" tIns="0" lIns="0" bIns="0" rIns="0"/>
            <a:lstStyle/>
            <a:p>
              <a:pPr algn="ctr">
                <a:lnSpc>
                  <a:spcPts val="2483"/>
                </a:lnSpc>
              </a:pPr>
              <a:r>
                <a:rPr lang="en-US" b="true" sz="2069">
                  <a:solidFill>
                    <a:srgbClr val="1F2B5B"/>
                  </a:solidFill>
                  <a:latin typeface="Inter Bold"/>
                  <a:ea typeface="Inter Bold"/>
                  <a:cs typeface="Inter Bold"/>
                  <a:sym typeface="Inter Bold"/>
                </a:rPr>
                <a:t>MiniLM embeddings</a:t>
              </a:r>
            </a:p>
            <a:p>
              <a:pPr algn="ctr">
                <a:lnSpc>
                  <a:spcPts val="2483"/>
                </a:lnSpc>
              </a:pPr>
              <a:r>
                <a:rPr lang="en-US" b="true" sz="2069">
                  <a:solidFill>
                    <a:srgbClr val="1F2B5B"/>
                  </a:solidFill>
                  <a:latin typeface="Inter Bold"/>
                  <a:ea typeface="Inter Bold"/>
                  <a:cs typeface="Inter Bold"/>
                  <a:sym typeface="Inter Bold"/>
                </a:rPr>
                <a:t>384-dim, normalized</a:t>
              </a:r>
            </a:p>
          </p:txBody>
        </p:sp>
      </p:grpSp>
      <p:grpSp>
        <p:nvGrpSpPr>
          <p:cNvPr name="Group 31" id="31"/>
          <p:cNvGrpSpPr/>
          <p:nvPr/>
        </p:nvGrpSpPr>
        <p:grpSpPr>
          <a:xfrm rot="0">
            <a:off x="10671048" y="3236976"/>
            <a:ext cx="274320" cy="502920"/>
            <a:chOff x="0" y="0"/>
            <a:chExt cx="365760" cy="670560"/>
          </a:xfrm>
        </p:grpSpPr>
        <p:sp>
          <p:nvSpPr>
            <p:cNvPr name="Freeform 32" id="32"/>
            <p:cNvSpPr/>
            <p:nvPr/>
          </p:nvSpPr>
          <p:spPr>
            <a:xfrm flipH="false" flipV="false" rot="0">
              <a:off x="0" y="0"/>
              <a:ext cx="365760" cy="670560"/>
            </a:xfrm>
            <a:custGeom>
              <a:avLst/>
              <a:gdLst/>
              <a:ahLst/>
              <a:cxnLst/>
              <a:rect r="r" b="b" t="t" l="l"/>
              <a:pathLst>
                <a:path h="670560" w="365760">
                  <a:moveTo>
                    <a:pt x="0" y="0"/>
                  </a:moveTo>
                  <a:lnTo>
                    <a:pt x="365760" y="0"/>
                  </a:lnTo>
                  <a:lnTo>
                    <a:pt x="365760" y="670560"/>
                  </a:lnTo>
                  <a:lnTo>
                    <a:pt x="0" y="670560"/>
                  </a:lnTo>
                  <a:close/>
                </a:path>
              </a:pathLst>
            </a:custGeom>
            <a:blipFill>
              <a:blip r:embed="rId5">
                <a:alphaModFix amt="0"/>
              </a:blip>
              <a:stretch>
                <a:fillRect l="-180946" t="0" r="-180946" b="1818"/>
              </a:stretch>
            </a:blipFill>
          </p:spPr>
        </p:sp>
        <p:sp>
          <p:nvSpPr>
            <p:cNvPr name="TextBox 33" id="33"/>
            <p:cNvSpPr txBox="true"/>
            <p:nvPr/>
          </p:nvSpPr>
          <p:spPr>
            <a:xfrm>
              <a:off x="0" y="-9525"/>
              <a:ext cx="365760" cy="680085"/>
            </a:xfrm>
            <a:prstGeom prst="rect">
              <a:avLst/>
            </a:prstGeom>
          </p:spPr>
          <p:txBody>
            <a:bodyPr anchor="ctr" rtlCol="false" tIns="0" lIns="0" bIns="0" rIns="0"/>
            <a:lstStyle/>
            <a:p>
              <a:pPr algn="ctr">
                <a:lnSpc>
                  <a:spcPts val="2700"/>
                </a:lnSpc>
              </a:pPr>
              <a:r>
                <a:rPr lang="en-US" b="true" sz="2250">
                  <a:solidFill>
                    <a:srgbClr val="8D140B"/>
                  </a:solidFill>
                  <a:latin typeface="Bricolage Grotesque Bold"/>
                  <a:ea typeface="Bricolage Grotesque Bold"/>
                  <a:cs typeface="Bricolage Grotesque Bold"/>
                  <a:sym typeface="Bricolage Grotesque Bold"/>
                </a:rPr>
                <a:t>→</a:t>
              </a:r>
            </a:p>
          </p:txBody>
        </p:sp>
      </p:grpSp>
      <p:grpSp>
        <p:nvGrpSpPr>
          <p:cNvPr name="Group 34" id="34"/>
          <p:cNvGrpSpPr/>
          <p:nvPr/>
        </p:nvGrpSpPr>
        <p:grpSpPr>
          <a:xfrm rot="0">
            <a:off x="10935843" y="2843403"/>
            <a:ext cx="3091434" cy="1280922"/>
            <a:chOff x="0" y="0"/>
            <a:chExt cx="4121912" cy="1707896"/>
          </a:xfrm>
        </p:grpSpPr>
        <p:sp>
          <p:nvSpPr>
            <p:cNvPr name="Freeform 35" id="35"/>
            <p:cNvSpPr/>
            <p:nvPr/>
          </p:nvSpPr>
          <p:spPr>
            <a:xfrm flipH="false" flipV="false" rot="0">
              <a:off x="0" y="0"/>
              <a:ext cx="4121912" cy="1707896"/>
            </a:xfrm>
            <a:custGeom>
              <a:avLst/>
              <a:gdLst/>
              <a:ahLst/>
              <a:cxnLst/>
              <a:rect r="r" b="b" t="t" l="l"/>
              <a:pathLst>
                <a:path h="1707896" w="4121912">
                  <a:moveTo>
                    <a:pt x="0" y="148463"/>
                  </a:moveTo>
                  <a:cubicBezTo>
                    <a:pt x="0" y="66548"/>
                    <a:pt x="66548" y="0"/>
                    <a:pt x="148463" y="0"/>
                  </a:cubicBezTo>
                  <a:lnTo>
                    <a:pt x="3973449" y="0"/>
                  </a:lnTo>
                  <a:cubicBezTo>
                    <a:pt x="4055491" y="0"/>
                    <a:pt x="4121912" y="66548"/>
                    <a:pt x="4121912" y="148463"/>
                  </a:cubicBezTo>
                  <a:lnTo>
                    <a:pt x="4121912" y="1559433"/>
                  </a:lnTo>
                  <a:cubicBezTo>
                    <a:pt x="4121912" y="1641475"/>
                    <a:pt x="4055364" y="1707896"/>
                    <a:pt x="3973449" y="1707896"/>
                  </a:cubicBezTo>
                  <a:lnTo>
                    <a:pt x="148463" y="1707896"/>
                  </a:lnTo>
                  <a:cubicBezTo>
                    <a:pt x="66548" y="1707896"/>
                    <a:pt x="0" y="1641348"/>
                    <a:pt x="0" y="1559433"/>
                  </a:cubicBezTo>
                  <a:close/>
                </a:path>
              </a:pathLst>
            </a:custGeom>
            <a:solidFill>
              <a:srgbClr val="FFFFFF"/>
            </a:solidFill>
            <a:ln w="19050" cap="sq">
              <a:solidFill>
                <a:srgbClr val="DDE5EA"/>
              </a:solidFill>
              <a:prstDash val="solid"/>
              <a:miter/>
            </a:ln>
          </p:spPr>
        </p:sp>
      </p:grpSp>
      <p:grpSp>
        <p:nvGrpSpPr>
          <p:cNvPr name="Group 36" id="36"/>
          <p:cNvGrpSpPr/>
          <p:nvPr/>
        </p:nvGrpSpPr>
        <p:grpSpPr>
          <a:xfrm rot="0">
            <a:off x="11055096" y="2935224"/>
            <a:ext cx="2852928" cy="1097280"/>
            <a:chOff x="0" y="0"/>
            <a:chExt cx="3803904" cy="1463040"/>
          </a:xfrm>
        </p:grpSpPr>
        <p:sp>
          <p:nvSpPr>
            <p:cNvPr name="Freeform 37" id="37"/>
            <p:cNvSpPr/>
            <p:nvPr/>
          </p:nvSpPr>
          <p:spPr>
            <a:xfrm flipH="false" flipV="false" rot="0">
              <a:off x="0" y="0"/>
              <a:ext cx="3803904" cy="1463040"/>
            </a:xfrm>
            <a:custGeom>
              <a:avLst/>
              <a:gdLst/>
              <a:ahLst/>
              <a:cxnLst/>
              <a:rect r="r" b="b" t="t" l="l"/>
              <a:pathLst>
                <a:path h="1463040" w="3803904">
                  <a:moveTo>
                    <a:pt x="0" y="0"/>
                  </a:moveTo>
                  <a:lnTo>
                    <a:pt x="3803904" y="0"/>
                  </a:lnTo>
                  <a:lnTo>
                    <a:pt x="3803904" y="1463040"/>
                  </a:lnTo>
                  <a:lnTo>
                    <a:pt x="0" y="1463040"/>
                  </a:lnTo>
                  <a:close/>
                </a:path>
              </a:pathLst>
            </a:custGeom>
            <a:blipFill>
              <a:blip r:embed="rId5">
                <a:alphaModFix amt="0"/>
              </a:blip>
              <a:stretch>
                <a:fillRect l="0" t="-661" r="0" b="-661"/>
              </a:stretch>
            </a:blipFill>
          </p:spPr>
        </p:sp>
        <p:sp>
          <p:nvSpPr>
            <p:cNvPr name="TextBox 38" id="38"/>
            <p:cNvSpPr txBox="true"/>
            <p:nvPr/>
          </p:nvSpPr>
          <p:spPr>
            <a:xfrm>
              <a:off x="0" y="0"/>
              <a:ext cx="3803904" cy="1463040"/>
            </a:xfrm>
            <a:prstGeom prst="rect">
              <a:avLst/>
            </a:prstGeom>
          </p:spPr>
          <p:txBody>
            <a:bodyPr anchor="ctr" rtlCol="false" tIns="0" lIns="0" bIns="0" rIns="0"/>
            <a:lstStyle/>
            <a:p>
              <a:pPr algn="ctr">
                <a:lnSpc>
                  <a:spcPts val="2483"/>
                </a:lnSpc>
              </a:pPr>
              <a:r>
                <a:rPr lang="en-US" b="true" sz="2069">
                  <a:solidFill>
                    <a:srgbClr val="1F2B5B"/>
                  </a:solidFill>
                  <a:latin typeface="Inter Bold"/>
                  <a:ea typeface="Inter Bold"/>
                  <a:cs typeface="Inter Bold"/>
                  <a:sym typeface="Inter Bold"/>
                </a:rPr>
                <a:t>FAISS retrieval</a:t>
              </a:r>
            </a:p>
            <a:p>
              <a:pPr algn="ctr">
                <a:lnSpc>
                  <a:spcPts val="2483"/>
                </a:lnSpc>
              </a:pPr>
              <a:r>
                <a:rPr lang="en-US" b="true" sz="2069">
                  <a:solidFill>
                    <a:srgbClr val="1F2B5B"/>
                  </a:solidFill>
                  <a:latin typeface="Inter Bold"/>
                  <a:ea typeface="Inter Bold"/>
                  <a:cs typeface="Inter Bold"/>
                  <a:sym typeface="Inter Bold"/>
                </a:rPr>
                <a:t>+ similarity floor</a:t>
              </a:r>
            </a:p>
          </p:txBody>
        </p:sp>
      </p:grpSp>
      <p:grpSp>
        <p:nvGrpSpPr>
          <p:cNvPr name="Group 39" id="39"/>
          <p:cNvGrpSpPr/>
          <p:nvPr/>
        </p:nvGrpSpPr>
        <p:grpSpPr>
          <a:xfrm rot="0">
            <a:off x="14045184" y="3236976"/>
            <a:ext cx="274320" cy="502920"/>
            <a:chOff x="0" y="0"/>
            <a:chExt cx="365760" cy="670560"/>
          </a:xfrm>
        </p:grpSpPr>
        <p:sp>
          <p:nvSpPr>
            <p:cNvPr name="Freeform 40" id="40"/>
            <p:cNvSpPr/>
            <p:nvPr/>
          </p:nvSpPr>
          <p:spPr>
            <a:xfrm flipH="false" flipV="false" rot="0">
              <a:off x="0" y="0"/>
              <a:ext cx="365760" cy="670560"/>
            </a:xfrm>
            <a:custGeom>
              <a:avLst/>
              <a:gdLst/>
              <a:ahLst/>
              <a:cxnLst/>
              <a:rect r="r" b="b" t="t" l="l"/>
              <a:pathLst>
                <a:path h="670560" w="365760">
                  <a:moveTo>
                    <a:pt x="0" y="0"/>
                  </a:moveTo>
                  <a:lnTo>
                    <a:pt x="365760" y="0"/>
                  </a:lnTo>
                  <a:lnTo>
                    <a:pt x="365760" y="670560"/>
                  </a:lnTo>
                  <a:lnTo>
                    <a:pt x="0" y="670560"/>
                  </a:lnTo>
                  <a:close/>
                </a:path>
              </a:pathLst>
            </a:custGeom>
            <a:blipFill>
              <a:blip r:embed="rId5">
                <a:alphaModFix amt="0"/>
              </a:blip>
              <a:stretch>
                <a:fillRect l="-180946" t="0" r="-180946" b="1818"/>
              </a:stretch>
            </a:blipFill>
          </p:spPr>
        </p:sp>
        <p:sp>
          <p:nvSpPr>
            <p:cNvPr name="TextBox 41" id="41"/>
            <p:cNvSpPr txBox="true"/>
            <p:nvPr/>
          </p:nvSpPr>
          <p:spPr>
            <a:xfrm>
              <a:off x="0" y="-9525"/>
              <a:ext cx="365760" cy="680085"/>
            </a:xfrm>
            <a:prstGeom prst="rect">
              <a:avLst/>
            </a:prstGeom>
          </p:spPr>
          <p:txBody>
            <a:bodyPr anchor="ctr" rtlCol="false" tIns="0" lIns="0" bIns="0" rIns="0"/>
            <a:lstStyle/>
            <a:p>
              <a:pPr algn="ctr">
                <a:lnSpc>
                  <a:spcPts val="2700"/>
                </a:lnSpc>
              </a:pPr>
              <a:r>
                <a:rPr lang="en-US" b="true" sz="2250">
                  <a:solidFill>
                    <a:srgbClr val="8D140B"/>
                  </a:solidFill>
                  <a:latin typeface="Bricolage Grotesque Bold"/>
                  <a:ea typeface="Bricolage Grotesque Bold"/>
                  <a:cs typeface="Bricolage Grotesque Bold"/>
                  <a:sym typeface="Bricolage Grotesque Bold"/>
                </a:rPr>
                <a:t>→</a:t>
              </a:r>
            </a:p>
          </p:txBody>
        </p:sp>
      </p:grpSp>
      <p:grpSp>
        <p:nvGrpSpPr>
          <p:cNvPr name="Group 42" id="42"/>
          <p:cNvGrpSpPr/>
          <p:nvPr/>
        </p:nvGrpSpPr>
        <p:grpSpPr>
          <a:xfrm rot="0">
            <a:off x="14309979" y="2843403"/>
            <a:ext cx="3091434" cy="1280922"/>
            <a:chOff x="0" y="0"/>
            <a:chExt cx="4121912" cy="1707896"/>
          </a:xfrm>
        </p:grpSpPr>
        <p:sp>
          <p:nvSpPr>
            <p:cNvPr name="Freeform 43" id="43"/>
            <p:cNvSpPr/>
            <p:nvPr/>
          </p:nvSpPr>
          <p:spPr>
            <a:xfrm flipH="false" flipV="false" rot="0">
              <a:off x="0" y="0"/>
              <a:ext cx="4121912" cy="1707896"/>
            </a:xfrm>
            <a:custGeom>
              <a:avLst/>
              <a:gdLst/>
              <a:ahLst/>
              <a:cxnLst/>
              <a:rect r="r" b="b" t="t" l="l"/>
              <a:pathLst>
                <a:path h="1707896" w="4121912">
                  <a:moveTo>
                    <a:pt x="0" y="148463"/>
                  </a:moveTo>
                  <a:cubicBezTo>
                    <a:pt x="0" y="66548"/>
                    <a:pt x="66548" y="0"/>
                    <a:pt x="148463" y="0"/>
                  </a:cubicBezTo>
                  <a:lnTo>
                    <a:pt x="3973449" y="0"/>
                  </a:lnTo>
                  <a:cubicBezTo>
                    <a:pt x="4055491" y="0"/>
                    <a:pt x="4121912" y="66548"/>
                    <a:pt x="4121912" y="148463"/>
                  </a:cubicBezTo>
                  <a:lnTo>
                    <a:pt x="4121912" y="1559433"/>
                  </a:lnTo>
                  <a:cubicBezTo>
                    <a:pt x="4121912" y="1641475"/>
                    <a:pt x="4055364" y="1707896"/>
                    <a:pt x="3973449" y="1707896"/>
                  </a:cubicBezTo>
                  <a:lnTo>
                    <a:pt x="148463" y="1707896"/>
                  </a:lnTo>
                  <a:cubicBezTo>
                    <a:pt x="66548" y="1707896"/>
                    <a:pt x="0" y="1641348"/>
                    <a:pt x="0" y="1559433"/>
                  </a:cubicBezTo>
                  <a:close/>
                </a:path>
              </a:pathLst>
            </a:custGeom>
            <a:solidFill>
              <a:srgbClr val="DFE49F"/>
            </a:solidFill>
            <a:ln w="19050" cap="sq">
              <a:solidFill>
                <a:srgbClr val="065A82"/>
              </a:solidFill>
              <a:prstDash val="solid"/>
              <a:miter/>
            </a:ln>
          </p:spPr>
        </p:sp>
      </p:grpSp>
      <p:grpSp>
        <p:nvGrpSpPr>
          <p:cNvPr name="Group 44" id="44"/>
          <p:cNvGrpSpPr/>
          <p:nvPr/>
        </p:nvGrpSpPr>
        <p:grpSpPr>
          <a:xfrm rot="0">
            <a:off x="14429232" y="2935224"/>
            <a:ext cx="2852928" cy="1097280"/>
            <a:chOff x="0" y="0"/>
            <a:chExt cx="3803904" cy="1463040"/>
          </a:xfrm>
        </p:grpSpPr>
        <p:sp>
          <p:nvSpPr>
            <p:cNvPr name="Freeform 45" id="45"/>
            <p:cNvSpPr/>
            <p:nvPr/>
          </p:nvSpPr>
          <p:spPr>
            <a:xfrm flipH="false" flipV="false" rot="0">
              <a:off x="0" y="0"/>
              <a:ext cx="3803904" cy="1463040"/>
            </a:xfrm>
            <a:custGeom>
              <a:avLst/>
              <a:gdLst/>
              <a:ahLst/>
              <a:cxnLst/>
              <a:rect r="r" b="b" t="t" l="l"/>
              <a:pathLst>
                <a:path h="1463040" w="3803904">
                  <a:moveTo>
                    <a:pt x="0" y="0"/>
                  </a:moveTo>
                  <a:lnTo>
                    <a:pt x="3803904" y="0"/>
                  </a:lnTo>
                  <a:lnTo>
                    <a:pt x="3803904" y="1463040"/>
                  </a:lnTo>
                  <a:lnTo>
                    <a:pt x="0" y="1463040"/>
                  </a:lnTo>
                  <a:close/>
                </a:path>
              </a:pathLst>
            </a:custGeom>
            <a:blipFill>
              <a:blip r:embed="rId5">
                <a:alphaModFix amt="0"/>
              </a:blip>
              <a:stretch>
                <a:fillRect l="0" t="-661" r="0" b="-661"/>
              </a:stretch>
            </a:blipFill>
          </p:spPr>
        </p:sp>
        <p:sp>
          <p:nvSpPr>
            <p:cNvPr name="TextBox 46" id="46"/>
            <p:cNvSpPr txBox="true"/>
            <p:nvPr/>
          </p:nvSpPr>
          <p:spPr>
            <a:xfrm>
              <a:off x="0" y="0"/>
              <a:ext cx="3803904" cy="1463040"/>
            </a:xfrm>
            <a:prstGeom prst="rect">
              <a:avLst/>
            </a:prstGeom>
          </p:spPr>
          <p:txBody>
            <a:bodyPr anchor="ctr" rtlCol="false" tIns="0" lIns="0" bIns="0" rIns="0"/>
            <a:lstStyle/>
            <a:p>
              <a:pPr algn="ctr">
                <a:lnSpc>
                  <a:spcPts val="2483"/>
                </a:lnSpc>
              </a:pPr>
              <a:r>
                <a:rPr lang="en-US" b="true" sz="2069">
                  <a:solidFill>
                    <a:srgbClr val="1F2B5B"/>
                  </a:solidFill>
                  <a:latin typeface="Inter Bold"/>
                  <a:ea typeface="Inter Bold"/>
                  <a:cs typeface="Inter Bold"/>
                  <a:sym typeface="Inter Bold"/>
                </a:rPr>
                <a:t>Cited answer</a:t>
              </a:r>
            </a:p>
            <a:p>
              <a:pPr algn="ctr">
                <a:lnSpc>
                  <a:spcPts val="2483"/>
                </a:lnSpc>
              </a:pPr>
              <a:r>
                <a:rPr lang="en-US" b="true" sz="2069">
                  <a:solidFill>
                    <a:srgbClr val="1F2B5B"/>
                  </a:solidFill>
                  <a:latin typeface="Inter Bold"/>
                  <a:ea typeface="Inter Bold"/>
                  <a:cs typeface="Inter Bold"/>
                  <a:sym typeface="Inter Bold"/>
                </a:rPr>
                <a:t>citations verified</a:t>
              </a:r>
            </a:p>
          </p:txBody>
        </p:sp>
      </p:grpSp>
      <p:grpSp>
        <p:nvGrpSpPr>
          <p:cNvPr name="Group 47" id="47"/>
          <p:cNvGrpSpPr/>
          <p:nvPr/>
        </p:nvGrpSpPr>
        <p:grpSpPr>
          <a:xfrm rot="0">
            <a:off x="657225" y="4352163"/>
            <a:ext cx="8522970" cy="2860548"/>
            <a:chOff x="0" y="0"/>
            <a:chExt cx="11363960" cy="3814064"/>
          </a:xfrm>
        </p:grpSpPr>
        <p:sp>
          <p:nvSpPr>
            <p:cNvPr name="Freeform 48" id="48"/>
            <p:cNvSpPr/>
            <p:nvPr/>
          </p:nvSpPr>
          <p:spPr>
            <a:xfrm flipH="false" flipV="false" rot="0">
              <a:off x="0" y="0"/>
              <a:ext cx="11363960" cy="3814064"/>
            </a:xfrm>
            <a:custGeom>
              <a:avLst/>
              <a:gdLst/>
              <a:ahLst/>
              <a:cxnLst/>
              <a:rect r="r" b="b" t="t" l="l"/>
              <a:pathLst>
                <a:path h="3814064" w="11363960">
                  <a:moveTo>
                    <a:pt x="0" y="288914"/>
                  </a:moveTo>
                  <a:cubicBezTo>
                    <a:pt x="0" y="129465"/>
                    <a:pt x="82804" y="0"/>
                    <a:pt x="184785" y="0"/>
                  </a:cubicBezTo>
                  <a:lnTo>
                    <a:pt x="11179175" y="0"/>
                  </a:lnTo>
                  <a:cubicBezTo>
                    <a:pt x="11281283" y="0"/>
                    <a:pt x="11363960" y="129465"/>
                    <a:pt x="11363960" y="288914"/>
                  </a:cubicBezTo>
                  <a:lnTo>
                    <a:pt x="11363960" y="3525150"/>
                  </a:lnTo>
                  <a:cubicBezTo>
                    <a:pt x="11363960" y="3684797"/>
                    <a:pt x="11281156" y="3814064"/>
                    <a:pt x="11179175" y="3814064"/>
                  </a:cubicBezTo>
                  <a:lnTo>
                    <a:pt x="184785" y="3814064"/>
                  </a:lnTo>
                  <a:cubicBezTo>
                    <a:pt x="82804" y="3814064"/>
                    <a:pt x="0" y="3684599"/>
                    <a:pt x="0" y="3525150"/>
                  </a:cubicBezTo>
                  <a:close/>
                </a:path>
              </a:pathLst>
            </a:custGeom>
            <a:solidFill>
              <a:srgbClr val="DBE09F">
                <a:alpha val="16471"/>
              </a:srgbClr>
            </a:solidFill>
            <a:ln w="19050" cap="sq">
              <a:solidFill>
                <a:srgbClr val="DDE5EA"/>
              </a:solidFill>
              <a:prstDash val="solid"/>
              <a:miter/>
            </a:ln>
          </p:spPr>
        </p:sp>
      </p:grpSp>
      <p:grpSp>
        <p:nvGrpSpPr>
          <p:cNvPr name="Group 49" id="49"/>
          <p:cNvGrpSpPr/>
          <p:nvPr/>
        </p:nvGrpSpPr>
        <p:grpSpPr>
          <a:xfrm rot="0">
            <a:off x="1152144" y="4476369"/>
            <a:ext cx="8503920" cy="433959"/>
            <a:chOff x="0" y="0"/>
            <a:chExt cx="11338560" cy="578612"/>
          </a:xfrm>
        </p:grpSpPr>
        <p:sp>
          <p:nvSpPr>
            <p:cNvPr name="Freeform 50" id="50"/>
            <p:cNvSpPr/>
            <p:nvPr/>
          </p:nvSpPr>
          <p:spPr>
            <a:xfrm flipH="false" flipV="false" rot="0">
              <a:off x="0" y="0"/>
              <a:ext cx="11338560" cy="578612"/>
            </a:xfrm>
            <a:custGeom>
              <a:avLst/>
              <a:gdLst/>
              <a:ahLst/>
              <a:cxnLst/>
              <a:rect r="r" b="b" t="t" l="l"/>
              <a:pathLst>
                <a:path h="578612" w="11338560">
                  <a:moveTo>
                    <a:pt x="0" y="0"/>
                  </a:moveTo>
                  <a:lnTo>
                    <a:pt x="11338560" y="0"/>
                  </a:lnTo>
                  <a:lnTo>
                    <a:pt x="11338560" y="578612"/>
                  </a:lnTo>
                  <a:lnTo>
                    <a:pt x="0" y="578612"/>
                  </a:lnTo>
                  <a:close/>
                </a:path>
              </a:pathLst>
            </a:custGeom>
            <a:blipFill>
              <a:blip r:embed="rId5">
                <a:alphaModFix amt="0"/>
              </a:blip>
              <a:stretch>
                <a:fillRect l="0" t="-334421" r="0" b="-329241"/>
              </a:stretch>
            </a:blipFill>
          </p:spPr>
        </p:sp>
        <p:sp>
          <p:nvSpPr>
            <p:cNvPr name="TextBox 51" id="51"/>
            <p:cNvSpPr txBox="true"/>
            <p:nvPr/>
          </p:nvSpPr>
          <p:spPr>
            <a:xfrm>
              <a:off x="0" y="0"/>
              <a:ext cx="11338560" cy="578612"/>
            </a:xfrm>
            <a:prstGeom prst="rect">
              <a:avLst/>
            </a:prstGeom>
          </p:spPr>
          <p:txBody>
            <a:bodyPr anchor="ctr" rtlCol="false" tIns="0" lIns="0" bIns="0" rIns="0"/>
            <a:lstStyle/>
            <a:p>
              <a:pPr algn="l">
                <a:lnSpc>
                  <a:spcPts val="2340"/>
                </a:lnSpc>
              </a:pPr>
              <a:r>
                <a:rPr lang="en-US" b="true" sz="1950">
                  <a:solidFill>
                    <a:srgbClr val="8D140B"/>
                  </a:solidFill>
                  <a:latin typeface="Bricolage Grotesque Bold"/>
                  <a:ea typeface="Bricolage Grotesque Bold"/>
                  <a:cs typeface="Bricolage Grotesque Bold"/>
                  <a:sym typeface="Bricolage Grotesque Bold"/>
                </a:rPr>
                <a:t>DOCUMENT CORPUS</a:t>
              </a:r>
            </a:p>
          </p:txBody>
        </p:sp>
      </p:grpSp>
      <p:grpSp>
        <p:nvGrpSpPr>
          <p:cNvPr name="Group 52" id="52"/>
          <p:cNvGrpSpPr/>
          <p:nvPr/>
        </p:nvGrpSpPr>
        <p:grpSpPr>
          <a:xfrm rot="0">
            <a:off x="822960" y="4910328"/>
            <a:ext cx="8503920" cy="2414016"/>
            <a:chOff x="0" y="0"/>
            <a:chExt cx="11338560" cy="3218688"/>
          </a:xfrm>
        </p:grpSpPr>
        <p:sp>
          <p:nvSpPr>
            <p:cNvPr name="Freeform 53" id="53"/>
            <p:cNvSpPr/>
            <p:nvPr/>
          </p:nvSpPr>
          <p:spPr>
            <a:xfrm flipH="false" flipV="false" rot="0">
              <a:off x="0" y="0"/>
              <a:ext cx="11338560" cy="3218688"/>
            </a:xfrm>
            <a:custGeom>
              <a:avLst/>
              <a:gdLst/>
              <a:ahLst/>
              <a:cxnLst/>
              <a:rect r="r" b="b" t="t" l="l"/>
              <a:pathLst>
                <a:path h="3218688" w="11338560">
                  <a:moveTo>
                    <a:pt x="0" y="0"/>
                  </a:moveTo>
                  <a:lnTo>
                    <a:pt x="11338560" y="0"/>
                  </a:lnTo>
                  <a:lnTo>
                    <a:pt x="11338560" y="3218688"/>
                  </a:lnTo>
                  <a:lnTo>
                    <a:pt x="0" y="3218688"/>
                  </a:lnTo>
                  <a:close/>
                </a:path>
              </a:pathLst>
            </a:custGeom>
            <a:blipFill>
              <a:blip r:embed="rId5">
                <a:alphaModFix amt="0"/>
              </a:blip>
              <a:stretch>
                <a:fillRect l="0" t="-18640" r="0" b="-18640"/>
              </a:stretch>
            </a:blipFill>
          </p:spPr>
        </p:sp>
        <p:sp>
          <p:nvSpPr>
            <p:cNvPr name="TextBox 54" id="54"/>
            <p:cNvSpPr txBox="true"/>
            <p:nvPr/>
          </p:nvSpPr>
          <p:spPr>
            <a:xfrm>
              <a:off x="0" y="-9525"/>
              <a:ext cx="11338560" cy="3228213"/>
            </a:xfrm>
            <a:prstGeom prst="rect">
              <a:avLst/>
            </a:prstGeom>
          </p:spPr>
          <p:txBody>
            <a:bodyPr anchor="ctr" rtlCol="false" tIns="0" lIns="0" bIns="0" rIns="0"/>
            <a:lstStyle/>
            <a:p>
              <a:pPr algn="l" marL="347471" indent="-173735" lvl="1">
                <a:lnSpc>
                  <a:spcPts val="2303"/>
                </a:lnSpc>
                <a:buFont typeface="Arial"/>
                <a:buChar char="•"/>
              </a:pPr>
              <a:r>
                <a:rPr lang="en-US" b="true" sz="1919">
                  <a:solidFill>
                    <a:srgbClr val="1F2B5B"/>
                  </a:solidFill>
                  <a:latin typeface="Inter Bold"/>
                  <a:ea typeface="Inter Bold"/>
                  <a:cs typeface="Inter Bold"/>
                  <a:sym typeface="Inter Bold"/>
                </a:rPr>
                <a:t>AHRQ MATCH Toolkit — medication reconciliation at transitions</a:t>
              </a:r>
            </a:p>
            <a:p>
              <a:pPr algn="l" marL="347471" indent="-173735" lvl="1">
                <a:lnSpc>
                  <a:spcPts val="2303"/>
                </a:lnSpc>
                <a:buFont typeface="Arial"/>
                <a:buChar char="•"/>
              </a:pPr>
              <a:r>
                <a:rPr lang="en-US" b="true" sz="1919">
                  <a:solidFill>
                    <a:srgbClr val="1F2B5B"/>
                  </a:solidFill>
                  <a:latin typeface="Inter Bold"/>
                  <a:ea typeface="Inter Bold"/>
                  <a:cs typeface="Inter Bold"/>
                  <a:sym typeface="Inter Bold"/>
                </a:rPr>
                <a:t>AHRQ Re-Engineered Discharge (RED) Toolkit</a:t>
              </a:r>
            </a:p>
            <a:p>
              <a:pPr algn="l" marL="347471" indent="-173735" lvl="1">
                <a:lnSpc>
                  <a:spcPts val="2303"/>
                </a:lnSpc>
                <a:buFont typeface="Arial"/>
                <a:buChar char="•"/>
              </a:pPr>
              <a:r>
                <a:rPr lang="en-US" b="true" sz="1919">
                  <a:solidFill>
                    <a:srgbClr val="1F2B5B"/>
                  </a:solidFill>
                  <a:latin typeface="Inter Bold"/>
                  <a:ea typeface="Inter Bold"/>
                  <a:cs typeface="Inter Bold"/>
                  <a:sym typeface="Inter Bold"/>
                </a:rPr>
                <a:t>42 CFR § 482.43 — CMS discharge-planning Condition of Participation</a:t>
              </a:r>
            </a:p>
            <a:p>
              <a:pPr algn="l" marL="347471" indent="-173735" lvl="1">
                <a:lnSpc>
                  <a:spcPts val="2303"/>
                </a:lnSpc>
                <a:buFont typeface="Arial"/>
                <a:buChar char="•"/>
              </a:pPr>
              <a:r>
                <a:rPr lang="en-US" b="true" sz="1919">
                  <a:solidFill>
                    <a:srgbClr val="1F2B5B"/>
                  </a:solidFill>
                  <a:latin typeface="Inter Bold"/>
                  <a:ea typeface="Inter Bold"/>
                  <a:cs typeface="Inter Bold"/>
                  <a:sym typeface="Inter Bold"/>
                </a:rPr>
                <a:t>AHRQ Health Literacy Universal Precautions Toolkit</a:t>
              </a:r>
            </a:p>
            <a:p>
              <a:pPr algn="l" marL="347471" indent="-173735" lvl="1">
                <a:lnSpc>
                  <a:spcPts val="2303"/>
                </a:lnSpc>
                <a:buFont typeface="Arial"/>
                <a:buChar char="•"/>
              </a:pPr>
              <a:r>
                <a:rPr lang="en-US" b="true" sz="1919">
                  <a:solidFill>
                    <a:srgbClr val="1F2B5B"/>
                  </a:solidFill>
                  <a:latin typeface="Inter Bold"/>
                  <a:ea typeface="Inter Bold"/>
                  <a:cs typeface="Inter Bold"/>
                  <a:sym typeface="Inter Bold"/>
                </a:rPr>
                <a:t>CMS readmission measure and CBM guidance</a:t>
              </a:r>
            </a:p>
          </p:txBody>
        </p:sp>
      </p:grpSp>
      <p:grpSp>
        <p:nvGrpSpPr>
          <p:cNvPr name="Group 55" id="55"/>
          <p:cNvGrpSpPr/>
          <p:nvPr/>
        </p:nvGrpSpPr>
        <p:grpSpPr>
          <a:xfrm rot="0">
            <a:off x="9865995" y="4516755"/>
            <a:ext cx="3612642" cy="1664970"/>
            <a:chOff x="0" y="0"/>
            <a:chExt cx="4816856" cy="2219960"/>
          </a:xfrm>
        </p:grpSpPr>
        <p:sp>
          <p:nvSpPr>
            <p:cNvPr name="Freeform 56" id="56"/>
            <p:cNvSpPr/>
            <p:nvPr/>
          </p:nvSpPr>
          <p:spPr>
            <a:xfrm flipH="false" flipV="false" rot="0">
              <a:off x="0" y="0"/>
              <a:ext cx="4816856" cy="2219960"/>
            </a:xfrm>
            <a:custGeom>
              <a:avLst/>
              <a:gdLst/>
              <a:ahLst/>
              <a:cxnLst/>
              <a:rect r="r" b="b" t="t" l="l"/>
              <a:pathLst>
                <a:path h="2219960" w="4816856">
                  <a:moveTo>
                    <a:pt x="0" y="147955"/>
                  </a:moveTo>
                  <a:cubicBezTo>
                    <a:pt x="0" y="66294"/>
                    <a:pt x="66294" y="0"/>
                    <a:pt x="147955" y="0"/>
                  </a:cubicBezTo>
                  <a:lnTo>
                    <a:pt x="4668901" y="0"/>
                  </a:lnTo>
                  <a:cubicBezTo>
                    <a:pt x="4750689" y="0"/>
                    <a:pt x="4816856" y="66294"/>
                    <a:pt x="4816856" y="147955"/>
                  </a:cubicBezTo>
                  <a:lnTo>
                    <a:pt x="4816856" y="2072005"/>
                  </a:lnTo>
                  <a:cubicBezTo>
                    <a:pt x="4816856" y="2153793"/>
                    <a:pt x="4750562" y="2219960"/>
                    <a:pt x="4668901" y="2219960"/>
                  </a:cubicBezTo>
                  <a:lnTo>
                    <a:pt x="147955" y="2219960"/>
                  </a:lnTo>
                  <a:cubicBezTo>
                    <a:pt x="66294" y="2219960"/>
                    <a:pt x="0" y="2153666"/>
                    <a:pt x="0" y="2072005"/>
                  </a:cubicBezTo>
                  <a:close/>
                </a:path>
              </a:pathLst>
            </a:custGeom>
            <a:solidFill>
              <a:srgbClr val="FFFFFF"/>
            </a:solidFill>
            <a:ln w="19050" cap="sq">
              <a:solidFill>
                <a:srgbClr val="F4F7F9"/>
              </a:solidFill>
              <a:prstDash val="solid"/>
              <a:miter/>
            </a:ln>
          </p:spPr>
        </p:sp>
      </p:grpSp>
      <p:grpSp>
        <p:nvGrpSpPr>
          <p:cNvPr name="Group 57" id="57"/>
          <p:cNvGrpSpPr/>
          <p:nvPr/>
        </p:nvGrpSpPr>
        <p:grpSpPr>
          <a:xfrm rot="0">
            <a:off x="9875520" y="4718304"/>
            <a:ext cx="3593592" cy="1005840"/>
            <a:chOff x="0" y="0"/>
            <a:chExt cx="4791456" cy="1341120"/>
          </a:xfrm>
        </p:grpSpPr>
        <p:sp>
          <p:nvSpPr>
            <p:cNvPr name="Freeform 58" id="58"/>
            <p:cNvSpPr/>
            <p:nvPr/>
          </p:nvSpPr>
          <p:spPr>
            <a:xfrm flipH="false" flipV="false" rot="0">
              <a:off x="0" y="0"/>
              <a:ext cx="4791456" cy="1341121"/>
            </a:xfrm>
            <a:custGeom>
              <a:avLst/>
              <a:gdLst/>
              <a:ahLst/>
              <a:cxnLst/>
              <a:rect r="r" b="b" t="t" l="l"/>
              <a:pathLst>
                <a:path h="1341121" w="4791456">
                  <a:moveTo>
                    <a:pt x="0" y="0"/>
                  </a:moveTo>
                  <a:lnTo>
                    <a:pt x="4791456" y="0"/>
                  </a:lnTo>
                  <a:lnTo>
                    <a:pt x="4791456" y="1341121"/>
                  </a:lnTo>
                  <a:lnTo>
                    <a:pt x="0" y="1341121"/>
                  </a:lnTo>
                  <a:close/>
                </a:path>
              </a:pathLst>
            </a:custGeom>
            <a:blipFill>
              <a:blip r:embed="rId5">
                <a:alphaModFix amt="0"/>
              </a:blip>
              <a:stretch>
                <a:fillRect l="0" t="-27069" r="0" b="-12160"/>
              </a:stretch>
            </a:blipFill>
          </p:spPr>
        </p:sp>
        <p:sp>
          <p:nvSpPr>
            <p:cNvPr name="TextBox 59" id="59"/>
            <p:cNvSpPr txBox="true"/>
            <p:nvPr/>
          </p:nvSpPr>
          <p:spPr>
            <a:xfrm>
              <a:off x="0" y="-9525"/>
              <a:ext cx="4791456" cy="1350645"/>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0.60</a:t>
              </a:r>
            </a:p>
          </p:txBody>
        </p:sp>
      </p:grpSp>
      <p:grpSp>
        <p:nvGrpSpPr>
          <p:cNvPr name="Group 60" id="60"/>
          <p:cNvGrpSpPr/>
          <p:nvPr/>
        </p:nvGrpSpPr>
        <p:grpSpPr>
          <a:xfrm rot="0">
            <a:off x="10040112" y="5513832"/>
            <a:ext cx="3264408" cy="648674"/>
            <a:chOff x="0" y="0"/>
            <a:chExt cx="4352544" cy="864898"/>
          </a:xfrm>
        </p:grpSpPr>
        <p:sp>
          <p:nvSpPr>
            <p:cNvPr name="Freeform 61" id="61"/>
            <p:cNvSpPr/>
            <p:nvPr/>
          </p:nvSpPr>
          <p:spPr>
            <a:xfrm flipH="false" flipV="false" rot="0">
              <a:off x="0" y="0"/>
              <a:ext cx="4352544" cy="864898"/>
            </a:xfrm>
            <a:custGeom>
              <a:avLst/>
              <a:gdLst/>
              <a:ahLst/>
              <a:cxnLst/>
              <a:rect r="r" b="b" t="t" l="l"/>
              <a:pathLst>
                <a:path h="864898" w="4352544">
                  <a:moveTo>
                    <a:pt x="0" y="0"/>
                  </a:moveTo>
                  <a:lnTo>
                    <a:pt x="4352544" y="0"/>
                  </a:lnTo>
                  <a:lnTo>
                    <a:pt x="4352544" y="864898"/>
                  </a:lnTo>
                  <a:lnTo>
                    <a:pt x="0" y="864898"/>
                  </a:lnTo>
                  <a:close/>
                </a:path>
              </a:pathLst>
            </a:custGeom>
            <a:blipFill>
              <a:blip r:embed="rId5">
                <a:alphaModFix amt="0"/>
              </a:blip>
              <a:stretch>
                <a:fillRect l="0" t="-54922" r="0" b="-41192"/>
              </a:stretch>
            </a:blipFill>
          </p:spPr>
        </p:sp>
        <p:sp>
          <p:nvSpPr>
            <p:cNvPr name="TextBox 62" id="62"/>
            <p:cNvSpPr txBox="true"/>
            <p:nvPr/>
          </p:nvSpPr>
          <p:spPr>
            <a:xfrm>
              <a:off x="0" y="0"/>
              <a:ext cx="4352544" cy="864898"/>
            </a:xfrm>
            <a:prstGeom prst="rect">
              <a:avLst/>
            </a:prstGeom>
          </p:spPr>
          <p:txBody>
            <a:bodyPr anchor="ctr" rtlCol="false" tIns="0" lIns="0" bIns="0" rIns="0"/>
            <a:lstStyle/>
            <a:p>
              <a:pPr algn="ctr">
                <a:lnSpc>
                  <a:spcPts val="2129"/>
                </a:lnSpc>
              </a:pPr>
              <a:r>
                <a:rPr lang="en-US" b="true" sz="1774">
                  <a:solidFill>
                    <a:srgbClr val="1F2B5B"/>
                  </a:solidFill>
                  <a:latin typeface="Inter Bold"/>
                  <a:ea typeface="Inter Bold"/>
                  <a:cs typeface="Inter Bold"/>
                  <a:sym typeface="Inter Bold"/>
                </a:rPr>
                <a:t>Retrieval Hit@3</a:t>
              </a:r>
            </a:p>
            <a:p>
              <a:pPr algn="ctr">
                <a:lnSpc>
                  <a:spcPts val="2129"/>
                </a:lnSpc>
              </a:pPr>
              <a:r>
                <a:rPr lang="en-US" b="true" sz="1774">
                  <a:solidFill>
                    <a:srgbClr val="1F2B5B"/>
                  </a:solidFill>
                  <a:latin typeface="Inter Bold"/>
                  <a:ea typeface="Inter Bold"/>
                  <a:cs typeface="Inter Bold"/>
                  <a:sym typeface="Inter Bold"/>
                </a:rPr>
                <a:t>on gold question set</a:t>
              </a:r>
            </a:p>
          </p:txBody>
        </p:sp>
      </p:grpSp>
      <p:grpSp>
        <p:nvGrpSpPr>
          <p:cNvPr name="Group 63" id="63"/>
          <p:cNvGrpSpPr/>
          <p:nvPr/>
        </p:nvGrpSpPr>
        <p:grpSpPr>
          <a:xfrm rot="0">
            <a:off x="13816203" y="4516755"/>
            <a:ext cx="3612642" cy="1664970"/>
            <a:chOff x="0" y="0"/>
            <a:chExt cx="4816856" cy="2219960"/>
          </a:xfrm>
        </p:grpSpPr>
        <p:sp>
          <p:nvSpPr>
            <p:cNvPr name="Freeform 64" id="64"/>
            <p:cNvSpPr/>
            <p:nvPr/>
          </p:nvSpPr>
          <p:spPr>
            <a:xfrm flipH="false" flipV="false" rot="0">
              <a:off x="0" y="0"/>
              <a:ext cx="4816856" cy="2219960"/>
            </a:xfrm>
            <a:custGeom>
              <a:avLst/>
              <a:gdLst/>
              <a:ahLst/>
              <a:cxnLst/>
              <a:rect r="r" b="b" t="t" l="l"/>
              <a:pathLst>
                <a:path h="2219960" w="4816856">
                  <a:moveTo>
                    <a:pt x="0" y="147955"/>
                  </a:moveTo>
                  <a:cubicBezTo>
                    <a:pt x="0" y="66294"/>
                    <a:pt x="66294" y="0"/>
                    <a:pt x="147955" y="0"/>
                  </a:cubicBezTo>
                  <a:lnTo>
                    <a:pt x="4668901" y="0"/>
                  </a:lnTo>
                  <a:cubicBezTo>
                    <a:pt x="4750689" y="0"/>
                    <a:pt x="4816856" y="66294"/>
                    <a:pt x="4816856" y="147955"/>
                  </a:cubicBezTo>
                  <a:lnTo>
                    <a:pt x="4816856" y="2072005"/>
                  </a:lnTo>
                  <a:cubicBezTo>
                    <a:pt x="4816856" y="2153793"/>
                    <a:pt x="4750562" y="2219960"/>
                    <a:pt x="4668901" y="2219960"/>
                  </a:cubicBezTo>
                  <a:lnTo>
                    <a:pt x="147955" y="2219960"/>
                  </a:lnTo>
                  <a:cubicBezTo>
                    <a:pt x="66294" y="2219960"/>
                    <a:pt x="0" y="2153666"/>
                    <a:pt x="0" y="2072005"/>
                  </a:cubicBezTo>
                  <a:close/>
                </a:path>
              </a:pathLst>
            </a:custGeom>
            <a:solidFill>
              <a:srgbClr val="FFFFFF"/>
            </a:solidFill>
            <a:ln w="19050" cap="sq">
              <a:solidFill>
                <a:srgbClr val="F4F7F9"/>
              </a:solidFill>
              <a:prstDash val="solid"/>
              <a:miter/>
            </a:ln>
          </p:spPr>
        </p:sp>
      </p:grpSp>
      <p:grpSp>
        <p:nvGrpSpPr>
          <p:cNvPr name="Group 65" id="65"/>
          <p:cNvGrpSpPr/>
          <p:nvPr/>
        </p:nvGrpSpPr>
        <p:grpSpPr>
          <a:xfrm rot="0">
            <a:off x="13825728" y="4718304"/>
            <a:ext cx="3593592" cy="1005840"/>
            <a:chOff x="0" y="0"/>
            <a:chExt cx="4791456" cy="1341120"/>
          </a:xfrm>
        </p:grpSpPr>
        <p:sp>
          <p:nvSpPr>
            <p:cNvPr name="Freeform 66" id="66"/>
            <p:cNvSpPr/>
            <p:nvPr/>
          </p:nvSpPr>
          <p:spPr>
            <a:xfrm flipH="false" flipV="false" rot="0">
              <a:off x="0" y="0"/>
              <a:ext cx="4791456" cy="1341121"/>
            </a:xfrm>
            <a:custGeom>
              <a:avLst/>
              <a:gdLst/>
              <a:ahLst/>
              <a:cxnLst/>
              <a:rect r="r" b="b" t="t" l="l"/>
              <a:pathLst>
                <a:path h="1341121" w="4791456">
                  <a:moveTo>
                    <a:pt x="0" y="0"/>
                  </a:moveTo>
                  <a:lnTo>
                    <a:pt x="4791456" y="0"/>
                  </a:lnTo>
                  <a:lnTo>
                    <a:pt x="4791456" y="1341121"/>
                  </a:lnTo>
                  <a:lnTo>
                    <a:pt x="0" y="1341121"/>
                  </a:lnTo>
                  <a:close/>
                </a:path>
              </a:pathLst>
            </a:custGeom>
            <a:blipFill>
              <a:blip r:embed="rId5">
                <a:alphaModFix amt="0"/>
              </a:blip>
              <a:stretch>
                <a:fillRect l="0" t="-27069" r="0" b="-12160"/>
              </a:stretch>
            </a:blipFill>
          </p:spPr>
        </p:sp>
        <p:sp>
          <p:nvSpPr>
            <p:cNvPr name="TextBox 67" id="67"/>
            <p:cNvSpPr txBox="true"/>
            <p:nvPr/>
          </p:nvSpPr>
          <p:spPr>
            <a:xfrm>
              <a:off x="0" y="-9525"/>
              <a:ext cx="4791456" cy="1350645"/>
            </a:xfrm>
            <a:prstGeom prst="rect">
              <a:avLst/>
            </a:prstGeom>
          </p:spPr>
          <p:txBody>
            <a:bodyPr anchor="ctr" rtlCol="false" tIns="0" lIns="0" bIns="0" rIns="0"/>
            <a:lstStyle/>
            <a:p>
              <a:pPr algn="ctr">
                <a:lnSpc>
                  <a:spcPts val="5400"/>
                </a:lnSpc>
              </a:pPr>
              <a:r>
                <a:rPr lang="en-US" b="true" sz="4500">
                  <a:solidFill>
                    <a:srgbClr val="8D140B"/>
                  </a:solidFill>
                  <a:latin typeface="Bricolage Grotesque Bold"/>
                  <a:ea typeface="Bricolage Grotesque Bold"/>
                  <a:cs typeface="Bricolage Grotesque Bold"/>
                  <a:sym typeface="Bricolage Grotesque Bold"/>
                </a:rPr>
                <a:t>0.50</a:t>
              </a:r>
            </a:p>
          </p:txBody>
        </p:sp>
      </p:grpSp>
      <p:grpSp>
        <p:nvGrpSpPr>
          <p:cNvPr name="Group 68" id="68"/>
          <p:cNvGrpSpPr/>
          <p:nvPr/>
        </p:nvGrpSpPr>
        <p:grpSpPr>
          <a:xfrm rot="0">
            <a:off x="13990320" y="5513832"/>
            <a:ext cx="3264408" cy="648674"/>
            <a:chOff x="0" y="0"/>
            <a:chExt cx="4352544" cy="864898"/>
          </a:xfrm>
        </p:grpSpPr>
        <p:sp>
          <p:nvSpPr>
            <p:cNvPr name="Freeform 69" id="69"/>
            <p:cNvSpPr/>
            <p:nvPr/>
          </p:nvSpPr>
          <p:spPr>
            <a:xfrm flipH="false" flipV="false" rot="0">
              <a:off x="0" y="0"/>
              <a:ext cx="4352544" cy="864898"/>
            </a:xfrm>
            <a:custGeom>
              <a:avLst/>
              <a:gdLst/>
              <a:ahLst/>
              <a:cxnLst/>
              <a:rect r="r" b="b" t="t" l="l"/>
              <a:pathLst>
                <a:path h="864898" w="4352544">
                  <a:moveTo>
                    <a:pt x="0" y="0"/>
                  </a:moveTo>
                  <a:lnTo>
                    <a:pt x="4352544" y="0"/>
                  </a:lnTo>
                  <a:lnTo>
                    <a:pt x="4352544" y="864898"/>
                  </a:lnTo>
                  <a:lnTo>
                    <a:pt x="0" y="864898"/>
                  </a:lnTo>
                  <a:close/>
                </a:path>
              </a:pathLst>
            </a:custGeom>
            <a:blipFill>
              <a:blip r:embed="rId5">
                <a:alphaModFix amt="0"/>
              </a:blip>
              <a:stretch>
                <a:fillRect l="0" t="-54922" r="0" b="-41192"/>
              </a:stretch>
            </a:blipFill>
          </p:spPr>
        </p:sp>
        <p:sp>
          <p:nvSpPr>
            <p:cNvPr name="TextBox 70" id="70"/>
            <p:cNvSpPr txBox="true"/>
            <p:nvPr/>
          </p:nvSpPr>
          <p:spPr>
            <a:xfrm>
              <a:off x="0" y="0"/>
              <a:ext cx="4352544" cy="864898"/>
            </a:xfrm>
            <a:prstGeom prst="rect">
              <a:avLst/>
            </a:prstGeom>
          </p:spPr>
          <p:txBody>
            <a:bodyPr anchor="ctr" rtlCol="false" tIns="0" lIns="0" bIns="0" rIns="0"/>
            <a:lstStyle/>
            <a:p>
              <a:pPr algn="ctr">
                <a:lnSpc>
                  <a:spcPts val="2129"/>
                </a:lnSpc>
              </a:pPr>
              <a:r>
                <a:rPr lang="en-US" b="true" sz="1774">
                  <a:solidFill>
                    <a:srgbClr val="1F2B5B"/>
                  </a:solidFill>
                  <a:latin typeface="Inter Bold"/>
                  <a:ea typeface="Inter Bold"/>
                  <a:cs typeface="Inter Bold"/>
                  <a:sym typeface="Inter Bold"/>
                </a:rPr>
                <a:t>Mean groundedness</a:t>
              </a:r>
            </a:p>
            <a:p>
              <a:pPr algn="ctr">
                <a:lnSpc>
                  <a:spcPts val="2129"/>
                </a:lnSpc>
              </a:pPr>
              <a:r>
                <a:rPr lang="en-US" b="true" sz="1774">
                  <a:solidFill>
                    <a:srgbClr val="1F2B5B"/>
                  </a:solidFill>
                  <a:latin typeface="Inter Bold"/>
                  <a:ea typeface="Inter Bold"/>
                  <a:cs typeface="Inter Bold"/>
                  <a:sym typeface="Inter Bold"/>
                </a:rPr>
                <a:t>of generated answers</a:t>
              </a:r>
            </a:p>
          </p:txBody>
        </p:sp>
      </p:grpSp>
      <p:grpSp>
        <p:nvGrpSpPr>
          <p:cNvPr name="Group 71" id="71"/>
          <p:cNvGrpSpPr/>
          <p:nvPr/>
        </p:nvGrpSpPr>
        <p:grpSpPr>
          <a:xfrm rot="0">
            <a:off x="9865995" y="6436995"/>
            <a:ext cx="7562850" cy="1829562"/>
            <a:chOff x="0" y="0"/>
            <a:chExt cx="10083800" cy="2439416"/>
          </a:xfrm>
        </p:grpSpPr>
        <p:sp>
          <p:nvSpPr>
            <p:cNvPr name="Freeform 72" id="72"/>
            <p:cNvSpPr/>
            <p:nvPr/>
          </p:nvSpPr>
          <p:spPr>
            <a:xfrm flipH="false" flipV="false" rot="0">
              <a:off x="0" y="0"/>
              <a:ext cx="10083800" cy="2439416"/>
            </a:xfrm>
            <a:custGeom>
              <a:avLst/>
              <a:gdLst/>
              <a:ahLst/>
              <a:cxnLst/>
              <a:rect r="r" b="b" t="t" l="l"/>
              <a:pathLst>
                <a:path h="2439416" w="10083800">
                  <a:moveTo>
                    <a:pt x="0" y="184785"/>
                  </a:moveTo>
                  <a:cubicBezTo>
                    <a:pt x="0" y="82804"/>
                    <a:pt x="82804" y="0"/>
                    <a:pt x="184785" y="0"/>
                  </a:cubicBezTo>
                  <a:lnTo>
                    <a:pt x="9899015" y="0"/>
                  </a:lnTo>
                  <a:cubicBezTo>
                    <a:pt x="10000996" y="0"/>
                    <a:pt x="10083800" y="82804"/>
                    <a:pt x="10083800" y="184785"/>
                  </a:cubicBezTo>
                  <a:lnTo>
                    <a:pt x="10083800" y="2254631"/>
                  </a:lnTo>
                  <a:cubicBezTo>
                    <a:pt x="10083800" y="2356739"/>
                    <a:pt x="10000996" y="2439416"/>
                    <a:pt x="9899015" y="2439416"/>
                  </a:cubicBezTo>
                  <a:lnTo>
                    <a:pt x="184785" y="2439416"/>
                  </a:lnTo>
                  <a:cubicBezTo>
                    <a:pt x="82804" y="2439416"/>
                    <a:pt x="0" y="2356612"/>
                    <a:pt x="0" y="2254631"/>
                  </a:cubicBezTo>
                  <a:close/>
                </a:path>
              </a:pathLst>
            </a:custGeom>
            <a:solidFill>
              <a:srgbClr val="FFFFFF"/>
            </a:solidFill>
            <a:ln w="19050" cap="sq">
              <a:solidFill>
                <a:srgbClr val="21295C"/>
              </a:solidFill>
              <a:prstDash val="solid"/>
              <a:miter/>
            </a:ln>
          </p:spPr>
        </p:sp>
      </p:grpSp>
      <p:grpSp>
        <p:nvGrpSpPr>
          <p:cNvPr name="Group 73" id="73"/>
          <p:cNvGrpSpPr/>
          <p:nvPr/>
        </p:nvGrpSpPr>
        <p:grpSpPr>
          <a:xfrm rot="0">
            <a:off x="10204704" y="6611112"/>
            <a:ext cx="6858000" cy="437515"/>
            <a:chOff x="0" y="0"/>
            <a:chExt cx="9144000" cy="583353"/>
          </a:xfrm>
        </p:grpSpPr>
        <p:sp>
          <p:nvSpPr>
            <p:cNvPr name="Freeform 74" id="74"/>
            <p:cNvSpPr/>
            <p:nvPr/>
          </p:nvSpPr>
          <p:spPr>
            <a:xfrm flipH="false" flipV="false" rot="0">
              <a:off x="0" y="0"/>
              <a:ext cx="9144000" cy="583353"/>
            </a:xfrm>
            <a:custGeom>
              <a:avLst/>
              <a:gdLst/>
              <a:ahLst/>
              <a:cxnLst/>
              <a:rect r="r" b="b" t="t" l="l"/>
              <a:pathLst>
                <a:path h="583353" w="9144000">
                  <a:moveTo>
                    <a:pt x="0" y="0"/>
                  </a:moveTo>
                  <a:lnTo>
                    <a:pt x="9144000" y="0"/>
                  </a:lnTo>
                  <a:lnTo>
                    <a:pt x="9144000" y="583353"/>
                  </a:lnTo>
                  <a:lnTo>
                    <a:pt x="0" y="583353"/>
                  </a:lnTo>
                  <a:close/>
                </a:path>
              </a:pathLst>
            </a:custGeom>
            <a:blipFill>
              <a:blip r:embed="rId5">
                <a:alphaModFix amt="0"/>
              </a:blip>
              <a:stretch>
                <a:fillRect l="0" t="-261536" r="0" b="-249315"/>
              </a:stretch>
            </a:blipFill>
          </p:spPr>
        </p:sp>
        <p:sp>
          <p:nvSpPr>
            <p:cNvPr name="TextBox 75" id="75"/>
            <p:cNvSpPr txBox="true"/>
            <p:nvPr/>
          </p:nvSpPr>
          <p:spPr>
            <a:xfrm>
              <a:off x="0" y="0"/>
              <a:ext cx="9144000" cy="583353"/>
            </a:xfrm>
            <a:prstGeom prst="rect">
              <a:avLst/>
            </a:prstGeom>
          </p:spPr>
          <p:txBody>
            <a:bodyPr anchor="ctr" rtlCol="false" tIns="0" lIns="0" bIns="0" rIns="0"/>
            <a:lstStyle/>
            <a:p>
              <a:pPr algn="l">
                <a:lnSpc>
                  <a:spcPts val="2399"/>
                </a:lnSpc>
              </a:pPr>
              <a:r>
                <a:rPr lang="en-US" b="true" sz="1999">
                  <a:solidFill>
                    <a:srgbClr val="8D140B"/>
                  </a:solidFill>
                  <a:latin typeface="Bricolage Grotesque Bold"/>
                  <a:ea typeface="Bricolage Grotesque Bold"/>
                  <a:cs typeface="Bricolage Grotesque Bold"/>
                  <a:sym typeface="Bricolage Grotesque Bold"/>
                </a:rPr>
                <a:t>THREE GROUNDING GUARDRAILS</a:t>
              </a:r>
            </a:p>
          </p:txBody>
        </p:sp>
      </p:grpSp>
      <p:grpSp>
        <p:nvGrpSpPr>
          <p:cNvPr name="Group 76" id="76"/>
          <p:cNvGrpSpPr/>
          <p:nvPr/>
        </p:nvGrpSpPr>
        <p:grpSpPr>
          <a:xfrm rot="0">
            <a:off x="10204704" y="7022592"/>
            <a:ext cx="6858000" cy="1069848"/>
            <a:chOff x="0" y="0"/>
            <a:chExt cx="9144000" cy="1426464"/>
          </a:xfrm>
        </p:grpSpPr>
        <p:sp>
          <p:nvSpPr>
            <p:cNvPr name="Freeform 77" id="77"/>
            <p:cNvSpPr/>
            <p:nvPr/>
          </p:nvSpPr>
          <p:spPr>
            <a:xfrm flipH="false" flipV="false" rot="0">
              <a:off x="0" y="0"/>
              <a:ext cx="9144000" cy="1426464"/>
            </a:xfrm>
            <a:custGeom>
              <a:avLst/>
              <a:gdLst/>
              <a:ahLst/>
              <a:cxnLst/>
              <a:rect r="r" b="b" t="t" l="l"/>
              <a:pathLst>
                <a:path h="1426464" w="9144000">
                  <a:moveTo>
                    <a:pt x="0" y="0"/>
                  </a:moveTo>
                  <a:lnTo>
                    <a:pt x="9144000" y="0"/>
                  </a:lnTo>
                  <a:lnTo>
                    <a:pt x="9144000" y="1426464"/>
                  </a:lnTo>
                  <a:lnTo>
                    <a:pt x="0" y="1426464"/>
                  </a:lnTo>
                  <a:close/>
                </a:path>
              </a:pathLst>
            </a:custGeom>
            <a:blipFill>
              <a:blip r:embed="rId5">
                <a:alphaModFix amt="0"/>
              </a:blip>
              <a:stretch>
                <a:fillRect l="0" t="-74904" r="0" b="-74904"/>
              </a:stretch>
            </a:blipFill>
          </p:spPr>
        </p:sp>
        <p:sp>
          <p:nvSpPr>
            <p:cNvPr name="TextBox 78" id="78"/>
            <p:cNvSpPr txBox="true"/>
            <p:nvPr/>
          </p:nvSpPr>
          <p:spPr>
            <a:xfrm>
              <a:off x="0" y="0"/>
              <a:ext cx="9144000" cy="1426464"/>
            </a:xfrm>
            <a:prstGeom prst="rect">
              <a:avLst/>
            </a:prstGeom>
          </p:spPr>
          <p:txBody>
            <a:bodyPr anchor="ctr" rtlCol="false" tIns="0" lIns="0" bIns="0" rIns="0"/>
            <a:lstStyle/>
            <a:p>
              <a:pPr algn="l">
                <a:lnSpc>
                  <a:spcPts val="2195"/>
                </a:lnSpc>
              </a:pPr>
              <a:r>
                <a:rPr lang="en-US" b="true" sz="1829">
                  <a:solidFill>
                    <a:srgbClr val="1F2B5B"/>
                  </a:solidFill>
                  <a:latin typeface="Inter Bold"/>
                  <a:ea typeface="Inter Bold"/>
                  <a:cs typeface="Inter Bold"/>
                  <a:sym typeface="Inter Bold"/>
                </a:rPr>
                <a:t>Similarity floor rejects off-topic questions · prompt requires citation or refusal · every [n] verified against retrieved passages · no drug or dose recommendations.</a:t>
              </a:r>
            </a:p>
          </p:txBody>
        </p:sp>
      </p:grpSp>
      <p:grpSp>
        <p:nvGrpSpPr>
          <p:cNvPr name="Group 79" id="79"/>
          <p:cNvGrpSpPr/>
          <p:nvPr/>
        </p:nvGrpSpPr>
        <p:grpSpPr>
          <a:xfrm rot="0">
            <a:off x="813435" y="7479411"/>
            <a:ext cx="8522970" cy="1829562"/>
            <a:chOff x="0" y="0"/>
            <a:chExt cx="11363960" cy="2439416"/>
          </a:xfrm>
        </p:grpSpPr>
        <p:sp>
          <p:nvSpPr>
            <p:cNvPr name="Freeform 80" id="80"/>
            <p:cNvSpPr/>
            <p:nvPr/>
          </p:nvSpPr>
          <p:spPr>
            <a:xfrm flipH="false" flipV="false" rot="0">
              <a:off x="0" y="0"/>
              <a:ext cx="11363960" cy="2439416"/>
            </a:xfrm>
            <a:custGeom>
              <a:avLst/>
              <a:gdLst/>
              <a:ahLst/>
              <a:cxnLst/>
              <a:rect r="r" b="b" t="t" l="l"/>
              <a:pathLst>
                <a:path h="2439416" w="11363960">
                  <a:moveTo>
                    <a:pt x="0" y="184785"/>
                  </a:moveTo>
                  <a:cubicBezTo>
                    <a:pt x="0" y="82804"/>
                    <a:pt x="82804" y="0"/>
                    <a:pt x="184785" y="0"/>
                  </a:cubicBezTo>
                  <a:lnTo>
                    <a:pt x="11179175" y="0"/>
                  </a:lnTo>
                  <a:cubicBezTo>
                    <a:pt x="11281283" y="0"/>
                    <a:pt x="11363960" y="82804"/>
                    <a:pt x="11363960" y="184785"/>
                  </a:cubicBezTo>
                  <a:lnTo>
                    <a:pt x="11363960" y="2254631"/>
                  </a:lnTo>
                  <a:cubicBezTo>
                    <a:pt x="11363960" y="2356739"/>
                    <a:pt x="11281156" y="2439416"/>
                    <a:pt x="11179175" y="2439416"/>
                  </a:cubicBezTo>
                  <a:lnTo>
                    <a:pt x="184785" y="2439416"/>
                  </a:lnTo>
                  <a:cubicBezTo>
                    <a:pt x="82804" y="2439416"/>
                    <a:pt x="0" y="2356612"/>
                    <a:pt x="0" y="2254631"/>
                  </a:cubicBezTo>
                  <a:close/>
                </a:path>
              </a:pathLst>
            </a:custGeom>
            <a:solidFill>
              <a:srgbClr val="DBE09F">
                <a:alpha val="16471"/>
              </a:srgbClr>
            </a:solidFill>
            <a:ln w="19050" cap="sq">
              <a:solidFill>
                <a:srgbClr val="DDE5EA"/>
              </a:solidFill>
              <a:prstDash val="solid"/>
              <a:miter/>
            </a:ln>
          </p:spPr>
        </p:sp>
      </p:grpSp>
      <p:grpSp>
        <p:nvGrpSpPr>
          <p:cNvPr name="Group 81" id="81"/>
          <p:cNvGrpSpPr/>
          <p:nvPr/>
        </p:nvGrpSpPr>
        <p:grpSpPr>
          <a:xfrm rot="0">
            <a:off x="1152144" y="7653528"/>
            <a:ext cx="7818120" cy="420878"/>
            <a:chOff x="0" y="0"/>
            <a:chExt cx="10424160" cy="561170"/>
          </a:xfrm>
        </p:grpSpPr>
        <p:sp>
          <p:nvSpPr>
            <p:cNvPr name="Freeform 82" id="82"/>
            <p:cNvSpPr/>
            <p:nvPr/>
          </p:nvSpPr>
          <p:spPr>
            <a:xfrm flipH="false" flipV="false" rot="0">
              <a:off x="0" y="0"/>
              <a:ext cx="10424160" cy="561170"/>
            </a:xfrm>
            <a:custGeom>
              <a:avLst/>
              <a:gdLst/>
              <a:ahLst/>
              <a:cxnLst/>
              <a:rect r="r" b="b" t="t" l="l"/>
              <a:pathLst>
                <a:path h="561170" w="10424160">
                  <a:moveTo>
                    <a:pt x="0" y="0"/>
                  </a:moveTo>
                  <a:lnTo>
                    <a:pt x="10424160" y="0"/>
                  </a:lnTo>
                  <a:lnTo>
                    <a:pt x="10424160" y="561170"/>
                  </a:lnTo>
                  <a:lnTo>
                    <a:pt x="0" y="561170"/>
                  </a:lnTo>
                  <a:close/>
                </a:path>
              </a:pathLst>
            </a:custGeom>
            <a:blipFill>
              <a:blip r:embed="rId5">
                <a:alphaModFix amt="0"/>
              </a:blip>
              <a:stretch>
                <a:fillRect l="0" t="-316324" r="0" b="-307573"/>
              </a:stretch>
            </a:blipFill>
          </p:spPr>
        </p:sp>
        <p:sp>
          <p:nvSpPr>
            <p:cNvPr name="TextBox 83" id="83"/>
            <p:cNvSpPr txBox="true"/>
            <p:nvPr/>
          </p:nvSpPr>
          <p:spPr>
            <a:xfrm>
              <a:off x="0" y="0"/>
              <a:ext cx="10424160" cy="561170"/>
            </a:xfrm>
            <a:prstGeom prst="rect">
              <a:avLst/>
            </a:prstGeom>
          </p:spPr>
          <p:txBody>
            <a:bodyPr anchor="ctr" rtlCol="false" tIns="0" lIns="0" bIns="0" rIns="0"/>
            <a:lstStyle/>
            <a:p>
              <a:pPr algn="l">
                <a:lnSpc>
                  <a:spcPts val="2279"/>
                </a:lnSpc>
              </a:pPr>
              <a:r>
                <a:rPr lang="en-US" b="true" sz="1899">
                  <a:solidFill>
                    <a:srgbClr val="8D140B"/>
                  </a:solidFill>
                  <a:latin typeface="Bricolage Grotesque Bold"/>
                  <a:ea typeface="Bricolage Grotesque Bold"/>
                  <a:cs typeface="Bricolage Grotesque Bold"/>
                  <a:sym typeface="Bricolage Grotesque Bold"/>
                </a:rPr>
                <a:t>TWO STAKEHOLDER-FACING FUNCTIONS</a:t>
              </a:r>
            </a:p>
          </p:txBody>
        </p:sp>
      </p:grpSp>
      <p:grpSp>
        <p:nvGrpSpPr>
          <p:cNvPr name="Group 84" id="84"/>
          <p:cNvGrpSpPr/>
          <p:nvPr/>
        </p:nvGrpSpPr>
        <p:grpSpPr>
          <a:xfrm rot="0">
            <a:off x="1152144" y="8065008"/>
            <a:ext cx="8184261" cy="1223746"/>
            <a:chOff x="0" y="0"/>
            <a:chExt cx="10912348" cy="1631661"/>
          </a:xfrm>
        </p:grpSpPr>
        <p:sp>
          <p:nvSpPr>
            <p:cNvPr name="Freeform 85" id="85"/>
            <p:cNvSpPr/>
            <p:nvPr/>
          </p:nvSpPr>
          <p:spPr>
            <a:xfrm flipH="false" flipV="false" rot="0">
              <a:off x="0" y="0"/>
              <a:ext cx="10912348" cy="1631661"/>
            </a:xfrm>
            <a:custGeom>
              <a:avLst/>
              <a:gdLst/>
              <a:ahLst/>
              <a:cxnLst/>
              <a:rect r="r" b="b" t="t" l="l"/>
              <a:pathLst>
                <a:path h="1631661" w="10912348">
                  <a:moveTo>
                    <a:pt x="0" y="0"/>
                  </a:moveTo>
                  <a:lnTo>
                    <a:pt x="10912348" y="0"/>
                  </a:lnTo>
                  <a:lnTo>
                    <a:pt x="10912348" y="1631661"/>
                  </a:lnTo>
                  <a:lnTo>
                    <a:pt x="0" y="1631661"/>
                  </a:lnTo>
                  <a:close/>
                </a:path>
              </a:pathLst>
            </a:custGeom>
            <a:blipFill>
              <a:blip r:embed="rId5">
                <a:alphaModFix amt="0"/>
              </a:blip>
              <a:stretch>
                <a:fillRect l="0" t="-80771" r="4473" b="-68195"/>
              </a:stretch>
            </a:blipFill>
          </p:spPr>
        </p:sp>
        <p:sp>
          <p:nvSpPr>
            <p:cNvPr name="TextBox 86" id="86"/>
            <p:cNvSpPr txBox="true"/>
            <p:nvPr/>
          </p:nvSpPr>
          <p:spPr>
            <a:xfrm>
              <a:off x="0" y="0"/>
              <a:ext cx="10912348" cy="1631661"/>
            </a:xfrm>
            <a:prstGeom prst="rect">
              <a:avLst/>
            </a:prstGeom>
          </p:spPr>
          <p:txBody>
            <a:bodyPr anchor="ctr" rtlCol="false" tIns="0" lIns="0" bIns="0" rIns="0"/>
            <a:lstStyle/>
            <a:p>
              <a:pPr algn="l" marL="395095" indent="-197548" lvl="1">
                <a:lnSpc>
                  <a:spcPts val="2195"/>
                </a:lnSpc>
                <a:buAutoNum type="arabicPeriod" startAt="1"/>
              </a:pPr>
              <a:r>
                <a:rPr lang="en-US" b="true" sz="1829">
                  <a:solidFill>
                    <a:srgbClr val="1F2B5B"/>
                  </a:solidFill>
                  <a:latin typeface="Inter Bold"/>
                  <a:ea typeface="Inter Bold"/>
                  <a:cs typeface="Inter Bold"/>
                  <a:sym typeface="Inter Bold"/>
                </a:rPr>
                <a:t>Guidance Q&amp;A — what CMS/AHRQ recommend for discharge planning.  </a:t>
              </a:r>
            </a:p>
            <a:p>
              <a:pPr algn="l" marL="395095" indent="-197548" lvl="1">
                <a:lnSpc>
                  <a:spcPts val="2195"/>
                </a:lnSpc>
                <a:buAutoNum type="arabicPeriod" startAt="1"/>
              </a:pPr>
              <a:r>
                <a:rPr lang="en-US" b="true" sz="1829">
                  <a:solidFill>
                    <a:srgbClr val="1F2B5B"/>
                  </a:solidFill>
                  <a:latin typeface="Inter Bold"/>
                  <a:ea typeface="Inter Bold"/>
                  <a:cs typeface="Inter Bold"/>
                  <a:sym typeface="Inter Bold"/>
                </a:rPr>
                <a:t>Patient Action Brief — converts a flagged patient's SHAP drivers into a retrieval query and returns cited follow-up steps.</a:t>
              </a:r>
            </a:p>
          </p:txBody>
        </p:sp>
      </p:grpSp>
      <p:grpSp>
        <p:nvGrpSpPr>
          <p:cNvPr name="Group 87" id="87"/>
          <p:cNvGrpSpPr/>
          <p:nvPr/>
        </p:nvGrpSpPr>
        <p:grpSpPr>
          <a:xfrm rot="0">
            <a:off x="822960" y="9573768"/>
            <a:ext cx="16596360" cy="394746"/>
            <a:chOff x="0" y="0"/>
            <a:chExt cx="22128480" cy="526328"/>
          </a:xfrm>
        </p:grpSpPr>
        <p:sp>
          <p:nvSpPr>
            <p:cNvPr name="Freeform 88" id="88"/>
            <p:cNvSpPr/>
            <p:nvPr/>
          </p:nvSpPr>
          <p:spPr>
            <a:xfrm flipH="false" flipV="false" rot="0">
              <a:off x="0" y="0"/>
              <a:ext cx="22128480" cy="526328"/>
            </a:xfrm>
            <a:custGeom>
              <a:avLst/>
              <a:gdLst/>
              <a:ahLst/>
              <a:cxnLst/>
              <a:rect r="r" b="b" t="t" l="l"/>
              <a:pathLst>
                <a:path h="526328" w="22128480">
                  <a:moveTo>
                    <a:pt x="0" y="0"/>
                  </a:moveTo>
                  <a:lnTo>
                    <a:pt x="22128480" y="0"/>
                  </a:lnTo>
                  <a:lnTo>
                    <a:pt x="22128480" y="526328"/>
                  </a:lnTo>
                  <a:lnTo>
                    <a:pt x="0" y="526328"/>
                  </a:lnTo>
                  <a:close/>
                </a:path>
              </a:pathLst>
            </a:custGeom>
            <a:blipFill>
              <a:blip r:embed="rId5">
                <a:alphaModFix amt="0"/>
              </a:blip>
              <a:stretch>
                <a:fillRect l="0" t="-774042" r="0" b="-764383"/>
              </a:stretch>
            </a:blipFill>
          </p:spPr>
        </p:sp>
        <p:sp>
          <p:nvSpPr>
            <p:cNvPr name="TextBox 89" id="89"/>
            <p:cNvSpPr txBox="true"/>
            <p:nvPr/>
          </p:nvSpPr>
          <p:spPr>
            <a:xfrm>
              <a:off x="0" y="0"/>
              <a:ext cx="22128480" cy="526328"/>
            </a:xfrm>
            <a:prstGeom prst="rect">
              <a:avLst/>
            </a:prstGeom>
          </p:spPr>
          <p:txBody>
            <a:bodyPr anchor="ctr" rtlCol="false" tIns="0" lIns="0" bIns="0" rIns="0"/>
            <a:lstStyle/>
            <a:p>
              <a:pPr algn="l" marL="0" indent="0" lvl="0">
                <a:lnSpc>
                  <a:spcPts val="2189"/>
                </a:lnSpc>
                <a:spcBef>
                  <a:spcPct val="0"/>
                </a:spcBef>
              </a:pPr>
              <a:r>
                <a:rPr lang="en-US" sz="1824" i="true" strike="noStrike" u="none">
                  <a:solidFill>
                    <a:srgbClr val="000000"/>
                  </a:solidFill>
                  <a:latin typeface="Inter Italics"/>
                  <a:ea typeface="Inter Italics"/>
                  <a:cs typeface="Inter Italics"/>
                  <a:sym typeface="Inter Italics"/>
                </a:rPr>
                <a:t>Not a general chatbot: the patient-brief function takes a flagged patient's SHAP drivers as input and cannot run without the model's output.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7311" t="-78531" r="-11866" b="-50303"/>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22960" y="987552"/>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COST, VALUE &amp; BUSINESS IMPACT</a:t>
              </a:r>
            </a:p>
          </p:txBody>
        </p:sp>
      </p:grpSp>
      <p:grpSp>
        <p:nvGrpSpPr>
          <p:cNvPr name="Group 7" id="7"/>
          <p:cNvGrpSpPr/>
          <p:nvPr/>
        </p:nvGrpSpPr>
        <p:grpSpPr>
          <a:xfrm rot="0">
            <a:off x="839850" y="1796838"/>
            <a:ext cx="16322040" cy="741110"/>
            <a:chOff x="0" y="0"/>
            <a:chExt cx="21762720" cy="988147"/>
          </a:xfrm>
        </p:grpSpPr>
        <p:sp>
          <p:nvSpPr>
            <p:cNvPr name="Freeform 8" id="8"/>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5">
                <a:alphaModFix amt="0"/>
              </a:blip>
              <a:stretch>
                <a:fillRect l="0" t="-390268" r="0" b="-367999"/>
              </a:stretch>
            </a:blipFill>
          </p:spPr>
        </p:sp>
        <p:sp>
          <p:nvSpPr>
            <p:cNvPr name="TextBox 9" id="9"/>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1F2B5B"/>
                  </a:solidFill>
                  <a:latin typeface="Inter Bold"/>
                  <a:ea typeface="Inter Bold"/>
                  <a:cs typeface="Inter Bold"/>
                  <a:sym typeface="Inter Bold"/>
                </a:rPr>
                <a:t>Under stated assumptions — $10,000 per avoided readmission, $60 per pharmacist intervention, 10-point risk reduction, 5,000 discharges/year.</a:t>
              </a:r>
            </a:p>
          </p:txBody>
        </p:sp>
      </p:grpSp>
      <p:pic>
        <p:nvPicPr>
          <p:cNvPr name="Picture 10" id="10"/>
          <p:cNvPicPr>
            <a:picLocks noChangeAspect="true"/>
          </p:cNvPicPr>
          <p:nvPr/>
        </p:nvPicPr>
        <p:blipFill>
          <a:blip r:embed="rId6"/>
          <a:stretch>
            <a:fillRect/>
          </a:stretch>
        </p:blipFill>
        <p:spPr>
          <a:xfrm rot="0">
            <a:off x="-548074" y="2120978"/>
            <a:ext cx="12456005" cy="6667737"/>
          </a:xfrm>
          <a:prstGeom prst="rect">
            <a:avLst/>
          </a:prstGeom>
        </p:spPr>
      </p:pic>
      <p:grpSp>
        <p:nvGrpSpPr>
          <p:cNvPr name="Group 11" id="11"/>
          <p:cNvGrpSpPr/>
          <p:nvPr/>
        </p:nvGrpSpPr>
        <p:grpSpPr>
          <a:xfrm rot="0">
            <a:off x="11237595" y="2815971"/>
            <a:ext cx="6191250" cy="2625090"/>
            <a:chOff x="0" y="0"/>
            <a:chExt cx="8255000" cy="3500120"/>
          </a:xfrm>
        </p:grpSpPr>
        <p:sp>
          <p:nvSpPr>
            <p:cNvPr name="Freeform 12" id="12"/>
            <p:cNvSpPr/>
            <p:nvPr/>
          </p:nvSpPr>
          <p:spPr>
            <a:xfrm flipH="false" flipV="false" rot="0">
              <a:off x="0" y="0"/>
              <a:ext cx="8255000" cy="3500120"/>
            </a:xfrm>
            <a:custGeom>
              <a:avLst/>
              <a:gdLst/>
              <a:ahLst/>
              <a:cxnLst/>
              <a:rect r="r" b="b" t="t" l="l"/>
              <a:pathLst>
                <a:path h="3500120" w="8255000">
                  <a:moveTo>
                    <a:pt x="0" y="184150"/>
                  </a:moveTo>
                  <a:cubicBezTo>
                    <a:pt x="0" y="82423"/>
                    <a:pt x="82423" y="0"/>
                    <a:pt x="184150" y="0"/>
                  </a:cubicBezTo>
                  <a:lnTo>
                    <a:pt x="8070850" y="0"/>
                  </a:lnTo>
                  <a:cubicBezTo>
                    <a:pt x="8172577" y="0"/>
                    <a:pt x="8255000" y="82423"/>
                    <a:pt x="8255000" y="184150"/>
                  </a:cubicBezTo>
                  <a:lnTo>
                    <a:pt x="8255000" y="3315970"/>
                  </a:lnTo>
                  <a:cubicBezTo>
                    <a:pt x="8255000" y="3417697"/>
                    <a:pt x="8172577" y="3500120"/>
                    <a:pt x="8070850" y="3500120"/>
                  </a:cubicBezTo>
                  <a:lnTo>
                    <a:pt x="184150" y="3500120"/>
                  </a:lnTo>
                  <a:cubicBezTo>
                    <a:pt x="82423" y="3500120"/>
                    <a:pt x="0" y="3417697"/>
                    <a:pt x="0" y="3315970"/>
                  </a:cubicBezTo>
                  <a:close/>
                </a:path>
              </a:pathLst>
            </a:custGeom>
            <a:solidFill>
              <a:srgbClr val="FFFFFF"/>
            </a:solidFill>
            <a:ln w="19050" cap="sq">
              <a:solidFill>
                <a:srgbClr val="065A82"/>
              </a:solidFill>
              <a:prstDash val="solid"/>
              <a:miter/>
            </a:ln>
          </p:spPr>
        </p:sp>
      </p:grpSp>
      <p:grpSp>
        <p:nvGrpSpPr>
          <p:cNvPr name="Group 13" id="13"/>
          <p:cNvGrpSpPr/>
          <p:nvPr/>
        </p:nvGrpSpPr>
        <p:grpSpPr>
          <a:xfrm rot="0">
            <a:off x="11576304" y="3017520"/>
            <a:ext cx="5486400" cy="394716"/>
            <a:chOff x="0" y="0"/>
            <a:chExt cx="7315200" cy="526288"/>
          </a:xfrm>
        </p:grpSpPr>
        <p:sp>
          <p:nvSpPr>
            <p:cNvPr name="Freeform 14" id="14"/>
            <p:cNvSpPr/>
            <p:nvPr/>
          </p:nvSpPr>
          <p:spPr>
            <a:xfrm flipH="false" flipV="false" rot="0">
              <a:off x="0" y="0"/>
              <a:ext cx="7315200" cy="526288"/>
            </a:xfrm>
            <a:custGeom>
              <a:avLst/>
              <a:gdLst/>
              <a:ahLst/>
              <a:cxnLst/>
              <a:rect r="r" b="b" t="t" l="l"/>
              <a:pathLst>
                <a:path h="526288" w="7315200">
                  <a:moveTo>
                    <a:pt x="0" y="0"/>
                  </a:moveTo>
                  <a:lnTo>
                    <a:pt x="7315200" y="0"/>
                  </a:lnTo>
                  <a:lnTo>
                    <a:pt x="7315200" y="526288"/>
                  </a:lnTo>
                  <a:lnTo>
                    <a:pt x="0" y="526288"/>
                  </a:lnTo>
                  <a:close/>
                </a:path>
              </a:pathLst>
            </a:custGeom>
            <a:blipFill>
              <a:blip r:embed="rId5">
                <a:alphaModFix amt="0"/>
              </a:blip>
              <a:stretch>
                <a:fillRect l="0" t="-222185" r="0" b="-219483"/>
              </a:stretch>
            </a:blipFill>
          </p:spPr>
        </p:sp>
        <p:sp>
          <p:nvSpPr>
            <p:cNvPr name="TextBox 15" id="15"/>
            <p:cNvSpPr txBox="true"/>
            <p:nvPr/>
          </p:nvSpPr>
          <p:spPr>
            <a:xfrm>
              <a:off x="0" y="-9525"/>
              <a:ext cx="7315200" cy="535813"/>
            </a:xfrm>
            <a:prstGeom prst="rect">
              <a:avLst/>
            </a:prstGeom>
          </p:spPr>
          <p:txBody>
            <a:bodyPr anchor="ctr" rtlCol="false" tIns="0" lIns="0" bIns="0" rIns="0"/>
            <a:lstStyle/>
            <a:p>
              <a:pPr algn="l">
                <a:lnSpc>
                  <a:spcPts val="2160"/>
                </a:lnSpc>
              </a:pPr>
              <a:r>
                <a:rPr lang="en-US" b="true" sz="1800">
                  <a:solidFill>
                    <a:srgbClr val="8D140B"/>
                  </a:solidFill>
                  <a:latin typeface="Bricolage Grotesque Bold"/>
                  <a:ea typeface="Bricolage Grotesque Bold"/>
                  <a:cs typeface="Bricolage Grotesque Bold"/>
                  <a:sym typeface="Bricolage Grotesque Bold"/>
                </a:rPr>
                <a:t>AT 20% CAPACITY</a:t>
              </a:r>
            </a:p>
          </p:txBody>
        </p:sp>
      </p:grpSp>
      <p:grpSp>
        <p:nvGrpSpPr>
          <p:cNvPr name="Group 16" id="16"/>
          <p:cNvGrpSpPr/>
          <p:nvPr/>
        </p:nvGrpSpPr>
        <p:grpSpPr>
          <a:xfrm rot="0">
            <a:off x="11576304" y="3429000"/>
            <a:ext cx="5486400" cy="1203198"/>
            <a:chOff x="0" y="0"/>
            <a:chExt cx="7315200" cy="1604264"/>
          </a:xfrm>
        </p:grpSpPr>
        <p:sp>
          <p:nvSpPr>
            <p:cNvPr name="Freeform 17" id="17"/>
            <p:cNvSpPr/>
            <p:nvPr/>
          </p:nvSpPr>
          <p:spPr>
            <a:xfrm flipH="false" flipV="false" rot="0">
              <a:off x="0" y="0"/>
              <a:ext cx="7315200" cy="1604264"/>
            </a:xfrm>
            <a:custGeom>
              <a:avLst/>
              <a:gdLst/>
              <a:ahLst/>
              <a:cxnLst/>
              <a:rect r="r" b="b" t="t" l="l"/>
              <a:pathLst>
                <a:path h="1604264" w="7315200">
                  <a:moveTo>
                    <a:pt x="0" y="0"/>
                  </a:moveTo>
                  <a:lnTo>
                    <a:pt x="7315200" y="0"/>
                  </a:lnTo>
                  <a:lnTo>
                    <a:pt x="7315200" y="1604264"/>
                  </a:lnTo>
                  <a:lnTo>
                    <a:pt x="0" y="1604264"/>
                  </a:lnTo>
                  <a:close/>
                </a:path>
              </a:pathLst>
            </a:custGeom>
            <a:blipFill>
              <a:blip r:embed="rId5">
                <a:alphaModFix amt="0"/>
              </a:blip>
              <a:stretch>
                <a:fillRect l="0" t="-53509" r="0" b="-24187"/>
              </a:stretch>
            </a:blipFill>
          </p:spPr>
        </p:sp>
        <p:sp>
          <p:nvSpPr>
            <p:cNvPr name="TextBox 18" id="18"/>
            <p:cNvSpPr txBox="true"/>
            <p:nvPr/>
          </p:nvSpPr>
          <p:spPr>
            <a:xfrm>
              <a:off x="0" y="0"/>
              <a:ext cx="7315200" cy="1604264"/>
            </a:xfrm>
            <a:prstGeom prst="rect">
              <a:avLst/>
            </a:prstGeom>
          </p:spPr>
          <p:txBody>
            <a:bodyPr anchor="ctr" rtlCol="false" tIns="0" lIns="0" bIns="0" rIns="0"/>
            <a:lstStyle/>
            <a:p>
              <a:pPr algn="l">
                <a:lnSpc>
                  <a:spcPts val="6480"/>
                </a:lnSpc>
              </a:pPr>
              <a:r>
                <a:rPr lang="en-US" b="true" sz="5400">
                  <a:solidFill>
                    <a:srgbClr val="8D140B"/>
                  </a:solidFill>
                  <a:latin typeface="Bricolage Grotesque Bold"/>
                  <a:ea typeface="Bricolage Grotesque Bold"/>
                  <a:cs typeface="Bricolage Grotesque Bold"/>
                  <a:sym typeface="Bricolage Grotesque Bold"/>
                </a:rPr>
                <a:t>$112,666</a:t>
              </a:r>
            </a:p>
          </p:txBody>
        </p:sp>
      </p:grpSp>
      <p:grpSp>
        <p:nvGrpSpPr>
          <p:cNvPr name="Group 19" id="19"/>
          <p:cNvGrpSpPr/>
          <p:nvPr/>
        </p:nvGrpSpPr>
        <p:grpSpPr>
          <a:xfrm rot="0">
            <a:off x="11576304" y="4311883"/>
            <a:ext cx="5875401" cy="905256"/>
            <a:chOff x="0" y="0"/>
            <a:chExt cx="7833868" cy="1207008"/>
          </a:xfrm>
        </p:grpSpPr>
        <p:sp>
          <p:nvSpPr>
            <p:cNvPr name="Freeform 20" id="20"/>
            <p:cNvSpPr/>
            <p:nvPr/>
          </p:nvSpPr>
          <p:spPr>
            <a:xfrm flipH="false" flipV="false" rot="0">
              <a:off x="0" y="0"/>
              <a:ext cx="7833868" cy="1207008"/>
            </a:xfrm>
            <a:custGeom>
              <a:avLst/>
              <a:gdLst/>
              <a:ahLst/>
              <a:cxnLst/>
              <a:rect r="r" b="b" t="t" l="l"/>
              <a:pathLst>
                <a:path h="1207008" w="7833868">
                  <a:moveTo>
                    <a:pt x="0" y="0"/>
                  </a:moveTo>
                  <a:lnTo>
                    <a:pt x="7833868" y="0"/>
                  </a:lnTo>
                  <a:lnTo>
                    <a:pt x="7833868" y="1207008"/>
                  </a:lnTo>
                  <a:lnTo>
                    <a:pt x="0" y="1207008"/>
                  </a:lnTo>
                  <a:close/>
                </a:path>
              </a:pathLst>
            </a:custGeom>
            <a:blipFill>
              <a:blip r:embed="rId5">
                <a:alphaModFix amt="0"/>
              </a:blip>
              <a:stretch>
                <a:fillRect l="0" t="-68091" r="6620" b="-68091"/>
              </a:stretch>
            </a:blipFill>
          </p:spPr>
        </p:sp>
        <p:sp>
          <p:nvSpPr>
            <p:cNvPr name="TextBox 21" id="21"/>
            <p:cNvSpPr txBox="true"/>
            <p:nvPr/>
          </p:nvSpPr>
          <p:spPr>
            <a:xfrm>
              <a:off x="0" y="0"/>
              <a:ext cx="7833868" cy="1207008"/>
            </a:xfrm>
            <a:prstGeom prst="rect">
              <a:avLst/>
            </a:prstGeom>
          </p:spPr>
          <p:txBody>
            <a:bodyPr anchor="ctr" rtlCol="false" tIns="0" lIns="0" bIns="0" rIns="0"/>
            <a:lstStyle/>
            <a:p>
              <a:pPr algn="l">
                <a:lnSpc>
                  <a:spcPts val="2129"/>
                </a:lnSpc>
              </a:pPr>
              <a:r>
                <a:rPr lang="en-US" b="true" sz="1774">
                  <a:solidFill>
                    <a:srgbClr val="1F2B5B"/>
                  </a:solidFill>
                  <a:latin typeface="Inter Bold"/>
                  <a:ea typeface="Inter Bold"/>
                  <a:cs typeface="Inter Bold"/>
                  <a:sym typeface="Inter Bold"/>
                </a:rPr>
                <a:t>estimated annual net value  ·  3.0× ROI</a:t>
              </a:r>
            </a:p>
            <a:p>
              <a:pPr algn="l">
                <a:lnSpc>
                  <a:spcPts val="2129"/>
                </a:lnSpc>
              </a:pPr>
              <a:r>
                <a:rPr lang="en-US" b="true" sz="1774">
                  <a:solidFill>
                    <a:srgbClr val="1F2B5B"/>
                  </a:solidFill>
                  <a:latin typeface="Inter Bold"/>
                  <a:ea typeface="Inter Bold"/>
                  <a:cs typeface="Inter Bold"/>
                  <a:sym typeface="Inter Bold"/>
                </a:rPr>
                <a:t>961 patients flagged  ·  17 readmissions prevented</a:t>
              </a:r>
            </a:p>
          </p:txBody>
        </p:sp>
      </p:grpSp>
      <p:grpSp>
        <p:nvGrpSpPr>
          <p:cNvPr name="Group 22" id="22"/>
          <p:cNvGrpSpPr/>
          <p:nvPr/>
        </p:nvGrpSpPr>
        <p:grpSpPr>
          <a:xfrm rot="0">
            <a:off x="11237595" y="5641467"/>
            <a:ext cx="6191250" cy="1774698"/>
            <a:chOff x="0" y="0"/>
            <a:chExt cx="8255000" cy="2366264"/>
          </a:xfrm>
        </p:grpSpPr>
        <p:sp>
          <p:nvSpPr>
            <p:cNvPr name="Freeform 23" id="23"/>
            <p:cNvSpPr/>
            <p:nvPr/>
          </p:nvSpPr>
          <p:spPr>
            <a:xfrm flipH="false" flipV="false" rot="0">
              <a:off x="0" y="0"/>
              <a:ext cx="8255000" cy="2366264"/>
            </a:xfrm>
            <a:custGeom>
              <a:avLst/>
              <a:gdLst/>
              <a:ahLst/>
              <a:cxnLst/>
              <a:rect r="r" b="b" t="t" l="l"/>
              <a:pathLst>
                <a:path h="2366264" w="8255000">
                  <a:moveTo>
                    <a:pt x="0" y="184912"/>
                  </a:moveTo>
                  <a:cubicBezTo>
                    <a:pt x="0" y="82804"/>
                    <a:pt x="82804" y="0"/>
                    <a:pt x="184912" y="0"/>
                  </a:cubicBezTo>
                  <a:lnTo>
                    <a:pt x="8070088" y="0"/>
                  </a:lnTo>
                  <a:cubicBezTo>
                    <a:pt x="8172196" y="0"/>
                    <a:pt x="8255000" y="82804"/>
                    <a:pt x="8255000" y="184912"/>
                  </a:cubicBezTo>
                  <a:lnTo>
                    <a:pt x="8255000" y="2181352"/>
                  </a:lnTo>
                  <a:cubicBezTo>
                    <a:pt x="8255000" y="2283460"/>
                    <a:pt x="8172196" y="2366264"/>
                    <a:pt x="8070088" y="2366264"/>
                  </a:cubicBezTo>
                  <a:lnTo>
                    <a:pt x="184912" y="2366264"/>
                  </a:lnTo>
                  <a:cubicBezTo>
                    <a:pt x="82804" y="2366264"/>
                    <a:pt x="0" y="2283460"/>
                    <a:pt x="0" y="2181352"/>
                  </a:cubicBezTo>
                  <a:close/>
                </a:path>
              </a:pathLst>
            </a:custGeom>
            <a:solidFill>
              <a:srgbClr val="FFFFFF"/>
            </a:solidFill>
            <a:ln w="19050" cap="sq">
              <a:solidFill>
                <a:srgbClr val="DDE5EA"/>
              </a:solidFill>
              <a:prstDash val="solid"/>
              <a:miter/>
            </a:ln>
          </p:spPr>
        </p:sp>
      </p:grpSp>
      <p:grpSp>
        <p:nvGrpSpPr>
          <p:cNvPr name="Group 24" id="24"/>
          <p:cNvGrpSpPr/>
          <p:nvPr/>
        </p:nvGrpSpPr>
        <p:grpSpPr>
          <a:xfrm rot="0">
            <a:off x="11576304" y="5815584"/>
            <a:ext cx="5486400" cy="394716"/>
            <a:chOff x="0" y="0"/>
            <a:chExt cx="7315200" cy="526288"/>
          </a:xfrm>
        </p:grpSpPr>
        <p:sp>
          <p:nvSpPr>
            <p:cNvPr name="Freeform 25" id="25"/>
            <p:cNvSpPr/>
            <p:nvPr/>
          </p:nvSpPr>
          <p:spPr>
            <a:xfrm flipH="false" flipV="false" rot="0">
              <a:off x="0" y="0"/>
              <a:ext cx="7315200" cy="526288"/>
            </a:xfrm>
            <a:custGeom>
              <a:avLst/>
              <a:gdLst/>
              <a:ahLst/>
              <a:cxnLst/>
              <a:rect r="r" b="b" t="t" l="l"/>
              <a:pathLst>
                <a:path h="526288" w="7315200">
                  <a:moveTo>
                    <a:pt x="0" y="0"/>
                  </a:moveTo>
                  <a:lnTo>
                    <a:pt x="7315200" y="0"/>
                  </a:lnTo>
                  <a:lnTo>
                    <a:pt x="7315200" y="526288"/>
                  </a:lnTo>
                  <a:lnTo>
                    <a:pt x="0" y="526288"/>
                  </a:lnTo>
                  <a:close/>
                </a:path>
              </a:pathLst>
            </a:custGeom>
            <a:blipFill>
              <a:blip r:embed="rId5">
                <a:alphaModFix amt="0"/>
              </a:blip>
              <a:stretch>
                <a:fillRect l="0" t="-222185" r="0" b="-219483"/>
              </a:stretch>
            </a:blipFill>
          </p:spPr>
        </p:sp>
        <p:sp>
          <p:nvSpPr>
            <p:cNvPr name="TextBox 26" id="26"/>
            <p:cNvSpPr txBox="true"/>
            <p:nvPr/>
          </p:nvSpPr>
          <p:spPr>
            <a:xfrm>
              <a:off x="0" y="-9525"/>
              <a:ext cx="7315200" cy="535813"/>
            </a:xfrm>
            <a:prstGeom prst="rect">
              <a:avLst/>
            </a:prstGeom>
          </p:spPr>
          <p:txBody>
            <a:bodyPr anchor="ctr" rtlCol="false" tIns="0" lIns="0" bIns="0" rIns="0"/>
            <a:lstStyle/>
            <a:p>
              <a:pPr algn="l">
                <a:lnSpc>
                  <a:spcPts val="2160"/>
                </a:lnSpc>
              </a:pPr>
              <a:r>
                <a:rPr lang="en-US" b="true" sz="1800">
                  <a:solidFill>
                    <a:srgbClr val="1F2B5B"/>
                  </a:solidFill>
                  <a:latin typeface="Bricolage Grotesque Bold"/>
                  <a:ea typeface="Bricolage Grotesque Bold"/>
                  <a:cs typeface="Bricolage Grotesque Bold"/>
                  <a:sym typeface="Bricolage Grotesque Bold"/>
                </a:rPr>
                <a:t>ROI FALLS AS CAPACITY RISES</a:t>
              </a:r>
            </a:p>
          </p:txBody>
        </p:sp>
      </p:grpSp>
      <p:grpSp>
        <p:nvGrpSpPr>
          <p:cNvPr name="Group 27" id="27"/>
          <p:cNvGrpSpPr/>
          <p:nvPr/>
        </p:nvGrpSpPr>
        <p:grpSpPr>
          <a:xfrm rot="0">
            <a:off x="11576304" y="6227064"/>
            <a:ext cx="5486400" cy="1069848"/>
            <a:chOff x="0" y="0"/>
            <a:chExt cx="7315200" cy="1426464"/>
          </a:xfrm>
        </p:grpSpPr>
        <p:sp>
          <p:nvSpPr>
            <p:cNvPr name="Freeform 28" id="28"/>
            <p:cNvSpPr/>
            <p:nvPr/>
          </p:nvSpPr>
          <p:spPr>
            <a:xfrm flipH="false" flipV="false" rot="0">
              <a:off x="0" y="0"/>
              <a:ext cx="7315200" cy="1426464"/>
            </a:xfrm>
            <a:custGeom>
              <a:avLst/>
              <a:gdLst/>
              <a:ahLst/>
              <a:cxnLst/>
              <a:rect r="r" b="b" t="t" l="l"/>
              <a:pathLst>
                <a:path h="1426464" w="7315200">
                  <a:moveTo>
                    <a:pt x="0" y="0"/>
                  </a:moveTo>
                  <a:lnTo>
                    <a:pt x="7315200" y="0"/>
                  </a:lnTo>
                  <a:lnTo>
                    <a:pt x="7315200" y="1426464"/>
                  </a:lnTo>
                  <a:lnTo>
                    <a:pt x="0" y="1426464"/>
                  </a:lnTo>
                  <a:close/>
                </a:path>
              </a:pathLst>
            </a:custGeom>
            <a:blipFill>
              <a:blip r:embed="rId5">
                <a:alphaModFix amt="0"/>
              </a:blip>
              <a:stretch>
                <a:fillRect l="0" t="-49923" r="0" b="-49923"/>
              </a:stretch>
            </a:blipFill>
          </p:spPr>
        </p:sp>
        <p:sp>
          <p:nvSpPr>
            <p:cNvPr name="TextBox 29" id="29"/>
            <p:cNvSpPr txBox="true"/>
            <p:nvPr/>
          </p:nvSpPr>
          <p:spPr>
            <a:xfrm>
              <a:off x="0" y="0"/>
              <a:ext cx="7315200" cy="1426464"/>
            </a:xfrm>
            <a:prstGeom prst="rect">
              <a:avLst/>
            </a:prstGeom>
          </p:spPr>
          <p:txBody>
            <a:bodyPr anchor="ctr" rtlCol="false" tIns="0" lIns="0" bIns="0" rIns="0"/>
            <a:lstStyle/>
            <a:p>
              <a:pPr algn="l">
                <a:lnSpc>
                  <a:spcPts val="2075"/>
                </a:lnSpc>
              </a:pPr>
              <a:r>
                <a:rPr lang="en-US" b="true" sz="1729">
                  <a:solidFill>
                    <a:srgbClr val="1F2B5B"/>
                  </a:solidFill>
                  <a:latin typeface="Inter Bold"/>
                  <a:ea typeface="Inter Bold"/>
                  <a:cs typeface="Inter Bold"/>
                  <a:sym typeface="Inter Bold"/>
                </a:rPr>
                <a:t>3.9× at 5% capacity → 2.1× at 50%. Total net value keeps climbing, but each additional pharmacist hour buys less. </a:t>
              </a:r>
            </a:p>
          </p:txBody>
        </p:sp>
      </p:grpSp>
      <p:grpSp>
        <p:nvGrpSpPr>
          <p:cNvPr name="Group 30" id="30"/>
          <p:cNvGrpSpPr/>
          <p:nvPr/>
        </p:nvGrpSpPr>
        <p:grpSpPr>
          <a:xfrm rot="0">
            <a:off x="839850" y="7950738"/>
            <a:ext cx="16615410" cy="2140773"/>
            <a:chOff x="0" y="0"/>
            <a:chExt cx="22153880" cy="2854364"/>
          </a:xfrm>
        </p:grpSpPr>
        <p:sp>
          <p:nvSpPr>
            <p:cNvPr name="Freeform 31" id="31"/>
            <p:cNvSpPr/>
            <p:nvPr/>
          </p:nvSpPr>
          <p:spPr>
            <a:xfrm flipH="false" flipV="false" rot="0">
              <a:off x="0" y="0"/>
              <a:ext cx="22153880" cy="2854364"/>
            </a:xfrm>
            <a:custGeom>
              <a:avLst/>
              <a:gdLst/>
              <a:ahLst/>
              <a:cxnLst/>
              <a:rect r="r" b="b" t="t" l="l"/>
              <a:pathLst>
                <a:path h="2854364" w="22153880">
                  <a:moveTo>
                    <a:pt x="0" y="317092"/>
                  </a:moveTo>
                  <a:cubicBezTo>
                    <a:pt x="0" y="142070"/>
                    <a:pt x="66802" y="0"/>
                    <a:pt x="149098" y="0"/>
                  </a:cubicBezTo>
                  <a:lnTo>
                    <a:pt x="22004782" y="0"/>
                  </a:lnTo>
                  <a:cubicBezTo>
                    <a:pt x="22087078" y="0"/>
                    <a:pt x="22153880" y="142070"/>
                    <a:pt x="22153880" y="317092"/>
                  </a:cubicBezTo>
                  <a:lnTo>
                    <a:pt x="22153880" y="2537273"/>
                  </a:lnTo>
                  <a:cubicBezTo>
                    <a:pt x="22153880" y="2712294"/>
                    <a:pt x="22087078" y="2854364"/>
                    <a:pt x="22004782" y="2854364"/>
                  </a:cubicBezTo>
                  <a:lnTo>
                    <a:pt x="149098" y="2854364"/>
                  </a:lnTo>
                  <a:cubicBezTo>
                    <a:pt x="66802" y="2854364"/>
                    <a:pt x="0" y="2712294"/>
                    <a:pt x="0" y="2537273"/>
                  </a:cubicBezTo>
                  <a:close/>
                </a:path>
              </a:pathLst>
            </a:custGeom>
            <a:solidFill>
              <a:srgbClr val="FFFFFF"/>
            </a:solidFill>
            <a:ln w="19050" cap="sq">
              <a:solidFill>
                <a:srgbClr val="F0DCBC"/>
              </a:solidFill>
              <a:prstDash val="solid"/>
              <a:miter/>
            </a:ln>
          </p:spPr>
        </p:sp>
      </p:grpSp>
      <p:grpSp>
        <p:nvGrpSpPr>
          <p:cNvPr name="Group 32" id="32"/>
          <p:cNvGrpSpPr/>
          <p:nvPr/>
        </p:nvGrpSpPr>
        <p:grpSpPr>
          <a:xfrm rot="0">
            <a:off x="1028700" y="7950738"/>
            <a:ext cx="14760748" cy="2331568"/>
            <a:chOff x="0" y="0"/>
            <a:chExt cx="19680998" cy="3108757"/>
          </a:xfrm>
        </p:grpSpPr>
        <p:sp>
          <p:nvSpPr>
            <p:cNvPr name="Freeform 33" id="33"/>
            <p:cNvSpPr/>
            <p:nvPr/>
          </p:nvSpPr>
          <p:spPr>
            <a:xfrm flipH="false" flipV="false" rot="0">
              <a:off x="0" y="0"/>
              <a:ext cx="19680999" cy="3108757"/>
            </a:xfrm>
            <a:custGeom>
              <a:avLst/>
              <a:gdLst/>
              <a:ahLst/>
              <a:cxnLst/>
              <a:rect r="r" b="b" t="t" l="l"/>
              <a:pathLst>
                <a:path h="3108757" w="19680999">
                  <a:moveTo>
                    <a:pt x="0" y="0"/>
                  </a:moveTo>
                  <a:lnTo>
                    <a:pt x="19680999" y="0"/>
                  </a:lnTo>
                  <a:lnTo>
                    <a:pt x="19680999" y="3108757"/>
                  </a:lnTo>
                  <a:lnTo>
                    <a:pt x="0" y="3108757"/>
                  </a:lnTo>
                  <a:close/>
                </a:path>
              </a:pathLst>
            </a:custGeom>
            <a:blipFill>
              <a:blip r:embed="rId5">
                <a:alphaModFix amt="0"/>
              </a:blip>
              <a:stretch>
                <a:fillRect l="0" t="-118946" r="-8347" b="-48359"/>
              </a:stretch>
            </a:blipFill>
          </p:spPr>
        </p:sp>
        <p:sp>
          <p:nvSpPr>
            <p:cNvPr name="TextBox 34" id="34"/>
            <p:cNvSpPr txBox="true"/>
            <p:nvPr/>
          </p:nvSpPr>
          <p:spPr>
            <a:xfrm>
              <a:off x="0" y="0"/>
              <a:ext cx="19680998" cy="3108757"/>
            </a:xfrm>
            <a:prstGeom prst="rect">
              <a:avLst/>
            </a:prstGeom>
          </p:spPr>
          <p:txBody>
            <a:bodyPr anchor="ctr" rtlCol="false" tIns="0" lIns="0" bIns="0" rIns="0"/>
            <a:lstStyle/>
            <a:p>
              <a:pPr algn="l">
                <a:lnSpc>
                  <a:spcPts val="2249"/>
                </a:lnSpc>
              </a:pPr>
              <a:r>
                <a:rPr lang="en-US" b="true" sz="1874">
                  <a:solidFill>
                    <a:srgbClr val="1F2B5B"/>
                  </a:solidFill>
                  <a:latin typeface="Inter Bold"/>
                  <a:ea typeface="Inter Bold"/>
                  <a:cs typeface="Inter Bold"/>
                  <a:sym typeface="Inter Bold"/>
                </a:rPr>
                <a:t>$10K is a conservative </a:t>
              </a:r>
              <a:r>
                <a:rPr lang="en-US" b="true" sz="1874">
                  <a:solidFill>
                    <a:srgbClr val="1F2B5B"/>
                  </a:solidFill>
                  <a:latin typeface="Inter Bold"/>
                  <a:ea typeface="Inter Bold"/>
                  <a:cs typeface="Inter Bold"/>
                  <a:sym typeface="Inter Bold"/>
                </a:rPr>
                <a:t>assumptions, not hospital-reported figures.</a:t>
              </a:r>
              <a:r>
                <a:rPr lang="en-US" sz="1874">
                  <a:solidFill>
                    <a:srgbClr val="1F2B5B"/>
                  </a:solidFill>
                  <a:latin typeface="Inter"/>
                  <a:ea typeface="Inter"/>
                  <a:cs typeface="Inter"/>
                  <a:sym typeface="Inter"/>
                </a:rPr>
                <a:t> The 10-point risk reduction is drawn from medication-reconciliation literature and was not measured here — net value scales almost linearly with it, which is why the dashboard exposes it as a slider. </a:t>
              </a:r>
            </a:p>
            <a:p>
              <a:pPr algn="l">
                <a:lnSpc>
                  <a:spcPts val="2249"/>
                </a:lnSpc>
              </a:pPr>
            </a:p>
            <a:p>
              <a:pPr algn="l">
                <a:lnSpc>
                  <a:spcPts val="2249"/>
                </a:lnSpc>
              </a:pPr>
              <a:r>
                <a:rPr lang="en-US" b="true" sz="1874">
                  <a:solidFill>
                    <a:srgbClr val="1F2B5B"/>
                  </a:solidFill>
                  <a:latin typeface="Inter Bold"/>
                  <a:ea typeface="Inter Bold"/>
                  <a:cs typeface="Inter Bold"/>
                  <a:sym typeface="Inter Bold"/>
                </a:rPr>
                <a:t>Current source: AHRQ HCUP Statistical Brief #278</a:t>
              </a:r>
            </a:p>
            <a:p>
              <a:pPr algn="l">
                <a:lnSpc>
                  <a:spcPts val="2249"/>
                </a:lnSpc>
              </a:pPr>
              <a:r>
                <a:rPr lang="en-US" sz="1874">
                  <a:solidFill>
                    <a:srgbClr val="1F2B5B"/>
                  </a:solidFill>
                  <a:latin typeface="Inter"/>
                  <a:ea typeface="Inter"/>
                  <a:cs typeface="Inter"/>
                  <a:sym typeface="Inter"/>
                </a:rPr>
                <a:t>In 2018 there were 3.8 million 30-day all-cause adult hospital readmissions, with a 14 percent readmission rate and an average readmission cost of $15,200.</a:t>
              </a:r>
            </a:p>
            <a:p>
              <a:pPr algn="l">
                <a:lnSpc>
                  <a:spcPts val="2249"/>
                </a:lnSpc>
              </a:pPr>
            </a:p>
          </p:txBody>
        </p:sp>
      </p:grpSp>
      <p:sp>
        <p:nvSpPr>
          <p:cNvPr name="Freeform 35" id="35"/>
          <p:cNvSpPr/>
          <p:nvPr/>
        </p:nvSpPr>
        <p:spPr>
          <a:xfrm flipH="false" flipV="false" rot="0">
            <a:off x="489926" y="2815971"/>
            <a:ext cx="10606899" cy="4934742"/>
          </a:xfrm>
          <a:custGeom>
            <a:avLst/>
            <a:gdLst/>
            <a:ahLst/>
            <a:cxnLst/>
            <a:rect r="r" b="b" t="t" l="l"/>
            <a:pathLst>
              <a:path h="4934742" w="10606899">
                <a:moveTo>
                  <a:pt x="0" y="0"/>
                </a:moveTo>
                <a:lnTo>
                  <a:pt x="10606899" y="0"/>
                </a:lnTo>
                <a:lnTo>
                  <a:pt x="10606899" y="4934742"/>
                </a:lnTo>
                <a:lnTo>
                  <a:pt x="0" y="4934742"/>
                </a:lnTo>
                <a:lnTo>
                  <a:pt x="0" y="0"/>
                </a:lnTo>
                <a:close/>
              </a:path>
            </a:pathLst>
          </a:custGeom>
          <a:blipFill>
            <a:blip r:embed="rId7"/>
            <a:stretch>
              <a:fillRect l="-1051" t="-611" r="-1051"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6005" r="-11319" b="-67740"/>
            </a:stretch>
          </a:blipFill>
        </p:spPr>
      </p:sp>
      <p:sp>
        <p:nvSpPr>
          <p:cNvPr name="Freeform 3" id="3"/>
          <p:cNvSpPr/>
          <p:nvPr/>
        </p:nvSpPr>
        <p:spPr>
          <a:xfrm flipH="false" flipV="false" rot="0">
            <a:off x="1197960" y="349435"/>
            <a:ext cx="431519" cy="431519"/>
          </a:xfrm>
          <a:custGeom>
            <a:avLst/>
            <a:gdLst/>
            <a:ahLst/>
            <a:cxnLst/>
            <a:rect r="r" b="b" t="t" l="l"/>
            <a:pathLst>
              <a:path h="431519" w="431519">
                <a:moveTo>
                  <a:pt x="0" y="0"/>
                </a:moveTo>
                <a:lnTo>
                  <a:pt x="431519" y="0"/>
                </a:lnTo>
                <a:lnTo>
                  <a:pt x="431519" y="431519"/>
                </a:lnTo>
                <a:lnTo>
                  <a:pt x="0" y="4315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156457" y="3946354"/>
            <a:ext cx="7140353" cy="8773767"/>
          </a:xfrm>
          <a:custGeom>
            <a:avLst/>
            <a:gdLst/>
            <a:ahLst/>
            <a:cxnLst/>
            <a:rect r="r" b="b" t="t" l="l"/>
            <a:pathLst>
              <a:path h="8773767" w="7140353">
                <a:moveTo>
                  <a:pt x="7140353" y="0"/>
                </a:moveTo>
                <a:lnTo>
                  <a:pt x="0" y="0"/>
                </a:lnTo>
                <a:lnTo>
                  <a:pt x="0" y="8773767"/>
                </a:lnTo>
                <a:lnTo>
                  <a:pt x="7140353" y="8773767"/>
                </a:lnTo>
                <a:lnTo>
                  <a:pt x="714035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8700" y="1028700"/>
            <a:ext cx="15944339" cy="9211032"/>
          </a:xfrm>
          <a:custGeom>
            <a:avLst/>
            <a:gdLst/>
            <a:ahLst/>
            <a:cxnLst/>
            <a:rect r="r" b="b" t="t" l="l"/>
            <a:pathLst>
              <a:path h="9211032" w="15944339">
                <a:moveTo>
                  <a:pt x="0" y="0"/>
                </a:moveTo>
                <a:lnTo>
                  <a:pt x="15944339" y="0"/>
                </a:lnTo>
                <a:lnTo>
                  <a:pt x="15944339" y="9211032"/>
                </a:lnTo>
                <a:lnTo>
                  <a:pt x="0" y="9211032"/>
                </a:lnTo>
                <a:lnTo>
                  <a:pt x="0" y="0"/>
                </a:lnTo>
                <a:close/>
              </a:path>
            </a:pathLst>
          </a:custGeom>
          <a:blipFill>
            <a:blip r:embed="rId7"/>
            <a:stretch>
              <a:fillRect l="0" t="-2013" r="-166" b="0"/>
            </a:stretch>
          </a:blipFill>
        </p:spPr>
      </p:sp>
      <p:sp>
        <p:nvSpPr>
          <p:cNvPr name="Freeform 6" id="6"/>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8">
              <a:alphaModFix amt="58000"/>
            </a:blip>
            <a:stretch>
              <a:fillRect l="0" t="-98009" r="-1795" b="-98009"/>
            </a:stretch>
          </a:blipFill>
        </p:spPr>
      </p:sp>
      <p:sp>
        <p:nvSpPr>
          <p:cNvPr name="Freeform 7" id="7"/>
          <p:cNvSpPr/>
          <p:nvPr/>
        </p:nvSpPr>
        <p:spPr>
          <a:xfrm flipH="false" flipV="false" rot="0">
            <a:off x="16565737" y="4191310"/>
            <a:ext cx="2106962" cy="1904379"/>
          </a:xfrm>
          <a:custGeom>
            <a:avLst/>
            <a:gdLst/>
            <a:ahLst/>
            <a:cxnLst/>
            <a:rect r="r" b="b" t="t" l="l"/>
            <a:pathLst>
              <a:path h="1904379" w="2106962">
                <a:moveTo>
                  <a:pt x="0" y="0"/>
                </a:moveTo>
                <a:lnTo>
                  <a:pt x="2106962" y="0"/>
                </a:lnTo>
                <a:lnTo>
                  <a:pt x="2106962" y="1904380"/>
                </a:lnTo>
                <a:lnTo>
                  <a:pt x="0" y="1904380"/>
                </a:lnTo>
                <a:lnTo>
                  <a:pt x="0" y="0"/>
                </a:lnTo>
                <a:close/>
              </a:path>
            </a:pathLst>
          </a:custGeom>
          <a:blipFill>
            <a:blip r:embed="rId9"/>
            <a:stretch>
              <a:fillRect l="0" t="0" r="-62246" b="0"/>
            </a:stretch>
          </a:blipFill>
        </p:spPr>
      </p:sp>
      <p:sp>
        <p:nvSpPr>
          <p:cNvPr name="Freeform 8" id="8"/>
          <p:cNvSpPr/>
          <p:nvPr/>
        </p:nvSpPr>
        <p:spPr>
          <a:xfrm flipH="true" flipV="false" rot="0">
            <a:off x="-477483" y="4191310"/>
            <a:ext cx="2106962" cy="1904379"/>
          </a:xfrm>
          <a:custGeom>
            <a:avLst/>
            <a:gdLst/>
            <a:ahLst/>
            <a:cxnLst/>
            <a:rect r="r" b="b" t="t" l="l"/>
            <a:pathLst>
              <a:path h="1904379" w="2106962">
                <a:moveTo>
                  <a:pt x="2106962" y="0"/>
                </a:moveTo>
                <a:lnTo>
                  <a:pt x="0" y="0"/>
                </a:lnTo>
                <a:lnTo>
                  <a:pt x="0" y="1904380"/>
                </a:lnTo>
                <a:lnTo>
                  <a:pt x="2106962" y="1904380"/>
                </a:lnTo>
                <a:lnTo>
                  <a:pt x="2106962" y="0"/>
                </a:lnTo>
                <a:close/>
              </a:path>
            </a:pathLst>
          </a:custGeom>
          <a:blipFill>
            <a:blip r:embed="rId9"/>
            <a:stretch>
              <a:fillRect l="0" t="0" r="-62246" b="0"/>
            </a:stretch>
          </a:blipFill>
        </p:spPr>
      </p:sp>
      <p:sp>
        <p:nvSpPr>
          <p:cNvPr name="Freeform 9" id="9"/>
          <p:cNvSpPr/>
          <p:nvPr/>
        </p:nvSpPr>
        <p:spPr>
          <a:xfrm flipH="false" flipV="false" rot="0">
            <a:off x="16565737" y="379501"/>
            <a:ext cx="1222855" cy="1298399"/>
          </a:xfrm>
          <a:custGeom>
            <a:avLst/>
            <a:gdLst/>
            <a:ahLst/>
            <a:cxnLst/>
            <a:rect r="r" b="b" t="t" l="l"/>
            <a:pathLst>
              <a:path h="1298399" w="1222855">
                <a:moveTo>
                  <a:pt x="0" y="0"/>
                </a:moveTo>
                <a:lnTo>
                  <a:pt x="1222856" y="0"/>
                </a:lnTo>
                <a:lnTo>
                  <a:pt x="1222856" y="1298398"/>
                </a:lnTo>
                <a:lnTo>
                  <a:pt x="0" y="12983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35992" y="2130104"/>
            <a:ext cx="17352600" cy="7667680"/>
          </a:xfrm>
          <a:custGeom>
            <a:avLst/>
            <a:gdLst/>
            <a:ahLst/>
            <a:cxnLst/>
            <a:rect r="r" b="b" t="t" l="l"/>
            <a:pathLst>
              <a:path h="7667680" w="17352600">
                <a:moveTo>
                  <a:pt x="0" y="0"/>
                </a:moveTo>
                <a:lnTo>
                  <a:pt x="17352601" y="0"/>
                </a:lnTo>
                <a:lnTo>
                  <a:pt x="17352601" y="7667680"/>
                </a:lnTo>
                <a:lnTo>
                  <a:pt x="0" y="7667680"/>
                </a:lnTo>
                <a:lnTo>
                  <a:pt x="0" y="0"/>
                </a:lnTo>
                <a:close/>
              </a:path>
            </a:pathLst>
          </a:custGeom>
          <a:blipFill>
            <a:blip r:embed="rId12"/>
            <a:stretch>
              <a:fillRect l="0" t="0" r="0" b="0"/>
            </a:stretch>
          </a:blipFill>
        </p:spPr>
      </p:sp>
      <p:sp>
        <p:nvSpPr>
          <p:cNvPr name="TextBox 11" id="11"/>
          <p:cNvSpPr txBox="true"/>
          <p:nvPr/>
        </p:nvSpPr>
        <p:spPr>
          <a:xfrm rot="0">
            <a:off x="1629479" y="978940"/>
            <a:ext cx="10246126" cy="861197"/>
          </a:xfrm>
          <a:prstGeom prst="rect">
            <a:avLst/>
          </a:prstGeom>
        </p:spPr>
        <p:txBody>
          <a:bodyPr anchor="t" rtlCol="false" tIns="0" lIns="0" bIns="0" rIns="0">
            <a:spAutoFit/>
          </a:bodyPr>
          <a:lstStyle/>
          <a:p>
            <a:pPr algn="l">
              <a:lnSpc>
                <a:spcPts val="6331"/>
              </a:lnSpc>
            </a:pPr>
            <a:r>
              <a:rPr lang="en-US" sz="6527" b="true">
                <a:solidFill>
                  <a:srgbClr val="535D0F"/>
                </a:solidFill>
                <a:latin typeface="Bricolage Grotesque Bold"/>
                <a:ea typeface="Bricolage Grotesque Bold"/>
                <a:cs typeface="Bricolage Grotesque Bold"/>
                <a:sym typeface="Bricolage Grotesque Bold"/>
              </a:rPr>
              <a:t>HUGGING FACE APP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1495044" y="1595035"/>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BUSINESS RECOMMENDATION</a:t>
              </a:r>
            </a:p>
          </p:txBody>
        </p:sp>
      </p:grpSp>
      <p:grpSp>
        <p:nvGrpSpPr>
          <p:cNvPr name="Group 7" id="7"/>
          <p:cNvGrpSpPr/>
          <p:nvPr/>
        </p:nvGrpSpPr>
        <p:grpSpPr>
          <a:xfrm rot="0">
            <a:off x="808672" y="2706200"/>
            <a:ext cx="16615410" cy="1802130"/>
            <a:chOff x="0" y="0"/>
            <a:chExt cx="22153880" cy="2402840"/>
          </a:xfrm>
        </p:grpSpPr>
        <p:sp>
          <p:nvSpPr>
            <p:cNvPr name="Freeform 8" id="8"/>
            <p:cNvSpPr/>
            <p:nvPr/>
          </p:nvSpPr>
          <p:spPr>
            <a:xfrm flipH="false" flipV="false" rot="0">
              <a:off x="0" y="0"/>
              <a:ext cx="22153880" cy="2402840"/>
            </a:xfrm>
            <a:custGeom>
              <a:avLst/>
              <a:gdLst/>
              <a:ahLst/>
              <a:cxnLst/>
              <a:rect r="r" b="b" t="t" l="l"/>
              <a:pathLst>
                <a:path h="2402840" w="22153880">
                  <a:moveTo>
                    <a:pt x="0" y="184785"/>
                  </a:moveTo>
                  <a:cubicBezTo>
                    <a:pt x="0" y="82804"/>
                    <a:pt x="82804" y="0"/>
                    <a:pt x="184785" y="0"/>
                  </a:cubicBezTo>
                  <a:lnTo>
                    <a:pt x="21969095" y="0"/>
                  </a:lnTo>
                  <a:cubicBezTo>
                    <a:pt x="22071203" y="0"/>
                    <a:pt x="22153880" y="82804"/>
                    <a:pt x="22153880" y="184785"/>
                  </a:cubicBezTo>
                  <a:lnTo>
                    <a:pt x="22153880" y="2218055"/>
                  </a:lnTo>
                  <a:cubicBezTo>
                    <a:pt x="22153880" y="2320163"/>
                    <a:pt x="22071076" y="2402840"/>
                    <a:pt x="21969095" y="2402840"/>
                  </a:cubicBezTo>
                  <a:lnTo>
                    <a:pt x="184785" y="2402840"/>
                  </a:lnTo>
                  <a:cubicBezTo>
                    <a:pt x="82804" y="2402840"/>
                    <a:pt x="0" y="2320036"/>
                    <a:pt x="0" y="2218055"/>
                  </a:cubicBezTo>
                  <a:close/>
                </a:path>
              </a:pathLst>
            </a:custGeom>
            <a:solidFill>
              <a:srgbClr val="FFFFFF"/>
            </a:solidFill>
            <a:ln w="19050" cap="sq">
              <a:solidFill>
                <a:srgbClr val="065A82"/>
              </a:solidFill>
              <a:prstDash val="solid"/>
              <a:miter/>
            </a:ln>
          </p:spPr>
        </p:sp>
      </p:grpSp>
      <p:grpSp>
        <p:nvGrpSpPr>
          <p:cNvPr name="Group 9" id="9"/>
          <p:cNvGrpSpPr/>
          <p:nvPr/>
        </p:nvGrpSpPr>
        <p:grpSpPr>
          <a:xfrm rot="0">
            <a:off x="1234440" y="2990088"/>
            <a:ext cx="4663440" cy="384048"/>
            <a:chOff x="0" y="0"/>
            <a:chExt cx="6217920" cy="512064"/>
          </a:xfrm>
        </p:grpSpPr>
        <p:sp>
          <p:nvSpPr>
            <p:cNvPr name="Freeform 10" id="10"/>
            <p:cNvSpPr/>
            <p:nvPr/>
          </p:nvSpPr>
          <p:spPr>
            <a:xfrm flipH="false" flipV="false" rot="0">
              <a:off x="0" y="0"/>
              <a:ext cx="6217920" cy="512064"/>
            </a:xfrm>
            <a:custGeom>
              <a:avLst/>
              <a:gdLst/>
              <a:ahLst/>
              <a:cxnLst/>
              <a:rect r="r" b="b" t="t" l="l"/>
              <a:pathLst>
                <a:path h="512064" w="6217920">
                  <a:moveTo>
                    <a:pt x="0" y="0"/>
                  </a:moveTo>
                  <a:lnTo>
                    <a:pt x="6217920" y="0"/>
                  </a:lnTo>
                  <a:lnTo>
                    <a:pt x="6217920" y="512064"/>
                  </a:lnTo>
                  <a:lnTo>
                    <a:pt x="0" y="512064"/>
                  </a:lnTo>
                  <a:close/>
                </a:path>
              </a:pathLst>
            </a:custGeom>
            <a:blipFill>
              <a:blip r:embed="rId5">
                <a:alphaModFix amt="0"/>
              </a:blip>
              <a:stretch>
                <a:fillRect l="0" t="-186604" r="0" b="-186604"/>
              </a:stretch>
            </a:blipFill>
          </p:spPr>
        </p:sp>
        <p:sp>
          <p:nvSpPr>
            <p:cNvPr name="TextBox 11" id="11"/>
            <p:cNvSpPr txBox="true"/>
            <p:nvPr/>
          </p:nvSpPr>
          <p:spPr>
            <a:xfrm>
              <a:off x="0" y="0"/>
              <a:ext cx="6217920" cy="512064"/>
            </a:xfrm>
            <a:prstGeom prst="rect">
              <a:avLst/>
            </a:prstGeom>
          </p:spPr>
          <p:txBody>
            <a:bodyPr anchor="ctr" rtlCol="false" tIns="0" lIns="0" bIns="0" rIns="0"/>
            <a:lstStyle/>
            <a:p>
              <a:pPr algn="l">
                <a:lnSpc>
                  <a:spcPts val="2070"/>
                </a:lnSpc>
              </a:pPr>
              <a:r>
                <a:rPr lang="en-US" b="true" sz="1725">
                  <a:solidFill>
                    <a:srgbClr val="8D140B"/>
                  </a:solidFill>
                  <a:latin typeface="Inter Bold"/>
                  <a:ea typeface="Inter Bold"/>
                  <a:cs typeface="Inter Bold"/>
                  <a:sym typeface="Inter Bold"/>
                </a:rPr>
                <a:t>Recommendation</a:t>
              </a:r>
            </a:p>
          </p:txBody>
        </p:sp>
      </p:grpSp>
      <p:grpSp>
        <p:nvGrpSpPr>
          <p:cNvPr name="Group 12" id="12"/>
          <p:cNvGrpSpPr/>
          <p:nvPr/>
        </p:nvGrpSpPr>
        <p:grpSpPr>
          <a:xfrm rot="0">
            <a:off x="1220724" y="3248363"/>
            <a:ext cx="10972800" cy="1059942"/>
            <a:chOff x="0" y="0"/>
            <a:chExt cx="14630400" cy="1413256"/>
          </a:xfrm>
        </p:grpSpPr>
        <p:sp>
          <p:nvSpPr>
            <p:cNvPr name="Freeform 13" id="13"/>
            <p:cNvSpPr/>
            <p:nvPr/>
          </p:nvSpPr>
          <p:spPr>
            <a:xfrm flipH="false" flipV="false" rot="0">
              <a:off x="0" y="0"/>
              <a:ext cx="14630400" cy="1413256"/>
            </a:xfrm>
            <a:custGeom>
              <a:avLst/>
              <a:gdLst/>
              <a:ahLst/>
              <a:cxnLst/>
              <a:rect r="r" b="b" t="t" l="l"/>
              <a:pathLst>
                <a:path h="1413256" w="14630400">
                  <a:moveTo>
                    <a:pt x="0" y="0"/>
                  </a:moveTo>
                  <a:lnTo>
                    <a:pt x="14630400" y="0"/>
                  </a:lnTo>
                  <a:lnTo>
                    <a:pt x="14630400" y="1413256"/>
                  </a:lnTo>
                  <a:lnTo>
                    <a:pt x="0" y="1413256"/>
                  </a:lnTo>
                  <a:close/>
                </a:path>
              </a:pathLst>
            </a:custGeom>
            <a:blipFill>
              <a:blip r:embed="rId5">
                <a:alphaModFix amt="0"/>
              </a:blip>
              <a:stretch>
                <a:fillRect l="0" t="-157717" r="0" b="-145711"/>
              </a:stretch>
            </a:blipFill>
          </p:spPr>
        </p:sp>
        <p:sp>
          <p:nvSpPr>
            <p:cNvPr name="TextBox 14" id="14"/>
            <p:cNvSpPr txBox="true"/>
            <p:nvPr/>
          </p:nvSpPr>
          <p:spPr>
            <a:xfrm>
              <a:off x="0" y="-9525"/>
              <a:ext cx="14630400" cy="1422781"/>
            </a:xfrm>
            <a:prstGeom prst="rect">
              <a:avLst/>
            </a:prstGeom>
          </p:spPr>
          <p:txBody>
            <a:bodyPr anchor="ctr" rtlCol="false" tIns="0" lIns="0" bIns="0" rIns="0"/>
            <a:lstStyle/>
            <a:p>
              <a:pPr algn="l">
                <a:lnSpc>
                  <a:spcPts val="3419"/>
                </a:lnSpc>
              </a:pPr>
              <a:r>
                <a:rPr lang="en-US" b="true" sz="2850">
                  <a:solidFill>
                    <a:srgbClr val="8D140B"/>
                  </a:solidFill>
                  <a:latin typeface="Bricolage Grotesque Bold"/>
                  <a:ea typeface="Bricolage Grotesque Bold"/>
                  <a:cs typeface="Bricolage Grotesque Bold"/>
                  <a:sym typeface="Bricolage Grotesque Bold"/>
                </a:rPr>
                <a:t>STAND UP A 90-DAY PHARMACIST PILOT ON THE TOP 15–20% OF DIABETES DISCHARGES</a:t>
              </a:r>
            </a:p>
          </p:txBody>
        </p:sp>
      </p:grpSp>
      <p:grpSp>
        <p:nvGrpSpPr>
          <p:cNvPr name="Group 15" id="15"/>
          <p:cNvGrpSpPr/>
          <p:nvPr/>
        </p:nvGrpSpPr>
        <p:grpSpPr>
          <a:xfrm rot="0">
            <a:off x="12344400" y="2957872"/>
            <a:ext cx="2400300" cy="1298786"/>
            <a:chOff x="0" y="0"/>
            <a:chExt cx="3200400" cy="1731714"/>
          </a:xfrm>
        </p:grpSpPr>
        <p:sp>
          <p:nvSpPr>
            <p:cNvPr name="Freeform 16" id="16"/>
            <p:cNvSpPr/>
            <p:nvPr/>
          </p:nvSpPr>
          <p:spPr>
            <a:xfrm flipH="false" flipV="false" rot="0">
              <a:off x="0" y="0"/>
              <a:ext cx="3200400" cy="1731714"/>
            </a:xfrm>
            <a:custGeom>
              <a:avLst/>
              <a:gdLst/>
              <a:ahLst/>
              <a:cxnLst/>
              <a:rect r="r" b="b" t="t" l="l"/>
              <a:pathLst>
                <a:path h="1731714" w="3200400">
                  <a:moveTo>
                    <a:pt x="0" y="0"/>
                  </a:moveTo>
                  <a:lnTo>
                    <a:pt x="3200400" y="0"/>
                  </a:lnTo>
                  <a:lnTo>
                    <a:pt x="3200400" y="1731714"/>
                  </a:lnTo>
                  <a:lnTo>
                    <a:pt x="0" y="1731714"/>
                  </a:lnTo>
                  <a:close/>
                </a:path>
              </a:pathLst>
            </a:custGeom>
            <a:blipFill>
              <a:blip r:embed="rId5">
                <a:alphaModFix amt="0"/>
              </a:blip>
              <a:stretch>
                <a:fillRect l="-13052" t="0" r="-13052" b="9178"/>
              </a:stretch>
            </a:blipFill>
          </p:spPr>
        </p:sp>
        <p:sp>
          <p:nvSpPr>
            <p:cNvPr name="TextBox 17" id="17"/>
            <p:cNvSpPr txBox="true"/>
            <p:nvPr/>
          </p:nvSpPr>
          <p:spPr>
            <a:xfrm>
              <a:off x="0" y="0"/>
              <a:ext cx="3200400" cy="1731714"/>
            </a:xfrm>
            <a:prstGeom prst="rect">
              <a:avLst/>
            </a:prstGeom>
          </p:spPr>
          <p:txBody>
            <a:bodyPr anchor="ctr" rtlCol="false" tIns="0" lIns="0" bIns="0" rIns="0"/>
            <a:lstStyle/>
            <a:p>
              <a:pPr algn="ctr">
                <a:lnSpc>
                  <a:spcPts val="4680"/>
                </a:lnSpc>
              </a:pPr>
              <a:r>
                <a:rPr lang="en-US" b="true" sz="3900">
                  <a:solidFill>
                    <a:srgbClr val="8D140B"/>
                  </a:solidFill>
                  <a:latin typeface="Bricolage Grotesque Bold"/>
                  <a:ea typeface="Bricolage Grotesque Bold"/>
                  <a:cs typeface="Bricolage Grotesque Bold"/>
                  <a:sym typeface="Bricolage Grotesque Bold"/>
                </a:rPr>
                <a:t>~4</a:t>
              </a:r>
            </a:p>
            <a:p>
              <a:pPr algn="ctr">
                <a:lnSpc>
                  <a:spcPts val="2039"/>
                </a:lnSpc>
              </a:pPr>
              <a:r>
                <a:rPr lang="en-US" b="true" sz="1699">
                  <a:solidFill>
                    <a:srgbClr val="8D140B"/>
                  </a:solidFill>
                  <a:latin typeface="Inter Bold"/>
                  <a:ea typeface="Inter Bold"/>
                  <a:cs typeface="Inter Bold"/>
                  <a:sym typeface="Inter Bold"/>
                </a:rPr>
                <a:t>patients per working day</a:t>
              </a:r>
            </a:p>
          </p:txBody>
        </p:sp>
      </p:grpSp>
      <p:grpSp>
        <p:nvGrpSpPr>
          <p:cNvPr name="Group 18" id="18"/>
          <p:cNvGrpSpPr/>
          <p:nvPr/>
        </p:nvGrpSpPr>
        <p:grpSpPr>
          <a:xfrm rot="0">
            <a:off x="14878050" y="2985854"/>
            <a:ext cx="2400300" cy="1179576"/>
            <a:chOff x="0" y="0"/>
            <a:chExt cx="3200400" cy="1572768"/>
          </a:xfrm>
        </p:grpSpPr>
        <p:sp>
          <p:nvSpPr>
            <p:cNvPr name="Freeform 19" id="19"/>
            <p:cNvSpPr/>
            <p:nvPr/>
          </p:nvSpPr>
          <p:spPr>
            <a:xfrm flipH="false" flipV="false" rot="0">
              <a:off x="0" y="0"/>
              <a:ext cx="3200400" cy="1572768"/>
            </a:xfrm>
            <a:custGeom>
              <a:avLst/>
              <a:gdLst/>
              <a:ahLst/>
              <a:cxnLst/>
              <a:rect r="r" b="b" t="t" l="l"/>
              <a:pathLst>
                <a:path h="1572768" w="3200400">
                  <a:moveTo>
                    <a:pt x="0" y="0"/>
                  </a:moveTo>
                  <a:lnTo>
                    <a:pt x="3200400" y="0"/>
                  </a:lnTo>
                  <a:lnTo>
                    <a:pt x="3200400" y="1572768"/>
                  </a:lnTo>
                  <a:lnTo>
                    <a:pt x="0" y="1572768"/>
                  </a:lnTo>
                  <a:close/>
                </a:path>
              </a:pathLst>
            </a:custGeom>
            <a:blipFill>
              <a:blip r:embed="rId5">
                <a:alphaModFix amt="0"/>
              </a:blip>
              <a:stretch>
                <a:fillRect l="-13052" t="0" r="-13052" b="0"/>
              </a:stretch>
            </a:blipFill>
          </p:spPr>
        </p:sp>
        <p:sp>
          <p:nvSpPr>
            <p:cNvPr name="TextBox 20" id="20"/>
            <p:cNvSpPr txBox="true"/>
            <p:nvPr/>
          </p:nvSpPr>
          <p:spPr>
            <a:xfrm>
              <a:off x="0" y="0"/>
              <a:ext cx="3200400" cy="1572768"/>
            </a:xfrm>
            <a:prstGeom prst="rect">
              <a:avLst/>
            </a:prstGeom>
          </p:spPr>
          <p:txBody>
            <a:bodyPr anchor="ctr" rtlCol="false" tIns="0" lIns="0" bIns="0" rIns="0"/>
            <a:lstStyle/>
            <a:p>
              <a:pPr algn="ctr">
                <a:lnSpc>
                  <a:spcPts val="4680"/>
                </a:lnSpc>
              </a:pPr>
              <a:r>
                <a:rPr lang="en-US" b="true" sz="3900">
                  <a:solidFill>
                    <a:srgbClr val="8D140B"/>
                  </a:solidFill>
                  <a:latin typeface="Bricolage Grotesque Bold"/>
                  <a:ea typeface="Bricolage Grotesque Bold"/>
                  <a:cs typeface="Bricolage Grotesque Bold"/>
                  <a:sym typeface="Bricolage Grotesque Bold"/>
                </a:rPr>
                <a:t>3.0×</a:t>
              </a:r>
            </a:p>
            <a:p>
              <a:pPr algn="ctr">
                <a:lnSpc>
                  <a:spcPts val="2039"/>
                </a:lnSpc>
              </a:pPr>
              <a:r>
                <a:rPr lang="en-US" b="true" sz="1699">
                  <a:solidFill>
                    <a:srgbClr val="8D140B"/>
                  </a:solidFill>
                  <a:latin typeface="Inter Bold"/>
                  <a:ea typeface="Inter Bold"/>
                  <a:cs typeface="Inter Bold"/>
                  <a:sym typeface="Inter Bold"/>
                </a:rPr>
                <a:t>estimated ROI</a:t>
              </a:r>
            </a:p>
          </p:txBody>
        </p:sp>
      </p:grpSp>
      <p:grpSp>
        <p:nvGrpSpPr>
          <p:cNvPr name="Group 21" id="21"/>
          <p:cNvGrpSpPr/>
          <p:nvPr/>
        </p:nvGrpSpPr>
        <p:grpSpPr>
          <a:xfrm rot="0">
            <a:off x="891540" y="5012728"/>
            <a:ext cx="8229600" cy="421914"/>
            <a:chOff x="0" y="0"/>
            <a:chExt cx="10972800" cy="562552"/>
          </a:xfrm>
        </p:grpSpPr>
        <p:sp>
          <p:nvSpPr>
            <p:cNvPr name="Freeform 22" id="22"/>
            <p:cNvSpPr/>
            <p:nvPr/>
          </p:nvSpPr>
          <p:spPr>
            <a:xfrm flipH="false" flipV="false" rot="0">
              <a:off x="0" y="0"/>
              <a:ext cx="10972800" cy="562552"/>
            </a:xfrm>
            <a:custGeom>
              <a:avLst/>
              <a:gdLst/>
              <a:ahLst/>
              <a:cxnLst/>
              <a:rect r="r" b="b" t="t" l="l"/>
              <a:pathLst>
                <a:path h="562552" w="10972800">
                  <a:moveTo>
                    <a:pt x="0" y="0"/>
                  </a:moveTo>
                  <a:lnTo>
                    <a:pt x="10972800" y="0"/>
                  </a:lnTo>
                  <a:lnTo>
                    <a:pt x="10972800" y="562552"/>
                  </a:lnTo>
                  <a:lnTo>
                    <a:pt x="0" y="562552"/>
                  </a:lnTo>
                  <a:close/>
                </a:path>
              </a:pathLst>
            </a:custGeom>
            <a:blipFill>
              <a:blip r:embed="rId5">
                <a:alphaModFix amt="0"/>
              </a:blip>
              <a:stretch>
                <a:fillRect l="0" t="-331299" r="0" b="-328826"/>
              </a:stretch>
            </a:blipFill>
          </p:spPr>
        </p:sp>
        <p:sp>
          <p:nvSpPr>
            <p:cNvPr name="TextBox 23" id="23"/>
            <p:cNvSpPr txBox="true"/>
            <p:nvPr/>
          </p:nvSpPr>
          <p:spPr>
            <a:xfrm>
              <a:off x="0" y="-9525"/>
              <a:ext cx="10972800" cy="572077"/>
            </a:xfrm>
            <a:prstGeom prst="rect">
              <a:avLst/>
            </a:prstGeom>
          </p:spPr>
          <p:txBody>
            <a:bodyPr anchor="ctr" rtlCol="false" tIns="0" lIns="0" bIns="0" rIns="0"/>
            <a:lstStyle/>
            <a:p>
              <a:pPr algn="l">
                <a:lnSpc>
                  <a:spcPts val="2340"/>
                </a:lnSpc>
              </a:pPr>
              <a:r>
                <a:rPr lang="en-US" b="true" sz="1950">
                  <a:solidFill>
                    <a:srgbClr val="8D140B"/>
                  </a:solidFill>
                  <a:latin typeface="Inter Bold"/>
                  <a:ea typeface="Inter Bold"/>
                  <a:cs typeface="Inter Bold"/>
                  <a:sym typeface="Inter Bold"/>
                </a:rPr>
                <a:t>Phased path to adoption</a:t>
              </a:r>
            </a:p>
          </p:txBody>
        </p:sp>
      </p:grpSp>
      <p:grpSp>
        <p:nvGrpSpPr>
          <p:cNvPr name="Group 24" id="24"/>
          <p:cNvGrpSpPr/>
          <p:nvPr/>
        </p:nvGrpSpPr>
        <p:grpSpPr>
          <a:xfrm rot="0">
            <a:off x="808672" y="5362384"/>
            <a:ext cx="5213223" cy="2716911"/>
            <a:chOff x="0" y="0"/>
            <a:chExt cx="6950964" cy="3622548"/>
          </a:xfrm>
        </p:grpSpPr>
        <p:sp>
          <p:nvSpPr>
            <p:cNvPr name="Freeform 25" id="25"/>
            <p:cNvSpPr/>
            <p:nvPr/>
          </p:nvSpPr>
          <p:spPr>
            <a:xfrm flipH="false" flipV="false" rot="0">
              <a:off x="0" y="0"/>
              <a:ext cx="6950964" cy="3622548"/>
            </a:xfrm>
            <a:custGeom>
              <a:avLst/>
              <a:gdLst/>
              <a:ahLst/>
              <a:cxnLst/>
              <a:rect r="r" b="b" t="t" l="l"/>
              <a:pathLst>
                <a:path h="3622548" w="6950964">
                  <a:moveTo>
                    <a:pt x="0" y="184785"/>
                  </a:moveTo>
                  <a:cubicBezTo>
                    <a:pt x="0" y="82804"/>
                    <a:pt x="82804" y="0"/>
                    <a:pt x="184785" y="0"/>
                  </a:cubicBezTo>
                  <a:lnTo>
                    <a:pt x="6766179" y="0"/>
                  </a:lnTo>
                  <a:cubicBezTo>
                    <a:pt x="6868287" y="0"/>
                    <a:pt x="6950964" y="82804"/>
                    <a:pt x="6950964" y="184785"/>
                  </a:cubicBezTo>
                  <a:lnTo>
                    <a:pt x="6950964" y="3437763"/>
                  </a:lnTo>
                  <a:cubicBezTo>
                    <a:pt x="6950964" y="3539871"/>
                    <a:pt x="6868161" y="3622548"/>
                    <a:pt x="6766179" y="3622548"/>
                  </a:cubicBezTo>
                  <a:lnTo>
                    <a:pt x="184785" y="3622548"/>
                  </a:lnTo>
                  <a:cubicBezTo>
                    <a:pt x="82804" y="3622548"/>
                    <a:pt x="0" y="3539744"/>
                    <a:pt x="0" y="3437763"/>
                  </a:cubicBezTo>
                  <a:close/>
                </a:path>
              </a:pathLst>
            </a:custGeom>
            <a:solidFill>
              <a:srgbClr val="F3DFDD"/>
            </a:solidFill>
            <a:ln w="28575" cap="sq">
              <a:solidFill>
                <a:srgbClr val="1C7293"/>
              </a:solidFill>
              <a:prstDash val="solid"/>
              <a:miter/>
            </a:ln>
          </p:spPr>
        </p:sp>
      </p:grpSp>
      <p:grpSp>
        <p:nvGrpSpPr>
          <p:cNvPr name="Group 26" id="26"/>
          <p:cNvGrpSpPr/>
          <p:nvPr/>
        </p:nvGrpSpPr>
        <p:grpSpPr>
          <a:xfrm rot="0">
            <a:off x="1152144" y="5541264"/>
            <a:ext cx="4526280" cy="343657"/>
            <a:chOff x="0" y="0"/>
            <a:chExt cx="6035040" cy="458210"/>
          </a:xfrm>
        </p:grpSpPr>
        <p:sp>
          <p:nvSpPr>
            <p:cNvPr name="Freeform 27" id="27"/>
            <p:cNvSpPr/>
            <p:nvPr/>
          </p:nvSpPr>
          <p:spPr>
            <a:xfrm flipH="false" flipV="false" rot="0">
              <a:off x="0" y="0"/>
              <a:ext cx="6035040" cy="458210"/>
            </a:xfrm>
            <a:custGeom>
              <a:avLst/>
              <a:gdLst/>
              <a:ahLst/>
              <a:cxnLst/>
              <a:rect r="r" b="b" t="t" l="l"/>
              <a:pathLst>
                <a:path h="458210" w="6035040">
                  <a:moveTo>
                    <a:pt x="0" y="0"/>
                  </a:moveTo>
                  <a:lnTo>
                    <a:pt x="6035040" y="0"/>
                  </a:lnTo>
                  <a:lnTo>
                    <a:pt x="6035040" y="458210"/>
                  </a:lnTo>
                  <a:lnTo>
                    <a:pt x="0" y="458210"/>
                  </a:lnTo>
                  <a:close/>
                </a:path>
              </a:pathLst>
            </a:custGeom>
            <a:blipFill>
              <a:blip r:embed="rId5">
                <a:alphaModFix amt="0"/>
              </a:blip>
              <a:stretch>
                <a:fillRect l="0" t="-208741" r="0" b="-204529"/>
              </a:stretch>
            </a:blipFill>
          </p:spPr>
        </p:sp>
        <p:sp>
          <p:nvSpPr>
            <p:cNvPr name="TextBox 28" id="28"/>
            <p:cNvSpPr txBox="true"/>
            <p:nvPr/>
          </p:nvSpPr>
          <p:spPr>
            <a:xfrm>
              <a:off x="0" y="-9525"/>
              <a:ext cx="6035040" cy="467735"/>
            </a:xfrm>
            <a:prstGeom prst="rect">
              <a:avLst/>
            </a:prstGeom>
          </p:spPr>
          <p:txBody>
            <a:bodyPr anchor="ctr" rtlCol="false" tIns="0" lIns="0" bIns="0" rIns="0"/>
            <a:lstStyle/>
            <a:p>
              <a:pPr algn="l">
                <a:lnSpc>
                  <a:spcPts val="1949"/>
                </a:lnSpc>
              </a:pPr>
              <a:r>
                <a:rPr lang="en-US" b="true" sz="1624">
                  <a:solidFill>
                    <a:srgbClr val="8D140B"/>
                  </a:solidFill>
                  <a:latin typeface="Inter Bold"/>
                  <a:ea typeface="Inter Bold"/>
                  <a:cs typeface="Inter Bold"/>
                  <a:sym typeface="Inter Bold"/>
                </a:rPr>
                <a:t>Phase 1 · Days 0–90</a:t>
              </a:r>
            </a:p>
          </p:txBody>
        </p:sp>
      </p:grpSp>
      <p:grpSp>
        <p:nvGrpSpPr>
          <p:cNvPr name="Group 29" id="29"/>
          <p:cNvGrpSpPr/>
          <p:nvPr/>
        </p:nvGrpSpPr>
        <p:grpSpPr>
          <a:xfrm rot="0">
            <a:off x="1152144" y="5897880"/>
            <a:ext cx="4526280" cy="489022"/>
            <a:chOff x="0" y="0"/>
            <a:chExt cx="6035040" cy="652030"/>
          </a:xfrm>
        </p:grpSpPr>
        <p:sp>
          <p:nvSpPr>
            <p:cNvPr name="Freeform 30" id="30"/>
            <p:cNvSpPr/>
            <p:nvPr/>
          </p:nvSpPr>
          <p:spPr>
            <a:xfrm flipH="false" flipV="false" rot="0">
              <a:off x="0" y="0"/>
              <a:ext cx="6035040" cy="652030"/>
            </a:xfrm>
            <a:custGeom>
              <a:avLst/>
              <a:gdLst/>
              <a:ahLst/>
              <a:cxnLst/>
              <a:rect r="r" b="b" t="t" l="l"/>
              <a:pathLst>
                <a:path h="652030" w="6035040">
                  <a:moveTo>
                    <a:pt x="0" y="0"/>
                  </a:moveTo>
                  <a:lnTo>
                    <a:pt x="6035040" y="0"/>
                  </a:lnTo>
                  <a:lnTo>
                    <a:pt x="6035040" y="652030"/>
                  </a:lnTo>
                  <a:lnTo>
                    <a:pt x="0" y="652030"/>
                  </a:lnTo>
                  <a:close/>
                </a:path>
              </a:pathLst>
            </a:custGeom>
            <a:blipFill>
              <a:blip r:embed="rId5">
                <a:alphaModFix amt="0"/>
              </a:blip>
              <a:stretch>
                <a:fillRect l="0" t="-138277" r="0" b="-122420"/>
              </a:stretch>
            </a:blipFill>
          </p:spPr>
        </p:sp>
        <p:sp>
          <p:nvSpPr>
            <p:cNvPr name="TextBox 31" id="31"/>
            <p:cNvSpPr txBox="true"/>
            <p:nvPr/>
          </p:nvSpPr>
          <p:spPr>
            <a:xfrm>
              <a:off x="0" y="-9525"/>
              <a:ext cx="6035040" cy="661555"/>
            </a:xfrm>
            <a:prstGeom prst="rect">
              <a:avLst/>
            </a:prstGeom>
          </p:spPr>
          <p:txBody>
            <a:bodyPr anchor="ctr" rtlCol="false" tIns="0" lIns="0" bIns="0" rIns="0"/>
            <a:lstStyle/>
            <a:p>
              <a:pPr algn="l">
                <a:lnSpc>
                  <a:spcPts val="2700"/>
                </a:lnSpc>
              </a:pPr>
              <a:r>
                <a:rPr lang="en-US" b="true" sz="2250">
                  <a:solidFill>
                    <a:srgbClr val="8D140B"/>
                  </a:solidFill>
                  <a:latin typeface="Inter Bold"/>
                  <a:ea typeface="Inter Bold"/>
                  <a:cs typeface="Inter Bold"/>
                  <a:sym typeface="Inter Bold"/>
                </a:rPr>
                <a:t>Pilot &amp; measure</a:t>
              </a:r>
            </a:p>
          </p:txBody>
        </p:sp>
      </p:grpSp>
      <p:grpSp>
        <p:nvGrpSpPr>
          <p:cNvPr name="Group 32" id="32"/>
          <p:cNvGrpSpPr/>
          <p:nvPr/>
        </p:nvGrpSpPr>
        <p:grpSpPr>
          <a:xfrm rot="0">
            <a:off x="1152144" y="6391656"/>
            <a:ext cx="4526280" cy="1536192"/>
            <a:chOff x="0" y="0"/>
            <a:chExt cx="6035040" cy="2048256"/>
          </a:xfrm>
        </p:grpSpPr>
        <p:sp>
          <p:nvSpPr>
            <p:cNvPr name="Freeform 33" id="33"/>
            <p:cNvSpPr/>
            <p:nvPr/>
          </p:nvSpPr>
          <p:spPr>
            <a:xfrm flipH="false" flipV="false" rot="0">
              <a:off x="0" y="0"/>
              <a:ext cx="6035040" cy="2048256"/>
            </a:xfrm>
            <a:custGeom>
              <a:avLst/>
              <a:gdLst/>
              <a:ahLst/>
              <a:cxnLst/>
              <a:rect r="r" b="b" t="t" l="l"/>
              <a:pathLst>
                <a:path h="2048256" w="6035040">
                  <a:moveTo>
                    <a:pt x="0" y="0"/>
                  </a:moveTo>
                  <a:lnTo>
                    <a:pt x="6035040" y="0"/>
                  </a:lnTo>
                  <a:lnTo>
                    <a:pt x="6035040" y="2048256"/>
                  </a:lnTo>
                  <a:lnTo>
                    <a:pt x="0" y="2048256"/>
                  </a:lnTo>
                  <a:close/>
                </a:path>
              </a:pathLst>
            </a:custGeom>
            <a:blipFill>
              <a:blip r:embed="rId5">
                <a:alphaModFix amt="0"/>
              </a:blip>
              <a:stretch>
                <a:fillRect l="0" t="-7411" r="0" b="-7411"/>
              </a:stretch>
            </a:blipFill>
          </p:spPr>
        </p:sp>
        <p:sp>
          <p:nvSpPr>
            <p:cNvPr name="TextBox 34" id="34"/>
            <p:cNvSpPr txBox="true"/>
            <p:nvPr/>
          </p:nvSpPr>
          <p:spPr>
            <a:xfrm>
              <a:off x="0" y="0"/>
              <a:ext cx="6035040" cy="2048256"/>
            </a:xfrm>
            <a:prstGeom prst="rect">
              <a:avLst/>
            </a:prstGeom>
          </p:spPr>
          <p:txBody>
            <a:bodyPr anchor="ctr" rtlCol="false" tIns="0" lIns="0" bIns="0" rIns="0"/>
            <a:lstStyle/>
            <a:p>
              <a:pPr algn="l">
                <a:lnSpc>
                  <a:spcPts val="2075"/>
                </a:lnSpc>
              </a:pPr>
              <a:r>
                <a:rPr lang="en-US" b="true" sz="1729">
                  <a:solidFill>
                    <a:srgbClr val="1F2B5B"/>
                  </a:solidFill>
                  <a:latin typeface="Inter Bold"/>
                  <a:ea typeface="Inter Bold"/>
                  <a:cs typeface="Inter Bold"/>
                  <a:sym typeface="Inter Bold"/>
                </a:rPr>
                <a:t>Run the worklist at 15–20%. Track readmissions in flagged-and-treated vs. flagged-and-untreated patients to track </a:t>
              </a:r>
              <a:r>
                <a:rPr lang="en-US" b="true" sz="1729" u="sng">
                  <a:solidFill>
                    <a:srgbClr val="1F2B5B"/>
                  </a:solidFill>
                  <a:latin typeface="Inter Bold"/>
                  <a:ea typeface="Inter Bold"/>
                  <a:cs typeface="Inter Bold"/>
                  <a:sym typeface="Inter Bold"/>
                </a:rPr>
                <a:t>intervention data.</a:t>
              </a:r>
            </a:p>
          </p:txBody>
        </p:sp>
      </p:grpSp>
      <p:grpSp>
        <p:nvGrpSpPr>
          <p:cNvPr name="Group 35" id="35"/>
          <p:cNvGrpSpPr/>
          <p:nvPr/>
        </p:nvGrpSpPr>
        <p:grpSpPr>
          <a:xfrm rot="0">
            <a:off x="6368415" y="5367147"/>
            <a:ext cx="5203698" cy="2707386"/>
            <a:chOff x="0" y="0"/>
            <a:chExt cx="6938264" cy="3609848"/>
          </a:xfrm>
        </p:grpSpPr>
        <p:sp>
          <p:nvSpPr>
            <p:cNvPr name="Freeform 36" id="36"/>
            <p:cNvSpPr/>
            <p:nvPr/>
          </p:nvSpPr>
          <p:spPr>
            <a:xfrm flipH="false" flipV="false" rot="0">
              <a:off x="0" y="0"/>
              <a:ext cx="6938264" cy="3609848"/>
            </a:xfrm>
            <a:custGeom>
              <a:avLst/>
              <a:gdLst/>
              <a:ahLst/>
              <a:cxnLst/>
              <a:rect r="r" b="b" t="t" l="l"/>
              <a:pathLst>
                <a:path h="3609848" w="6938264">
                  <a:moveTo>
                    <a:pt x="0" y="184150"/>
                  </a:moveTo>
                  <a:cubicBezTo>
                    <a:pt x="0" y="82423"/>
                    <a:pt x="82423" y="0"/>
                    <a:pt x="184150" y="0"/>
                  </a:cubicBezTo>
                  <a:lnTo>
                    <a:pt x="6754114" y="0"/>
                  </a:lnTo>
                  <a:cubicBezTo>
                    <a:pt x="6855841" y="0"/>
                    <a:pt x="6938264" y="82423"/>
                    <a:pt x="6938264" y="184150"/>
                  </a:cubicBezTo>
                  <a:lnTo>
                    <a:pt x="6938264" y="3425698"/>
                  </a:lnTo>
                  <a:cubicBezTo>
                    <a:pt x="6938264" y="3527425"/>
                    <a:pt x="6855841" y="3609848"/>
                    <a:pt x="6754114" y="3609848"/>
                  </a:cubicBezTo>
                  <a:lnTo>
                    <a:pt x="184150" y="3609848"/>
                  </a:lnTo>
                  <a:cubicBezTo>
                    <a:pt x="82423" y="3609848"/>
                    <a:pt x="0" y="3527425"/>
                    <a:pt x="0" y="3425698"/>
                  </a:cubicBezTo>
                  <a:close/>
                </a:path>
              </a:pathLst>
            </a:custGeom>
            <a:solidFill>
              <a:srgbClr val="F3DFDD"/>
            </a:solidFill>
            <a:ln w="19050" cap="sq">
              <a:solidFill>
                <a:srgbClr val="DDE5EA"/>
              </a:solidFill>
              <a:prstDash val="solid"/>
              <a:miter/>
            </a:ln>
          </p:spPr>
        </p:sp>
      </p:grpSp>
      <p:grpSp>
        <p:nvGrpSpPr>
          <p:cNvPr name="Group 37" id="37"/>
          <p:cNvGrpSpPr/>
          <p:nvPr/>
        </p:nvGrpSpPr>
        <p:grpSpPr>
          <a:xfrm rot="0">
            <a:off x="6707124" y="5541264"/>
            <a:ext cx="4526280" cy="343657"/>
            <a:chOff x="0" y="0"/>
            <a:chExt cx="6035040" cy="458210"/>
          </a:xfrm>
        </p:grpSpPr>
        <p:sp>
          <p:nvSpPr>
            <p:cNvPr name="Freeform 38" id="38"/>
            <p:cNvSpPr/>
            <p:nvPr/>
          </p:nvSpPr>
          <p:spPr>
            <a:xfrm flipH="false" flipV="false" rot="0">
              <a:off x="0" y="0"/>
              <a:ext cx="6035040" cy="458210"/>
            </a:xfrm>
            <a:custGeom>
              <a:avLst/>
              <a:gdLst/>
              <a:ahLst/>
              <a:cxnLst/>
              <a:rect r="r" b="b" t="t" l="l"/>
              <a:pathLst>
                <a:path h="458210" w="6035040">
                  <a:moveTo>
                    <a:pt x="0" y="0"/>
                  </a:moveTo>
                  <a:lnTo>
                    <a:pt x="6035040" y="0"/>
                  </a:lnTo>
                  <a:lnTo>
                    <a:pt x="6035040" y="458210"/>
                  </a:lnTo>
                  <a:lnTo>
                    <a:pt x="0" y="458210"/>
                  </a:lnTo>
                  <a:close/>
                </a:path>
              </a:pathLst>
            </a:custGeom>
            <a:blipFill>
              <a:blip r:embed="rId5">
                <a:alphaModFix amt="0"/>
              </a:blip>
              <a:stretch>
                <a:fillRect l="0" t="-208741" r="0" b="-204529"/>
              </a:stretch>
            </a:blipFill>
          </p:spPr>
        </p:sp>
        <p:sp>
          <p:nvSpPr>
            <p:cNvPr name="TextBox 39" id="39"/>
            <p:cNvSpPr txBox="true"/>
            <p:nvPr/>
          </p:nvSpPr>
          <p:spPr>
            <a:xfrm>
              <a:off x="0" y="-9525"/>
              <a:ext cx="6035040" cy="467735"/>
            </a:xfrm>
            <a:prstGeom prst="rect">
              <a:avLst/>
            </a:prstGeom>
          </p:spPr>
          <p:txBody>
            <a:bodyPr anchor="ctr" rtlCol="false" tIns="0" lIns="0" bIns="0" rIns="0"/>
            <a:lstStyle/>
            <a:p>
              <a:pPr algn="l">
                <a:lnSpc>
                  <a:spcPts val="1949"/>
                </a:lnSpc>
              </a:pPr>
              <a:r>
                <a:rPr lang="en-US" b="true" sz="1624">
                  <a:solidFill>
                    <a:srgbClr val="1F2B5B"/>
                  </a:solidFill>
                  <a:latin typeface="Inter Bold"/>
                  <a:ea typeface="Inter Bold"/>
                  <a:cs typeface="Inter Bold"/>
                  <a:sym typeface="Inter Bold"/>
                </a:rPr>
                <a:t>Phase 2 · Days 90–180</a:t>
              </a:r>
            </a:p>
          </p:txBody>
        </p:sp>
      </p:grpSp>
      <p:grpSp>
        <p:nvGrpSpPr>
          <p:cNvPr name="Group 40" id="40"/>
          <p:cNvGrpSpPr/>
          <p:nvPr/>
        </p:nvGrpSpPr>
        <p:grpSpPr>
          <a:xfrm rot="0">
            <a:off x="6707124" y="5897880"/>
            <a:ext cx="4526280" cy="489022"/>
            <a:chOff x="0" y="0"/>
            <a:chExt cx="6035040" cy="652030"/>
          </a:xfrm>
        </p:grpSpPr>
        <p:sp>
          <p:nvSpPr>
            <p:cNvPr name="Freeform 41" id="41"/>
            <p:cNvSpPr/>
            <p:nvPr/>
          </p:nvSpPr>
          <p:spPr>
            <a:xfrm flipH="false" flipV="false" rot="0">
              <a:off x="0" y="0"/>
              <a:ext cx="6035040" cy="652030"/>
            </a:xfrm>
            <a:custGeom>
              <a:avLst/>
              <a:gdLst/>
              <a:ahLst/>
              <a:cxnLst/>
              <a:rect r="r" b="b" t="t" l="l"/>
              <a:pathLst>
                <a:path h="652030" w="6035040">
                  <a:moveTo>
                    <a:pt x="0" y="0"/>
                  </a:moveTo>
                  <a:lnTo>
                    <a:pt x="6035040" y="0"/>
                  </a:lnTo>
                  <a:lnTo>
                    <a:pt x="6035040" y="652030"/>
                  </a:lnTo>
                  <a:lnTo>
                    <a:pt x="0" y="652030"/>
                  </a:lnTo>
                  <a:close/>
                </a:path>
              </a:pathLst>
            </a:custGeom>
            <a:blipFill>
              <a:blip r:embed="rId5">
                <a:alphaModFix amt="0"/>
              </a:blip>
              <a:stretch>
                <a:fillRect l="0" t="-138277" r="0" b="-122420"/>
              </a:stretch>
            </a:blipFill>
          </p:spPr>
        </p:sp>
        <p:sp>
          <p:nvSpPr>
            <p:cNvPr name="TextBox 42" id="42"/>
            <p:cNvSpPr txBox="true"/>
            <p:nvPr/>
          </p:nvSpPr>
          <p:spPr>
            <a:xfrm>
              <a:off x="0" y="-9525"/>
              <a:ext cx="6035040" cy="661555"/>
            </a:xfrm>
            <a:prstGeom prst="rect">
              <a:avLst/>
            </a:prstGeom>
          </p:spPr>
          <p:txBody>
            <a:bodyPr anchor="ctr" rtlCol="false" tIns="0" lIns="0" bIns="0" rIns="0"/>
            <a:lstStyle/>
            <a:p>
              <a:pPr algn="l">
                <a:lnSpc>
                  <a:spcPts val="2700"/>
                </a:lnSpc>
              </a:pPr>
              <a:r>
                <a:rPr lang="en-US" b="true" sz="2250">
                  <a:solidFill>
                    <a:srgbClr val="8D140B"/>
                  </a:solidFill>
                  <a:latin typeface="Inter Bold"/>
                  <a:ea typeface="Inter Bold"/>
                  <a:cs typeface="Inter Bold"/>
                  <a:sym typeface="Inter Bold"/>
                </a:rPr>
                <a:t>Audit &amp; retrain</a:t>
              </a:r>
            </a:p>
          </p:txBody>
        </p:sp>
      </p:grpSp>
      <p:grpSp>
        <p:nvGrpSpPr>
          <p:cNvPr name="Group 43" id="43"/>
          <p:cNvGrpSpPr/>
          <p:nvPr/>
        </p:nvGrpSpPr>
        <p:grpSpPr>
          <a:xfrm rot="0">
            <a:off x="6707124" y="6391656"/>
            <a:ext cx="4526280" cy="1536192"/>
            <a:chOff x="0" y="0"/>
            <a:chExt cx="6035040" cy="2048256"/>
          </a:xfrm>
        </p:grpSpPr>
        <p:sp>
          <p:nvSpPr>
            <p:cNvPr name="Freeform 44" id="44"/>
            <p:cNvSpPr/>
            <p:nvPr/>
          </p:nvSpPr>
          <p:spPr>
            <a:xfrm flipH="false" flipV="false" rot="0">
              <a:off x="0" y="0"/>
              <a:ext cx="6035040" cy="2048256"/>
            </a:xfrm>
            <a:custGeom>
              <a:avLst/>
              <a:gdLst/>
              <a:ahLst/>
              <a:cxnLst/>
              <a:rect r="r" b="b" t="t" l="l"/>
              <a:pathLst>
                <a:path h="2048256" w="6035040">
                  <a:moveTo>
                    <a:pt x="0" y="0"/>
                  </a:moveTo>
                  <a:lnTo>
                    <a:pt x="6035040" y="0"/>
                  </a:lnTo>
                  <a:lnTo>
                    <a:pt x="6035040" y="2048256"/>
                  </a:lnTo>
                  <a:lnTo>
                    <a:pt x="0" y="2048256"/>
                  </a:lnTo>
                  <a:close/>
                </a:path>
              </a:pathLst>
            </a:custGeom>
            <a:blipFill>
              <a:blip r:embed="rId5">
                <a:alphaModFix amt="0"/>
              </a:blip>
              <a:stretch>
                <a:fillRect l="0" t="-7411" r="0" b="-7411"/>
              </a:stretch>
            </a:blipFill>
          </p:spPr>
        </p:sp>
        <p:sp>
          <p:nvSpPr>
            <p:cNvPr name="TextBox 45" id="45"/>
            <p:cNvSpPr txBox="true"/>
            <p:nvPr/>
          </p:nvSpPr>
          <p:spPr>
            <a:xfrm>
              <a:off x="0" y="0"/>
              <a:ext cx="6035040" cy="2048256"/>
            </a:xfrm>
            <a:prstGeom prst="rect">
              <a:avLst/>
            </a:prstGeom>
          </p:spPr>
          <p:txBody>
            <a:bodyPr anchor="ctr" rtlCol="false" tIns="0" lIns="0" bIns="0" rIns="0"/>
            <a:lstStyle/>
            <a:p>
              <a:pPr algn="l">
                <a:lnSpc>
                  <a:spcPts val="2075"/>
                </a:lnSpc>
              </a:pPr>
              <a:r>
                <a:rPr lang="en-US" b="true" sz="1729">
                  <a:solidFill>
                    <a:srgbClr val="1F2B5B"/>
                  </a:solidFill>
                  <a:latin typeface="Inter Bold"/>
                  <a:ea typeface="Inter Bold"/>
                  <a:cs typeface="Inter Bold"/>
                  <a:sym typeface="Inter Bold"/>
                </a:rPr>
                <a:t>Complete the subgroup fairness audit. Retrain on recent local encounters — the published model is 1999–2008 and will not match our case mix.</a:t>
              </a:r>
            </a:p>
          </p:txBody>
        </p:sp>
      </p:grpSp>
      <p:grpSp>
        <p:nvGrpSpPr>
          <p:cNvPr name="Group 46" id="46"/>
          <p:cNvGrpSpPr/>
          <p:nvPr/>
        </p:nvGrpSpPr>
        <p:grpSpPr>
          <a:xfrm rot="0">
            <a:off x="11923395" y="5367147"/>
            <a:ext cx="5203698" cy="2707386"/>
            <a:chOff x="0" y="0"/>
            <a:chExt cx="6938264" cy="3609848"/>
          </a:xfrm>
        </p:grpSpPr>
        <p:sp>
          <p:nvSpPr>
            <p:cNvPr name="Freeform 47" id="47"/>
            <p:cNvSpPr/>
            <p:nvPr/>
          </p:nvSpPr>
          <p:spPr>
            <a:xfrm flipH="false" flipV="false" rot="0">
              <a:off x="0" y="0"/>
              <a:ext cx="6938264" cy="3609848"/>
            </a:xfrm>
            <a:custGeom>
              <a:avLst/>
              <a:gdLst/>
              <a:ahLst/>
              <a:cxnLst/>
              <a:rect r="r" b="b" t="t" l="l"/>
              <a:pathLst>
                <a:path h="3609848" w="6938264">
                  <a:moveTo>
                    <a:pt x="0" y="184150"/>
                  </a:moveTo>
                  <a:cubicBezTo>
                    <a:pt x="0" y="82423"/>
                    <a:pt x="82423" y="0"/>
                    <a:pt x="184150" y="0"/>
                  </a:cubicBezTo>
                  <a:lnTo>
                    <a:pt x="6754114" y="0"/>
                  </a:lnTo>
                  <a:cubicBezTo>
                    <a:pt x="6855841" y="0"/>
                    <a:pt x="6938264" y="82423"/>
                    <a:pt x="6938264" y="184150"/>
                  </a:cubicBezTo>
                  <a:lnTo>
                    <a:pt x="6938264" y="3425698"/>
                  </a:lnTo>
                  <a:cubicBezTo>
                    <a:pt x="6938264" y="3527425"/>
                    <a:pt x="6855841" y="3609848"/>
                    <a:pt x="6754114" y="3609848"/>
                  </a:cubicBezTo>
                  <a:lnTo>
                    <a:pt x="184150" y="3609848"/>
                  </a:lnTo>
                  <a:cubicBezTo>
                    <a:pt x="82423" y="3609848"/>
                    <a:pt x="0" y="3527425"/>
                    <a:pt x="0" y="3425698"/>
                  </a:cubicBezTo>
                  <a:close/>
                </a:path>
              </a:pathLst>
            </a:custGeom>
            <a:solidFill>
              <a:srgbClr val="F3DFDD"/>
            </a:solidFill>
            <a:ln w="19050" cap="sq">
              <a:solidFill>
                <a:srgbClr val="DDE5EA"/>
              </a:solidFill>
              <a:prstDash val="solid"/>
              <a:miter/>
            </a:ln>
          </p:spPr>
        </p:sp>
      </p:grpSp>
      <p:grpSp>
        <p:nvGrpSpPr>
          <p:cNvPr name="Group 48" id="48"/>
          <p:cNvGrpSpPr/>
          <p:nvPr/>
        </p:nvGrpSpPr>
        <p:grpSpPr>
          <a:xfrm rot="0">
            <a:off x="12262104" y="5541264"/>
            <a:ext cx="4526280" cy="343657"/>
            <a:chOff x="0" y="0"/>
            <a:chExt cx="6035040" cy="458210"/>
          </a:xfrm>
        </p:grpSpPr>
        <p:sp>
          <p:nvSpPr>
            <p:cNvPr name="Freeform 49" id="49"/>
            <p:cNvSpPr/>
            <p:nvPr/>
          </p:nvSpPr>
          <p:spPr>
            <a:xfrm flipH="false" flipV="false" rot="0">
              <a:off x="0" y="0"/>
              <a:ext cx="6035040" cy="458210"/>
            </a:xfrm>
            <a:custGeom>
              <a:avLst/>
              <a:gdLst/>
              <a:ahLst/>
              <a:cxnLst/>
              <a:rect r="r" b="b" t="t" l="l"/>
              <a:pathLst>
                <a:path h="458210" w="6035040">
                  <a:moveTo>
                    <a:pt x="0" y="0"/>
                  </a:moveTo>
                  <a:lnTo>
                    <a:pt x="6035040" y="0"/>
                  </a:lnTo>
                  <a:lnTo>
                    <a:pt x="6035040" y="458210"/>
                  </a:lnTo>
                  <a:lnTo>
                    <a:pt x="0" y="458210"/>
                  </a:lnTo>
                  <a:close/>
                </a:path>
              </a:pathLst>
            </a:custGeom>
            <a:blipFill>
              <a:blip r:embed="rId5">
                <a:alphaModFix amt="0"/>
              </a:blip>
              <a:stretch>
                <a:fillRect l="0" t="-208741" r="0" b="-204529"/>
              </a:stretch>
            </a:blipFill>
          </p:spPr>
        </p:sp>
        <p:sp>
          <p:nvSpPr>
            <p:cNvPr name="TextBox 50" id="50"/>
            <p:cNvSpPr txBox="true"/>
            <p:nvPr/>
          </p:nvSpPr>
          <p:spPr>
            <a:xfrm>
              <a:off x="0" y="-9525"/>
              <a:ext cx="6035040" cy="467735"/>
            </a:xfrm>
            <a:prstGeom prst="rect">
              <a:avLst/>
            </a:prstGeom>
          </p:spPr>
          <p:txBody>
            <a:bodyPr anchor="ctr" rtlCol="false" tIns="0" lIns="0" bIns="0" rIns="0"/>
            <a:lstStyle/>
            <a:p>
              <a:pPr algn="l">
                <a:lnSpc>
                  <a:spcPts val="1949"/>
                </a:lnSpc>
              </a:pPr>
              <a:r>
                <a:rPr lang="en-US" b="true" sz="1624">
                  <a:solidFill>
                    <a:srgbClr val="1F2B5B"/>
                  </a:solidFill>
                  <a:latin typeface="Inter Bold"/>
                  <a:ea typeface="Inter Bold"/>
                  <a:cs typeface="Inter Bold"/>
                  <a:sym typeface="Inter Bold"/>
                </a:rPr>
                <a:t>Phase 3 · Day 180+</a:t>
              </a:r>
            </a:p>
          </p:txBody>
        </p:sp>
      </p:grpSp>
      <p:grpSp>
        <p:nvGrpSpPr>
          <p:cNvPr name="Group 51" id="51"/>
          <p:cNvGrpSpPr/>
          <p:nvPr/>
        </p:nvGrpSpPr>
        <p:grpSpPr>
          <a:xfrm rot="0">
            <a:off x="12262104" y="5897880"/>
            <a:ext cx="4526280" cy="489022"/>
            <a:chOff x="0" y="0"/>
            <a:chExt cx="6035040" cy="652030"/>
          </a:xfrm>
        </p:grpSpPr>
        <p:sp>
          <p:nvSpPr>
            <p:cNvPr name="Freeform 52" id="52"/>
            <p:cNvSpPr/>
            <p:nvPr/>
          </p:nvSpPr>
          <p:spPr>
            <a:xfrm flipH="false" flipV="false" rot="0">
              <a:off x="0" y="0"/>
              <a:ext cx="6035040" cy="652030"/>
            </a:xfrm>
            <a:custGeom>
              <a:avLst/>
              <a:gdLst/>
              <a:ahLst/>
              <a:cxnLst/>
              <a:rect r="r" b="b" t="t" l="l"/>
              <a:pathLst>
                <a:path h="652030" w="6035040">
                  <a:moveTo>
                    <a:pt x="0" y="0"/>
                  </a:moveTo>
                  <a:lnTo>
                    <a:pt x="6035040" y="0"/>
                  </a:lnTo>
                  <a:lnTo>
                    <a:pt x="6035040" y="652030"/>
                  </a:lnTo>
                  <a:lnTo>
                    <a:pt x="0" y="652030"/>
                  </a:lnTo>
                  <a:close/>
                </a:path>
              </a:pathLst>
            </a:custGeom>
            <a:blipFill>
              <a:blip r:embed="rId5">
                <a:alphaModFix amt="0"/>
              </a:blip>
              <a:stretch>
                <a:fillRect l="0" t="-138277" r="0" b="-122420"/>
              </a:stretch>
            </a:blipFill>
          </p:spPr>
        </p:sp>
        <p:sp>
          <p:nvSpPr>
            <p:cNvPr name="TextBox 53" id="53"/>
            <p:cNvSpPr txBox="true"/>
            <p:nvPr/>
          </p:nvSpPr>
          <p:spPr>
            <a:xfrm>
              <a:off x="0" y="-9525"/>
              <a:ext cx="6035040" cy="661555"/>
            </a:xfrm>
            <a:prstGeom prst="rect">
              <a:avLst/>
            </a:prstGeom>
          </p:spPr>
          <p:txBody>
            <a:bodyPr anchor="ctr" rtlCol="false" tIns="0" lIns="0" bIns="0" rIns="0"/>
            <a:lstStyle/>
            <a:p>
              <a:pPr algn="l">
                <a:lnSpc>
                  <a:spcPts val="2700"/>
                </a:lnSpc>
              </a:pPr>
              <a:r>
                <a:rPr lang="en-US" b="true" sz="2250">
                  <a:solidFill>
                    <a:srgbClr val="8D140B"/>
                  </a:solidFill>
                  <a:latin typeface="Inter Bold"/>
                  <a:ea typeface="Inter Bold"/>
                  <a:cs typeface="Inter Bold"/>
                  <a:sym typeface="Inter Bold"/>
                </a:rPr>
                <a:t>Scale to capacity</a:t>
              </a:r>
            </a:p>
          </p:txBody>
        </p:sp>
      </p:grpSp>
      <p:grpSp>
        <p:nvGrpSpPr>
          <p:cNvPr name="Group 54" id="54"/>
          <p:cNvGrpSpPr/>
          <p:nvPr/>
        </p:nvGrpSpPr>
        <p:grpSpPr>
          <a:xfrm rot="0">
            <a:off x="12262104" y="6391656"/>
            <a:ext cx="4526280" cy="1536192"/>
            <a:chOff x="0" y="0"/>
            <a:chExt cx="6035040" cy="2048256"/>
          </a:xfrm>
        </p:grpSpPr>
        <p:sp>
          <p:nvSpPr>
            <p:cNvPr name="Freeform 55" id="55"/>
            <p:cNvSpPr/>
            <p:nvPr/>
          </p:nvSpPr>
          <p:spPr>
            <a:xfrm flipH="false" flipV="false" rot="0">
              <a:off x="0" y="0"/>
              <a:ext cx="6035040" cy="2048256"/>
            </a:xfrm>
            <a:custGeom>
              <a:avLst/>
              <a:gdLst/>
              <a:ahLst/>
              <a:cxnLst/>
              <a:rect r="r" b="b" t="t" l="l"/>
              <a:pathLst>
                <a:path h="2048256" w="6035040">
                  <a:moveTo>
                    <a:pt x="0" y="0"/>
                  </a:moveTo>
                  <a:lnTo>
                    <a:pt x="6035040" y="0"/>
                  </a:lnTo>
                  <a:lnTo>
                    <a:pt x="6035040" y="2048256"/>
                  </a:lnTo>
                  <a:lnTo>
                    <a:pt x="0" y="2048256"/>
                  </a:lnTo>
                  <a:close/>
                </a:path>
              </a:pathLst>
            </a:custGeom>
            <a:blipFill>
              <a:blip r:embed="rId5">
                <a:alphaModFix amt="0"/>
              </a:blip>
              <a:stretch>
                <a:fillRect l="0" t="-7411" r="0" b="-7411"/>
              </a:stretch>
            </a:blipFill>
          </p:spPr>
        </p:sp>
        <p:sp>
          <p:nvSpPr>
            <p:cNvPr name="TextBox 56" id="56"/>
            <p:cNvSpPr txBox="true"/>
            <p:nvPr/>
          </p:nvSpPr>
          <p:spPr>
            <a:xfrm>
              <a:off x="0" y="0"/>
              <a:ext cx="6035040" cy="2048256"/>
            </a:xfrm>
            <a:prstGeom prst="rect">
              <a:avLst/>
            </a:prstGeom>
          </p:spPr>
          <p:txBody>
            <a:bodyPr anchor="ctr" rtlCol="false" tIns="0" lIns="0" bIns="0" rIns="0"/>
            <a:lstStyle/>
            <a:p>
              <a:pPr algn="l">
                <a:lnSpc>
                  <a:spcPts val="2075"/>
                </a:lnSpc>
              </a:pPr>
              <a:r>
                <a:rPr lang="en-US" b="true" sz="1729">
                  <a:solidFill>
                    <a:srgbClr val="1F2B5B"/>
                  </a:solidFill>
                  <a:latin typeface="Inter Bold"/>
                  <a:ea typeface="Inter Bold"/>
                  <a:cs typeface="Inter Bold"/>
                  <a:sym typeface="Inter Bold"/>
                </a:rPr>
                <a:t>Re-run the cost model with measured effect size, then set capacity where marginal ROI meets our staffing budget — not where the model suggests.</a:t>
              </a:r>
            </a:p>
          </p:txBody>
        </p:sp>
      </p:grpSp>
      <p:grpSp>
        <p:nvGrpSpPr>
          <p:cNvPr name="Group 57" id="57"/>
          <p:cNvGrpSpPr/>
          <p:nvPr/>
        </p:nvGrpSpPr>
        <p:grpSpPr>
          <a:xfrm rot="0">
            <a:off x="1152144" y="4536905"/>
            <a:ext cx="16596360" cy="369202"/>
            <a:chOff x="0" y="0"/>
            <a:chExt cx="22128480" cy="492269"/>
          </a:xfrm>
        </p:grpSpPr>
        <p:sp>
          <p:nvSpPr>
            <p:cNvPr name="Freeform 58" id="58"/>
            <p:cNvSpPr/>
            <p:nvPr/>
          </p:nvSpPr>
          <p:spPr>
            <a:xfrm flipH="false" flipV="false" rot="0">
              <a:off x="0" y="0"/>
              <a:ext cx="22128480" cy="492269"/>
            </a:xfrm>
            <a:custGeom>
              <a:avLst/>
              <a:gdLst/>
              <a:ahLst/>
              <a:cxnLst/>
              <a:rect r="r" b="b" t="t" l="l"/>
              <a:pathLst>
                <a:path h="492269" w="22128480">
                  <a:moveTo>
                    <a:pt x="0" y="0"/>
                  </a:moveTo>
                  <a:lnTo>
                    <a:pt x="22128480" y="0"/>
                  </a:lnTo>
                  <a:lnTo>
                    <a:pt x="22128480" y="492269"/>
                  </a:lnTo>
                  <a:lnTo>
                    <a:pt x="0" y="492269"/>
                  </a:lnTo>
                  <a:close/>
                </a:path>
              </a:pathLst>
            </a:custGeom>
            <a:blipFill>
              <a:blip r:embed="rId5">
                <a:alphaModFix amt="0"/>
              </a:blip>
              <a:stretch>
                <a:fillRect l="0" t="-827596" r="0" b="-824187"/>
              </a:stretch>
            </a:blipFill>
          </p:spPr>
        </p:sp>
        <p:sp>
          <p:nvSpPr>
            <p:cNvPr name="TextBox 59" id="59"/>
            <p:cNvSpPr txBox="true"/>
            <p:nvPr/>
          </p:nvSpPr>
          <p:spPr>
            <a:xfrm>
              <a:off x="0" y="0"/>
              <a:ext cx="22128480" cy="492269"/>
            </a:xfrm>
            <a:prstGeom prst="rect">
              <a:avLst/>
            </a:prstGeom>
          </p:spPr>
          <p:txBody>
            <a:bodyPr anchor="ctr" rtlCol="false" tIns="0" lIns="0" bIns="0" rIns="0"/>
            <a:lstStyle/>
            <a:p>
              <a:pPr algn="l">
                <a:lnSpc>
                  <a:spcPts val="2069"/>
                </a:lnSpc>
              </a:pPr>
              <a:r>
                <a:rPr lang="en-US" sz="1724">
                  <a:solidFill>
                    <a:srgbClr val="000000"/>
                  </a:solidFill>
                  <a:latin typeface="Inter"/>
                  <a:ea typeface="Inter"/>
                  <a:cs typeface="Inter"/>
                  <a:sym typeface="Inter"/>
                </a:rPr>
                <a:t>Why not 5%? Higher ROI but only 14% of readmissions caught. Why not 50%? ROI falls to 2.1× and requires 2.5× the pharmacist hours.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7094" r="0" b="-9780"/>
            </a:stretch>
          </a:blipFill>
        </p:spPr>
      </p:sp>
      <p:sp>
        <p:nvSpPr>
          <p:cNvPr name="Freeform 3" id="3"/>
          <p:cNvSpPr/>
          <p:nvPr/>
        </p:nvSpPr>
        <p:spPr>
          <a:xfrm flipH="false" flipV="false" rot="0">
            <a:off x="1028700" y="1028700"/>
            <a:ext cx="15944339" cy="8229600"/>
          </a:xfrm>
          <a:custGeom>
            <a:avLst/>
            <a:gdLst/>
            <a:ahLst/>
            <a:cxnLst/>
            <a:rect r="r" b="b" t="t" l="l"/>
            <a:pathLst>
              <a:path h="8229600" w="15944339">
                <a:moveTo>
                  <a:pt x="0" y="0"/>
                </a:moveTo>
                <a:lnTo>
                  <a:pt x="15944339" y="0"/>
                </a:lnTo>
                <a:lnTo>
                  <a:pt x="15944339" y="8229600"/>
                </a:lnTo>
                <a:lnTo>
                  <a:pt x="0" y="8229600"/>
                </a:lnTo>
                <a:lnTo>
                  <a:pt x="0" y="0"/>
                </a:lnTo>
                <a:close/>
              </a:path>
            </a:pathLst>
          </a:custGeom>
          <a:blipFill>
            <a:blip r:embed="rId4">
              <a:alphaModFix amt="58000"/>
            </a:blip>
            <a:stretch>
              <a:fillRect l="0" t="-98009" r="-1795" b="-98009"/>
            </a:stretch>
          </a:blipFill>
        </p:spPr>
      </p:sp>
      <p:grpSp>
        <p:nvGrpSpPr>
          <p:cNvPr name="Group 4" id="4"/>
          <p:cNvGrpSpPr/>
          <p:nvPr/>
        </p:nvGrpSpPr>
        <p:grpSpPr>
          <a:xfrm rot="0">
            <a:off x="822960" y="987552"/>
            <a:ext cx="15910560" cy="1134237"/>
            <a:chOff x="0" y="0"/>
            <a:chExt cx="21214080" cy="1512316"/>
          </a:xfrm>
        </p:grpSpPr>
        <p:sp>
          <p:nvSpPr>
            <p:cNvPr name="Freeform 5" id="5"/>
            <p:cNvSpPr/>
            <p:nvPr/>
          </p:nvSpPr>
          <p:spPr>
            <a:xfrm flipH="false" flipV="false" rot="0">
              <a:off x="0" y="0"/>
              <a:ext cx="21214080" cy="1512316"/>
            </a:xfrm>
            <a:custGeom>
              <a:avLst/>
              <a:gdLst/>
              <a:ahLst/>
              <a:cxnLst/>
              <a:rect r="r" b="b" t="t" l="l"/>
              <a:pathLst>
                <a:path h="1512316" w="21214080">
                  <a:moveTo>
                    <a:pt x="0" y="0"/>
                  </a:moveTo>
                  <a:lnTo>
                    <a:pt x="21214080" y="0"/>
                  </a:lnTo>
                  <a:lnTo>
                    <a:pt x="21214080" y="1512316"/>
                  </a:lnTo>
                  <a:lnTo>
                    <a:pt x="0" y="1512316"/>
                  </a:lnTo>
                  <a:close/>
                </a:path>
              </a:pathLst>
            </a:custGeom>
            <a:blipFill>
              <a:blip r:embed="rId5">
                <a:alphaModFix amt="0"/>
              </a:blip>
              <a:stretch>
                <a:fillRect l="0" t="-229793" r="0" b="-216860"/>
              </a:stretch>
            </a:blipFill>
          </p:spPr>
        </p:sp>
        <p:sp>
          <p:nvSpPr>
            <p:cNvPr name="TextBox 6" id="6"/>
            <p:cNvSpPr txBox="true"/>
            <p:nvPr/>
          </p:nvSpPr>
          <p:spPr>
            <a:xfrm>
              <a:off x="0" y="-9525"/>
              <a:ext cx="21214080" cy="1521841"/>
            </a:xfrm>
            <a:prstGeom prst="rect">
              <a:avLst/>
            </a:prstGeom>
          </p:spPr>
          <p:txBody>
            <a:bodyPr anchor="ctr" rtlCol="false" tIns="0" lIns="0" bIns="0" rIns="0"/>
            <a:lstStyle/>
            <a:p>
              <a:pPr algn="l">
                <a:lnSpc>
                  <a:spcPts val="6120"/>
                </a:lnSpc>
              </a:pPr>
              <a:r>
                <a:rPr lang="en-US" b="true" sz="5100">
                  <a:solidFill>
                    <a:srgbClr val="8D140B"/>
                  </a:solidFill>
                  <a:latin typeface="Bricolage Grotesque Bold"/>
                  <a:ea typeface="Bricolage Grotesque Bold"/>
                  <a:cs typeface="Bricolage Grotesque Bold"/>
                  <a:sym typeface="Bricolage Grotesque Bold"/>
                </a:rPr>
                <a:t>LIMITATIONS &amp; APPROPRIATE USE</a:t>
              </a:r>
            </a:p>
          </p:txBody>
        </p:sp>
      </p:grpSp>
      <p:grpSp>
        <p:nvGrpSpPr>
          <p:cNvPr name="Group 7" id="7"/>
          <p:cNvGrpSpPr/>
          <p:nvPr/>
        </p:nvGrpSpPr>
        <p:grpSpPr>
          <a:xfrm rot="0">
            <a:off x="822960" y="2084832"/>
            <a:ext cx="16322040" cy="741110"/>
            <a:chOff x="0" y="0"/>
            <a:chExt cx="21762720" cy="988147"/>
          </a:xfrm>
        </p:grpSpPr>
        <p:sp>
          <p:nvSpPr>
            <p:cNvPr name="Freeform 8" id="8"/>
            <p:cNvSpPr/>
            <p:nvPr/>
          </p:nvSpPr>
          <p:spPr>
            <a:xfrm flipH="false" flipV="false" rot="0">
              <a:off x="0" y="0"/>
              <a:ext cx="21762720" cy="988147"/>
            </a:xfrm>
            <a:custGeom>
              <a:avLst/>
              <a:gdLst/>
              <a:ahLst/>
              <a:cxnLst/>
              <a:rect r="r" b="b" t="t" l="l"/>
              <a:pathLst>
                <a:path h="988147" w="21762720">
                  <a:moveTo>
                    <a:pt x="0" y="0"/>
                  </a:moveTo>
                  <a:lnTo>
                    <a:pt x="21762720" y="0"/>
                  </a:lnTo>
                  <a:lnTo>
                    <a:pt x="21762720" y="988147"/>
                  </a:lnTo>
                  <a:lnTo>
                    <a:pt x="0" y="988147"/>
                  </a:lnTo>
                  <a:close/>
                </a:path>
              </a:pathLst>
            </a:custGeom>
            <a:blipFill>
              <a:blip r:embed="rId5">
                <a:alphaModFix amt="0"/>
              </a:blip>
              <a:stretch>
                <a:fillRect l="0" t="-388417" r="0" b="-369850"/>
              </a:stretch>
            </a:blipFill>
          </p:spPr>
        </p:sp>
        <p:sp>
          <p:nvSpPr>
            <p:cNvPr name="TextBox 9" id="9"/>
            <p:cNvSpPr txBox="true"/>
            <p:nvPr/>
          </p:nvSpPr>
          <p:spPr>
            <a:xfrm>
              <a:off x="0" y="-9525"/>
              <a:ext cx="21762720" cy="997672"/>
            </a:xfrm>
            <a:prstGeom prst="rect">
              <a:avLst/>
            </a:prstGeom>
          </p:spPr>
          <p:txBody>
            <a:bodyPr anchor="ctr" rtlCol="false" tIns="0" lIns="0" bIns="0" rIns="0"/>
            <a:lstStyle/>
            <a:p>
              <a:pPr algn="l">
                <a:lnSpc>
                  <a:spcPts val="2430"/>
                </a:lnSpc>
              </a:pPr>
              <a:r>
                <a:rPr lang="en-US" b="true" sz="2025">
                  <a:solidFill>
                    <a:srgbClr val="000000"/>
                  </a:solidFill>
                  <a:latin typeface="Inter Bold"/>
                  <a:ea typeface="Inter Bold"/>
                  <a:cs typeface="Inter Bold"/>
                  <a:sym typeface="Inter Bold"/>
                </a:rPr>
                <a:t>This tool -although very useful -ranks patients for a workflow decision. It does not diagnose, does not recommend treatment, and must not be used to deny or restrict care.</a:t>
              </a:r>
            </a:p>
          </p:txBody>
        </p:sp>
      </p:grpSp>
      <p:grpSp>
        <p:nvGrpSpPr>
          <p:cNvPr name="Group 10" id="10"/>
          <p:cNvGrpSpPr/>
          <p:nvPr/>
        </p:nvGrpSpPr>
        <p:grpSpPr>
          <a:xfrm rot="0">
            <a:off x="813435" y="3035427"/>
            <a:ext cx="5203698" cy="2570226"/>
            <a:chOff x="0" y="0"/>
            <a:chExt cx="6938264" cy="3426968"/>
          </a:xfrm>
        </p:grpSpPr>
        <p:sp>
          <p:nvSpPr>
            <p:cNvPr name="Freeform 11" id="11"/>
            <p:cNvSpPr/>
            <p:nvPr/>
          </p:nvSpPr>
          <p:spPr>
            <a:xfrm flipH="false" flipV="false" rot="0">
              <a:off x="0" y="0"/>
              <a:ext cx="6938264" cy="3426968"/>
            </a:xfrm>
            <a:custGeom>
              <a:avLst/>
              <a:gdLst/>
              <a:ahLst/>
              <a:cxnLst/>
              <a:rect r="r" b="b" t="t" l="l"/>
              <a:pathLst>
                <a:path h="3426968" w="6938264">
                  <a:moveTo>
                    <a:pt x="0" y="184277"/>
                  </a:moveTo>
                  <a:cubicBezTo>
                    <a:pt x="0" y="82423"/>
                    <a:pt x="82423" y="0"/>
                    <a:pt x="184277" y="0"/>
                  </a:cubicBezTo>
                  <a:lnTo>
                    <a:pt x="6753987" y="0"/>
                  </a:lnTo>
                  <a:cubicBezTo>
                    <a:pt x="6855714" y="0"/>
                    <a:pt x="6938264" y="82423"/>
                    <a:pt x="6938264" y="184277"/>
                  </a:cubicBezTo>
                  <a:lnTo>
                    <a:pt x="6938264" y="3242691"/>
                  </a:lnTo>
                  <a:cubicBezTo>
                    <a:pt x="6938264" y="3344418"/>
                    <a:pt x="6855841" y="3426968"/>
                    <a:pt x="6753987" y="3426968"/>
                  </a:cubicBezTo>
                  <a:lnTo>
                    <a:pt x="184277" y="3426968"/>
                  </a:lnTo>
                  <a:cubicBezTo>
                    <a:pt x="82423" y="3426968"/>
                    <a:pt x="0" y="3344545"/>
                    <a:pt x="0" y="3242691"/>
                  </a:cubicBezTo>
                  <a:close/>
                </a:path>
              </a:pathLst>
            </a:custGeom>
            <a:solidFill>
              <a:srgbClr val="F4F7F9"/>
            </a:solidFill>
            <a:ln w="19050" cap="sq">
              <a:solidFill>
                <a:srgbClr val="3D4780"/>
              </a:solidFill>
              <a:prstDash val="solid"/>
              <a:miter/>
            </a:ln>
          </p:spPr>
        </p:sp>
      </p:grpSp>
      <p:grpSp>
        <p:nvGrpSpPr>
          <p:cNvPr name="Group 12" id="12"/>
          <p:cNvGrpSpPr/>
          <p:nvPr/>
        </p:nvGrpSpPr>
        <p:grpSpPr>
          <a:xfrm rot="0">
            <a:off x="1152144" y="3264408"/>
            <a:ext cx="4526280" cy="713232"/>
            <a:chOff x="0" y="0"/>
            <a:chExt cx="6035040" cy="950976"/>
          </a:xfrm>
        </p:grpSpPr>
        <p:sp>
          <p:nvSpPr>
            <p:cNvPr name="Freeform 13" id="13"/>
            <p:cNvSpPr/>
            <p:nvPr/>
          </p:nvSpPr>
          <p:spPr>
            <a:xfrm flipH="false" flipV="false" rot="0">
              <a:off x="0" y="0"/>
              <a:ext cx="6035040" cy="950976"/>
            </a:xfrm>
            <a:custGeom>
              <a:avLst/>
              <a:gdLst/>
              <a:ahLst/>
              <a:cxnLst/>
              <a:rect r="r" b="b" t="t" l="l"/>
              <a:pathLst>
                <a:path h="950976" w="6035040">
                  <a:moveTo>
                    <a:pt x="0" y="0"/>
                  </a:moveTo>
                  <a:lnTo>
                    <a:pt x="6035040" y="0"/>
                  </a:lnTo>
                  <a:lnTo>
                    <a:pt x="6035040" y="950976"/>
                  </a:lnTo>
                  <a:lnTo>
                    <a:pt x="0" y="950976"/>
                  </a:lnTo>
                  <a:close/>
                </a:path>
              </a:pathLst>
            </a:custGeom>
            <a:blipFill>
              <a:blip r:embed="rId5">
                <a:alphaModFix amt="0"/>
              </a:blip>
              <a:stretch>
                <a:fillRect l="0" t="-73655" r="0" b="-73655"/>
              </a:stretch>
            </a:blipFill>
          </p:spPr>
        </p:sp>
        <p:sp>
          <p:nvSpPr>
            <p:cNvPr name="TextBox 14" id="14"/>
            <p:cNvSpPr txBox="true"/>
            <p:nvPr/>
          </p:nvSpPr>
          <p:spPr>
            <a:xfrm>
              <a:off x="0" y="0"/>
              <a:ext cx="6035040" cy="950976"/>
            </a:xfrm>
            <a:prstGeom prst="rect">
              <a:avLst/>
            </a:prstGeom>
          </p:spPr>
          <p:txBody>
            <a:bodyPr anchor="ctr" rtlCol="false" tIns="0" lIns="0" bIns="0" rIns="0"/>
            <a:lstStyle/>
            <a:p>
              <a:pPr algn="l">
                <a:lnSpc>
                  <a:spcPts val="2340"/>
                </a:lnSpc>
              </a:pPr>
              <a:r>
                <a:rPr lang="en-US" b="true" sz="1950">
                  <a:solidFill>
                    <a:srgbClr val="8D140B"/>
                  </a:solidFill>
                  <a:latin typeface="Bricolage Grotesque Bold"/>
                  <a:ea typeface="Bricolage Grotesque Bold"/>
                  <a:cs typeface="Bricolage Grotesque Bold"/>
                  <a:sym typeface="Bricolage Grotesque Bold"/>
                </a:rPr>
                <a:t>WHAT THE MODEL CAN'T SEE</a:t>
              </a:r>
            </a:p>
          </p:txBody>
        </p:sp>
      </p:grpSp>
      <p:grpSp>
        <p:nvGrpSpPr>
          <p:cNvPr name="Group 15" id="15"/>
          <p:cNvGrpSpPr/>
          <p:nvPr/>
        </p:nvGrpSpPr>
        <p:grpSpPr>
          <a:xfrm rot="0">
            <a:off x="1152144" y="4005072"/>
            <a:ext cx="4526280" cy="1371600"/>
            <a:chOff x="0" y="0"/>
            <a:chExt cx="6035040" cy="1828800"/>
          </a:xfrm>
        </p:grpSpPr>
        <p:sp>
          <p:nvSpPr>
            <p:cNvPr name="Freeform 16" id="16"/>
            <p:cNvSpPr/>
            <p:nvPr/>
          </p:nvSpPr>
          <p:spPr>
            <a:xfrm flipH="false" flipV="false" rot="0">
              <a:off x="0" y="0"/>
              <a:ext cx="6035040" cy="1828800"/>
            </a:xfrm>
            <a:custGeom>
              <a:avLst/>
              <a:gdLst/>
              <a:ahLst/>
              <a:cxnLst/>
              <a:rect r="r" b="b" t="t" l="l"/>
              <a:pathLst>
                <a:path h="1828800" w="6035040">
                  <a:moveTo>
                    <a:pt x="0" y="0"/>
                  </a:moveTo>
                  <a:lnTo>
                    <a:pt x="6035040" y="0"/>
                  </a:lnTo>
                  <a:lnTo>
                    <a:pt x="6035040" y="1828800"/>
                  </a:lnTo>
                  <a:lnTo>
                    <a:pt x="0" y="1828800"/>
                  </a:lnTo>
                  <a:close/>
                </a:path>
              </a:pathLst>
            </a:custGeom>
            <a:blipFill>
              <a:blip r:embed="rId5">
                <a:alphaModFix amt="0"/>
              </a:blip>
              <a:stretch>
                <a:fillRect l="0" t="-14300" r="0" b="-14300"/>
              </a:stretch>
            </a:blipFill>
          </p:spPr>
        </p:sp>
        <p:sp>
          <p:nvSpPr>
            <p:cNvPr name="TextBox 17" id="17"/>
            <p:cNvSpPr txBox="true"/>
            <p:nvPr/>
          </p:nvSpPr>
          <p:spPr>
            <a:xfrm>
              <a:off x="0" y="0"/>
              <a:ext cx="6035040" cy="1828800"/>
            </a:xfrm>
            <a:prstGeom prst="rect">
              <a:avLst/>
            </a:prstGeom>
          </p:spPr>
          <p:txBody>
            <a:bodyPr anchor="ctr" rtlCol="false" tIns="0" lIns="0" bIns="0" rIns="0"/>
            <a:lstStyle/>
            <a:p>
              <a:pPr algn="l">
                <a:lnSpc>
                  <a:spcPts val="2249"/>
                </a:lnSpc>
              </a:pPr>
              <a:r>
                <a:rPr lang="en-US" b="true" sz="1874">
                  <a:solidFill>
                    <a:srgbClr val="8D140B"/>
                  </a:solidFill>
                  <a:latin typeface="Inter Bold"/>
                  <a:ea typeface="Inter Bold"/>
                  <a:cs typeface="Inter Bold"/>
                  <a:sym typeface="Inter Bold"/>
                </a:rPr>
                <a:t>No vitals, lab trends, social determinants, medication adherence, or discharge-summary text — all known readmission drivers.</a:t>
              </a:r>
            </a:p>
          </p:txBody>
        </p:sp>
      </p:grpSp>
      <p:grpSp>
        <p:nvGrpSpPr>
          <p:cNvPr name="Group 18" id="18"/>
          <p:cNvGrpSpPr/>
          <p:nvPr/>
        </p:nvGrpSpPr>
        <p:grpSpPr>
          <a:xfrm rot="0">
            <a:off x="6368415" y="3035427"/>
            <a:ext cx="5203698" cy="2570226"/>
            <a:chOff x="0" y="0"/>
            <a:chExt cx="6938264" cy="3426968"/>
          </a:xfrm>
        </p:grpSpPr>
        <p:sp>
          <p:nvSpPr>
            <p:cNvPr name="Freeform 19" id="19"/>
            <p:cNvSpPr/>
            <p:nvPr/>
          </p:nvSpPr>
          <p:spPr>
            <a:xfrm flipH="false" flipV="false" rot="0">
              <a:off x="0" y="0"/>
              <a:ext cx="6938264" cy="3426968"/>
            </a:xfrm>
            <a:custGeom>
              <a:avLst/>
              <a:gdLst/>
              <a:ahLst/>
              <a:cxnLst/>
              <a:rect r="r" b="b" t="t" l="l"/>
              <a:pathLst>
                <a:path h="3426968" w="6938264">
                  <a:moveTo>
                    <a:pt x="0" y="184277"/>
                  </a:moveTo>
                  <a:cubicBezTo>
                    <a:pt x="0" y="82423"/>
                    <a:pt x="82423" y="0"/>
                    <a:pt x="184277" y="0"/>
                  </a:cubicBezTo>
                  <a:lnTo>
                    <a:pt x="6753987" y="0"/>
                  </a:lnTo>
                  <a:cubicBezTo>
                    <a:pt x="6855714" y="0"/>
                    <a:pt x="6938264" y="82423"/>
                    <a:pt x="6938264" y="184277"/>
                  </a:cubicBezTo>
                  <a:lnTo>
                    <a:pt x="6938264" y="3242691"/>
                  </a:lnTo>
                  <a:cubicBezTo>
                    <a:pt x="6938264" y="3344418"/>
                    <a:pt x="6855841" y="3426968"/>
                    <a:pt x="6753987" y="3426968"/>
                  </a:cubicBezTo>
                  <a:lnTo>
                    <a:pt x="184277" y="3426968"/>
                  </a:lnTo>
                  <a:cubicBezTo>
                    <a:pt x="82423" y="3426968"/>
                    <a:pt x="0" y="3344545"/>
                    <a:pt x="0" y="3242691"/>
                  </a:cubicBezTo>
                  <a:close/>
                </a:path>
              </a:pathLst>
            </a:custGeom>
            <a:solidFill>
              <a:srgbClr val="F4F7F9"/>
            </a:solidFill>
            <a:ln w="19050" cap="sq">
              <a:solidFill>
                <a:srgbClr val="3D4780"/>
              </a:solidFill>
              <a:prstDash val="solid"/>
              <a:miter/>
            </a:ln>
          </p:spPr>
        </p:sp>
      </p:grpSp>
      <p:grpSp>
        <p:nvGrpSpPr>
          <p:cNvPr name="Group 20" id="20"/>
          <p:cNvGrpSpPr/>
          <p:nvPr/>
        </p:nvGrpSpPr>
        <p:grpSpPr>
          <a:xfrm rot="0">
            <a:off x="6707124" y="3264408"/>
            <a:ext cx="4526280" cy="713232"/>
            <a:chOff x="0" y="0"/>
            <a:chExt cx="6035040" cy="950976"/>
          </a:xfrm>
        </p:grpSpPr>
        <p:sp>
          <p:nvSpPr>
            <p:cNvPr name="Freeform 21" id="21"/>
            <p:cNvSpPr/>
            <p:nvPr/>
          </p:nvSpPr>
          <p:spPr>
            <a:xfrm flipH="false" flipV="false" rot="0">
              <a:off x="0" y="0"/>
              <a:ext cx="6035040" cy="950976"/>
            </a:xfrm>
            <a:custGeom>
              <a:avLst/>
              <a:gdLst/>
              <a:ahLst/>
              <a:cxnLst/>
              <a:rect r="r" b="b" t="t" l="l"/>
              <a:pathLst>
                <a:path h="950976" w="6035040">
                  <a:moveTo>
                    <a:pt x="0" y="0"/>
                  </a:moveTo>
                  <a:lnTo>
                    <a:pt x="6035040" y="0"/>
                  </a:lnTo>
                  <a:lnTo>
                    <a:pt x="6035040" y="950976"/>
                  </a:lnTo>
                  <a:lnTo>
                    <a:pt x="0" y="950976"/>
                  </a:lnTo>
                  <a:close/>
                </a:path>
              </a:pathLst>
            </a:custGeom>
            <a:blipFill>
              <a:blip r:embed="rId5">
                <a:alphaModFix amt="0"/>
              </a:blip>
              <a:stretch>
                <a:fillRect l="0" t="-73655" r="0" b="-73655"/>
              </a:stretch>
            </a:blipFill>
          </p:spPr>
        </p:sp>
        <p:sp>
          <p:nvSpPr>
            <p:cNvPr name="TextBox 22" id="22"/>
            <p:cNvSpPr txBox="true"/>
            <p:nvPr/>
          </p:nvSpPr>
          <p:spPr>
            <a:xfrm>
              <a:off x="0" y="0"/>
              <a:ext cx="6035040" cy="950976"/>
            </a:xfrm>
            <a:prstGeom prst="rect">
              <a:avLst/>
            </a:prstGeom>
          </p:spPr>
          <p:txBody>
            <a:bodyPr anchor="ctr" rtlCol="false" tIns="0" lIns="0" bIns="0" rIns="0"/>
            <a:lstStyle/>
            <a:p>
              <a:pPr algn="l">
                <a:lnSpc>
                  <a:spcPts val="2340"/>
                </a:lnSpc>
              </a:pPr>
              <a:r>
                <a:rPr lang="en-US" b="true" sz="1950">
                  <a:solidFill>
                    <a:srgbClr val="8D140B"/>
                  </a:solidFill>
                  <a:latin typeface="Bricolage Grotesque Bold"/>
                  <a:ea typeface="Bricolage Grotesque Bold"/>
                  <a:cs typeface="Bricolage Grotesque Bold"/>
                  <a:sym typeface="Bricolage Grotesque Bold"/>
                </a:rPr>
                <a:t>DATA IS OUTDATED </a:t>
              </a:r>
            </a:p>
          </p:txBody>
        </p:sp>
      </p:grpSp>
      <p:grpSp>
        <p:nvGrpSpPr>
          <p:cNvPr name="Group 23" id="23"/>
          <p:cNvGrpSpPr/>
          <p:nvPr/>
        </p:nvGrpSpPr>
        <p:grpSpPr>
          <a:xfrm rot="0">
            <a:off x="6707124" y="4005072"/>
            <a:ext cx="4526280" cy="1371600"/>
            <a:chOff x="0" y="0"/>
            <a:chExt cx="6035040" cy="1828800"/>
          </a:xfrm>
        </p:grpSpPr>
        <p:sp>
          <p:nvSpPr>
            <p:cNvPr name="Freeform 24" id="24"/>
            <p:cNvSpPr/>
            <p:nvPr/>
          </p:nvSpPr>
          <p:spPr>
            <a:xfrm flipH="false" flipV="false" rot="0">
              <a:off x="0" y="0"/>
              <a:ext cx="6035040" cy="1828800"/>
            </a:xfrm>
            <a:custGeom>
              <a:avLst/>
              <a:gdLst/>
              <a:ahLst/>
              <a:cxnLst/>
              <a:rect r="r" b="b" t="t" l="l"/>
              <a:pathLst>
                <a:path h="1828800" w="6035040">
                  <a:moveTo>
                    <a:pt x="0" y="0"/>
                  </a:moveTo>
                  <a:lnTo>
                    <a:pt x="6035040" y="0"/>
                  </a:lnTo>
                  <a:lnTo>
                    <a:pt x="6035040" y="1828800"/>
                  </a:lnTo>
                  <a:lnTo>
                    <a:pt x="0" y="1828800"/>
                  </a:lnTo>
                  <a:close/>
                </a:path>
              </a:pathLst>
            </a:custGeom>
            <a:blipFill>
              <a:blip r:embed="rId5">
                <a:alphaModFix amt="0"/>
              </a:blip>
              <a:stretch>
                <a:fillRect l="0" t="-14300" r="0" b="-14300"/>
              </a:stretch>
            </a:blipFill>
          </p:spPr>
        </p:sp>
        <p:sp>
          <p:nvSpPr>
            <p:cNvPr name="TextBox 25" id="25"/>
            <p:cNvSpPr txBox="true"/>
            <p:nvPr/>
          </p:nvSpPr>
          <p:spPr>
            <a:xfrm>
              <a:off x="0" y="0"/>
              <a:ext cx="6035040" cy="1828800"/>
            </a:xfrm>
            <a:prstGeom prst="rect">
              <a:avLst/>
            </a:prstGeom>
          </p:spPr>
          <p:txBody>
            <a:bodyPr anchor="ctr" rtlCol="false" tIns="0" lIns="0" bIns="0" rIns="0"/>
            <a:lstStyle/>
            <a:p>
              <a:pPr algn="l">
                <a:lnSpc>
                  <a:spcPts val="2249"/>
                </a:lnSpc>
              </a:pPr>
              <a:r>
                <a:rPr lang="en-US" b="true" sz="1874">
                  <a:solidFill>
                    <a:srgbClr val="8D140B"/>
                  </a:solidFill>
                  <a:latin typeface="Inter Bold"/>
                  <a:ea typeface="Inter Bold"/>
                  <a:cs typeface="Inter Bold"/>
                  <a:sym typeface="Inter Bold"/>
                </a:rPr>
                <a:t>Training data is 1999–2008. Coding practice, diabetes pharmacotherapy, and discharge workflows have all changed since.</a:t>
              </a:r>
            </a:p>
          </p:txBody>
        </p:sp>
      </p:grpSp>
      <p:grpSp>
        <p:nvGrpSpPr>
          <p:cNvPr name="Group 26" id="26"/>
          <p:cNvGrpSpPr/>
          <p:nvPr/>
        </p:nvGrpSpPr>
        <p:grpSpPr>
          <a:xfrm rot="0">
            <a:off x="11923395" y="3035427"/>
            <a:ext cx="5203698" cy="2570226"/>
            <a:chOff x="0" y="0"/>
            <a:chExt cx="6938264" cy="3426968"/>
          </a:xfrm>
        </p:grpSpPr>
        <p:sp>
          <p:nvSpPr>
            <p:cNvPr name="Freeform 27" id="27"/>
            <p:cNvSpPr/>
            <p:nvPr/>
          </p:nvSpPr>
          <p:spPr>
            <a:xfrm flipH="false" flipV="false" rot="0">
              <a:off x="0" y="0"/>
              <a:ext cx="6938264" cy="3426968"/>
            </a:xfrm>
            <a:custGeom>
              <a:avLst/>
              <a:gdLst/>
              <a:ahLst/>
              <a:cxnLst/>
              <a:rect r="r" b="b" t="t" l="l"/>
              <a:pathLst>
                <a:path h="3426968" w="6938264">
                  <a:moveTo>
                    <a:pt x="0" y="184277"/>
                  </a:moveTo>
                  <a:cubicBezTo>
                    <a:pt x="0" y="82423"/>
                    <a:pt x="82423" y="0"/>
                    <a:pt x="184277" y="0"/>
                  </a:cubicBezTo>
                  <a:lnTo>
                    <a:pt x="6753987" y="0"/>
                  </a:lnTo>
                  <a:cubicBezTo>
                    <a:pt x="6855714" y="0"/>
                    <a:pt x="6938264" y="82423"/>
                    <a:pt x="6938264" y="184277"/>
                  </a:cubicBezTo>
                  <a:lnTo>
                    <a:pt x="6938264" y="3242691"/>
                  </a:lnTo>
                  <a:cubicBezTo>
                    <a:pt x="6938264" y="3344418"/>
                    <a:pt x="6855841" y="3426968"/>
                    <a:pt x="6753987" y="3426968"/>
                  </a:cubicBezTo>
                  <a:lnTo>
                    <a:pt x="184277" y="3426968"/>
                  </a:lnTo>
                  <a:cubicBezTo>
                    <a:pt x="82423" y="3426968"/>
                    <a:pt x="0" y="3344545"/>
                    <a:pt x="0" y="3242691"/>
                  </a:cubicBezTo>
                  <a:close/>
                </a:path>
              </a:pathLst>
            </a:custGeom>
            <a:solidFill>
              <a:srgbClr val="F4F7F9"/>
            </a:solidFill>
            <a:ln w="19050" cap="sq">
              <a:solidFill>
                <a:srgbClr val="3D4780"/>
              </a:solidFill>
              <a:prstDash val="solid"/>
              <a:miter/>
            </a:ln>
          </p:spPr>
        </p:sp>
      </p:grpSp>
      <p:grpSp>
        <p:nvGrpSpPr>
          <p:cNvPr name="Group 28" id="28"/>
          <p:cNvGrpSpPr/>
          <p:nvPr/>
        </p:nvGrpSpPr>
        <p:grpSpPr>
          <a:xfrm rot="0">
            <a:off x="12262104" y="3264408"/>
            <a:ext cx="4526280" cy="713232"/>
            <a:chOff x="0" y="0"/>
            <a:chExt cx="6035040" cy="950976"/>
          </a:xfrm>
        </p:grpSpPr>
        <p:sp>
          <p:nvSpPr>
            <p:cNvPr name="Freeform 29" id="29"/>
            <p:cNvSpPr/>
            <p:nvPr/>
          </p:nvSpPr>
          <p:spPr>
            <a:xfrm flipH="false" flipV="false" rot="0">
              <a:off x="0" y="0"/>
              <a:ext cx="6035040" cy="950976"/>
            </a:xfrm>
            <a:custGeom>
              <a:avLst/>
              <a:gdLst/>
              <a:ahLst/>
              <a:cxnLst/>
              <a:rect r="r" b="b" t="t" l="l"/>
              <a:pathLst>
                <a:path h="950976" w="6035040">
                  <a:moveTo>
                    <a:pt x="0" y="0"/>
                  </a:moveTo>
                  <a:lnTo>
                    <a:pt x="6035040" y="0"/>
                  </a:lnTo>
                  <a:lnTo>
                    <a:pt x="6035040" y="950976"/>
                  </a:lnTo>
                  <a:lnTo>
                    <a:pt x="0" y="950976"/>
                  </a:lnTo>
                  <a:close/>
                </a:path>
              </a:pathLst>
            </a:custGeom>
            <a:blipFill>
              <a:blip r:embed="rId5">
                <a:alphaModFix amt="0"/>
              </a:blip>
              <a:stretch>
                <a:fillRect l="0" t="-73655" r="0" b="-73655"/>
              </a:stretch>
            </a:blipFill>
          </p:spPr>
        </p:sp>
        <p:sp>
          <p:nvSpPr>
            <p:cNvPr name="TextBox 30" id="30"/>
            <p:cNvSpPr txBox="true"/>
            <p:nvPr/>
          </p:nvSpPr>
          <p:spPr>
            <a:xfrm>
              <a:off x="0" y="0"/>
              <a:ext cx="6035040" cy="950976"/>
            </a:xfrm>
            <a:prstGeom prst="rect">
              <a:avLst/>
            </a:prstGeom>
          </p:spPr>
          <p:txBody>
            <a:bodyPr anchor="ctr" rtlCol="false" tIns="0" lIns="0" bIns="0" rIns="0"/>
            <a:lstStyle/>
            <a:p>
              <a:pPr algn="l">
                <a:lnSpc>
                  <a:spcPts val="2340"/>
                </a:lnSpc>
              </a:pPr>
              <a:r>
                <a:rPr lang="en-US" b="true" sz="1950">
                  <a:solidFill>
                    <a:srgbClr val="8D140B"/>
                  </a:solidFill>
                  <a:latin typeface="Bricolage Grotesque Bold"/>
                  <a:ea typeface="Bricolage Grotesque Bold"/>
                  <a:cs typeface="Bricolage Grotesque Bold"/>
                  <a:sym typeface="Bricolage Grotesque Bold"/>
                </a:rPr>
                <a:t>FAIRNESS NOT YET AUDITED</a:t>
              </a:r>
            </a:p>
          </p:txBody>
        </p:sp>
      </p:grpSp>
      <p:grpSp>
        <p:nvGrpSpPr>
          <p:cNvPr name="Group 31" id="31"/>
          <p:cNvGrpSpPr/>
          <p:nvPr/>
        </p:nvGrpSpPr>
        <p:grpSpPr>
          <a:xfrm rot="0">
            <a:off x="12262104" y="4005072"/>
            <a:ext cx="4526280" cy="1371600"/>
            <a:chOff x="0" y="0"/>
            <a:chExt cx="6035040" cy="1828800"/>
          </a:xfrm>
        </p:grpSpPr>
        <p:sp>
          <p:nvSpPr>
            <p:cNvPr name="Freeform 32" id="32"/>
            <p:cNvSpPr/>
            <p:nvPr/>
          </p:nvSpPr>
          <p:spPr>
            <a:xfrm flipH="false" flipV="false" rot="0">
              <a:off x="0" y="0"/>
              <a:ext cx="6035040" cy="1828800"/>
            </a:xfrm>
            <a:custGeom>
              <a:avLst/>
              <a:gdLst/>
              <a:ahLst/>
              <a:cxnLst/>
              <a:rect r="r" b="b" t="t" l="l"/>
              <a:pathLst>
                <a:path h="1828800" w="6035040">
                  <a:moveTo>
                    <a:pt x="0" y="0"/>
                  </a:moveTo>
                  <a:lnTo>
                    <a:pt x="6035040" y="0"/>
                  </a:lnTo>
                  <a:lnTo>
                    <a:pt x="6035040" y="1828800"/>
                  </a:lnTo>
                  <a:lnTo>
                    <a:pt x="0" y="1828800"/>
                  </a:lnTo>
                  <a:close/>
                </a:path>
              </a:pathLst>
            </a:custGeom>
            <a:blipFill>
              <a:blip r:embed="rId5">
                <a:alphaModFix amt="0"/>
              </a:blip>
              <a:stretch>
                <a:fillRect l="0" t="-14300" r="0" b="-14300"/>
              </a:stretch>
            </a:blipFill>
          </p:spPr>
        </p:sp>
        <p:sp>
          <p:nvSpPr>
            <p:cNvPr name="TextBox 33" id="33"/>
            <p:cNvSpPr txBox="true"/>
            <p:nvPr/>
          </p:nvSpPr>
          <p:spPr>
            <a:xfrm>
              <a:off x="0" y="0"/>
              <a:ext cx="6035040" cy="1828800"/>
            </a:xfrm>
            <a:prstGeom prst="rect">
              <a:avLst/>
            </a:prstGeom>
          </p:spPr>
          <p:txBody>
            <a:bodyPr anchor="ctr" rtlCol="false" tIns="0" lIns="0" bIns="0" rIns="0"/>
            <a:lstStyle/>
            <a:p>
              <a:pPr algn="l">
                <a:lnSpc>
                  <a:spcPts val="2249"/>
                </a:lnSpc>
              </a:pPr>
              <a:r>
                <a:rPr lang="en-US" b="true" sz="1874">
                  <a:solidFill>
                    <a:srgbClr val="8D140B"/>
                  </a:solidFill>
                  <a:latin typeface="Inter Bold"/>
                  <a:ea typeface="Inter Bold"/>
                  <a:cs typeface="Inter Bold"/>
                  <a:sym typeface="Inter Bold"/>
                </a:rPr>
                <a:t>Subgroup performance across race, age, sex, and payer has not been evaluated. Required before any real deployment.</a:t>
              </a:r>
            </a:p>
          </p:txBody>
        </p:sp>
      </p:grpSp>
      <p:grpSp>
        <p:nvGrpSpPr>
          <p:cNvPr name="Group 34" id="34"/>
          <p:cNvGrpSpPr/>
          <p:nvPr/>
        </p:nvGrpSpPr>
        <p:grpSpPr>
          <a:xfrm rot="0">
            <a:off x="813435" y="5915787"/>
            <a:ext cx="13711809" cy="1567537"/>
            <a:chOff x="0" y="0"/>
            <a:chExt cx="18282412" cy="2090050"/>
          </a:xfrm>
        </p:grpSpPr>
        <p:sp>
          <p:nvSpPr>
            <p:cNvPr name="Freeform 35" id="35"/>
            <p:cNvSpPr/>
            <p:nvPr/>
          </p:nvSpPr>
          <p:spPr>
            <a:xfrm flipH="false" flipV="false" rot="0">
              <a:off x="0" y="0"/>
              <a:ext cx="18282411" cy="2090050"/>
            </a:xfrm>
            <a:custGeom>
              <a:avLst/>
              <a:gdLst/>
              <a:ahLst/>
              <a:cxnLst/>
              <a:rect r="r" b="b" t="t" l="l"/>
              <a:pathLst>
                <a:path h="2090050" w="18282411">
                  <a:moveTo>
                    <a:pt x="0" y="189981"/>
                  </a:moveTo>
                  <a:cubicBezTo>
                    <a:pt x="0" y="85087"/>
                    <a:pt x="68439" y="0"/>
                    <a:pt x="152808" y="0"/>
                  </a:cubicBezTo>
                  <a:lnTo>
                    <a:pt x="18129603" y="0"/>
                  </a:lnTo>
                  <a:cubicBezTo>
                    <a:pt x="18213974" y="0"/>
                    <a:pt x="18282411" y="85087"/>
                    <a:pt x="18282411" y="189981"/>
                  </a:cubicBezTo>
                  <a:lnTo>
                    <a:pt x="18282411" y="1900069"/>
                  </a:lnTo>
                  <a:cubicBezTo>
                    <a:pt x="18282411" y="2004963"/>
                    <a:pt x="18213974" y="2090050"/>
                    <a:pt x="18129603" y="2090050"/>
                  </a:cubicBezTo>
                  <a:lnTo>
                    <a:pt x="152808" y="2090050"/>
                  </a:lnTo>
                  <a:cubicBezTo>
                    <a:pt x="68439" y="2090050"/>
                    <a:pt x="0" y="2004962"/>
                    <a:pt x="0" y="1900069"/>
                  </a:cubicBezTo>
                  <a:close/>
                </a:path>
              </a:pathLst>
            </a:custGeom>
            <a:solidFill>
              <a:srgbClr val="D5C1BF"/>
            </a:solidFill>
            <a:ln w="19050" cap="sq">
              <a:solidFill>
                <a:srgbClr val="3D4780"/>
              </a:solidFill>
              <a:prstDash val="solid"/>
              <a:miter/>
            </a:ln>
          </p:spPr>
        </p:sp>
      </p:grpSp>
      <p:grpSp>
        <p:nvGrpSpPr>
          <p:cNvPr name="Group 36" id="36"/>
          <p:cNvGrpSpPr/>
          <p:nvPr/>
        </p:nvGrpSpPr>
        <p:grpSpPr>
          <a:xfrm rot="0">
            <a:off x="1207008" y="6039485"/>
            <a:ext cx="15773400" cy="461899"/>
            <a:chOff x="0" y="0"/>
            <a:chExt cx="21031200" cy="615865"/>
          </a:xfrm>
        </p:grpSpPr>
        <p:sp>
          <p:nvSpPr>
            <p:cNvPr name="Freeform 37" id="37"/>
            <p:cNvSpPr/>
            <p:nvPr/>
          </p:nvSpPr>
          <p:spPr>
            <a:xfrm flipH="false" flipV="false" rot="0">
              <a:off x="0" y="0"/>
              <a:ext cx="21031200" cy="615865"/>
            </a:xfrm>
            <a:custGeom>
              <a:avLst/>
              <a:gdLst/>
              <a:ahLst/>
              <a:cxnLst/>
              <a:rect r="r" b="b" t="t" l="l"/>
              <a:pathLst>
                <a:path h="615865" w="21031200">
                  <a:moveTo>
                    <a:pt x="0" y="0"/>
                  </a:moveTo>
                  <a:lnTo>
                    <a:pt x="21031200" y="0"/>
                  </a:lnTo>
                  <a:lnTo>
                    <a:pt x="21031200" y="615865"/>
                  </a:lnTo>
                  <a:lnTo>
                    <a:pt x="0" y="615865"/>
                  </a:lnTo>
                  <a:close/>
                </a:path>
              </a:pathLst>
            </a:custGeom>
            <a:blipFill>
              <a:blip r:embed="rId5">
                <a:alphaModFix amt="0"/>
              </a:blip>
              <a:stretch>
                <a:fillRect l="0" t="-623822" r="0" b="-606968"/>
              </a:stretch>
            </a:blipFill>
          </p:spPr>
        </p:sp>
        <p:sp>
          <p:nvSpPr>
            <p:cNvPr name="TextBox 38" id="38"/>
            <p:cNvSpPr txBox="true"/>
            <p:nvPr/>
          </p:nvSpPr>
          <p:spPr>
            <a:xfrm>
              <a:off x="0" y="0"/>
              <a:ext cx="21031200" cy="615865"/>
            </a:xfrm>
            <a:prstGeom prst="rect">
              <a:avLst/>
            </a:prstGeom>
          </p:spPr>
          <p:txBody>
            <a:bodyPr anchor="ctr" rtlCol="false" tIns="0" lIns="0" bIns="0" rIns="0"/>
            <a:lstStyle/>
            <a:p>
              <a:pPr algn="l">
                <a:lnSpc>
                  <a:spcPts val="2489"/>
                </a:lnSpc>
              </a:pPr>
              <a:r>
                <a:rPr lang="en-US" b="true" sz="2074">
                  <a:solidFill>
                    <a:srgbClr val="8D140B"/>
                  </a:solidFill>
                  <a:latin typeface="Bricolage Grotesque Bold"/>
                  <a:ea typeface="Bricolage Grotesque Bold"/>
                  <a:cs typeface="Bricolage Grotesque Bold"/>
                  <a:sym typeface="Bricolage Grotesque Bold"/>
                </a:rPr>
                <a:t>THE ASSUMPTION MOST LIKELY TO BE WRONG</a:t>
              </a:r>
            </a:p>
          </p:txBody>
        </p:sp>
      </p:grpSp>
      <p:grpSp>
        <p:nvGrpSpPr>
          <p:cNvPr name="Group 39" id="39"/>
          <p:cNvGrpSpPr/>
          <p:nvPr/>
        </p:nvGrpSpPr>
        <p:grpSpPr>
          <a:xfrm rot="0">
            <a:off x="1207008" y="6399224"/>
            <a:ext cx="12566080" cy="822960"/>
            <a:chOff x="0" y="0"/>
            <a:chExt cx="16754774" cy="1097280"/>
          </a:xfrm>
        </p:grpSpPr>
        <p:sp>
          <p:nvSpPr>
            <p:cNvPr name="Freeform 40" id="40"/>
            <p:cNvSpPr/>
            <p:nvPr/>
          </p:nvSpPr>
          <p:spPr>
            <a:xfrm flipH="false" flipV="false" rot="0">
              <a:off x="0" y="0"/>
              <a:ext cx="16754774" cy="1097280"/>
            </a:xfrm>
            <a:custGeom>
              <a:avLst/>
              <a:gdLst/>
              <a:ahLst/>
              <a:cxnLst/>
              <a:rect r="r" b="b" t="t" l="l"/>
              <a:pathLst>
                <a:path h="1097280" w="16754774">
                  <a:moveTo>
                    <a:pt x="0" y="0"/>
                  </a:moveTo>
                  <a:lnTo>
                    <a:pt x="16754774" y="0"/>
                  </a:lnTo>
                  <a:lnTo>
                    <a:pt x="16754774" y="1097280"/>
                  </a:lnTo>
                  <a:lnTo>
                    <a:pt x="0" y="1097280"/>
                  </a:lnTo>
                  <a:close/>
                </a:path>
              </a:pathLst>
            </a:custGeom>
            <a:blipFill>
              <a:blip r:embed="rId5">
                <a:alphaModFix amt="0"/>
              </a:blip>
              <a:stretch>
                <a:fillRect l="0" t="-323463" r="-25523" b="-323463"/>
              </a:stretch>
            </a:blipFill>
          </p:spPr>
        </p:sp>
        <p:sp>
          <p:nvSpPr>
            <p:cNvPr name="TextBox 41" id="41"/>
            <p:cNvSpPr txBox="true"/>
            <p:nvPr/>
          </p:nvSpPr>
          <p:spPr>
            <a:xfrm>
              <a:off x="0" y="0"/>
              <a:ext cx="16754774" cy="1097280"/>
            </a:xfrm>
            <a:prstGeom prst="rect">
              <a:avLst/>
            </a:prstGeom>
          </p:spPr>
          <p:txBody>
            <a:bodyPr anchor="ctr" rtlCol="false" tIns="0" lIns="0" bIns="0" rIns="0"/>
            <a:lstStyle/>
            <a:p>
              <a:pPr algn="l">
                <a:lnSpc>
                  <a:spcPts val="2543"/>
                </a:lnSpc>
              </a:pPr>
              <a:r>
                <a:rPr lang="en-US" b="true" sz="2119">
                  <a:solidFill>
                    <a:srgbClr val="000000"/>
                  </a:solidFill>
                  <a:latin typeface="Inter Bold"/>
                  <a:ea typeface="Inter Bold"/>
                  <a:cs typeface="Inter Bold"/>
                  <a:sym typeface="Inter Bold"/>
                </a:rPr>
                <a:t>The model predicts readmission risk. The value case </a:t>
              </a:r>
              <a:r>
                <a:rPr lang="en-US" b="true" sz="2119" i="true" u="sng">
                  <a:solidFill>
                    <a:srgbClr val="000000"/>
                  </a:solidFill>
                  <a:latin typeface="Inter Bold Italics"/>
                  <a:ea typeface="Inter Bold Italics"/>
                  <a:cs typeface="Inter Bold Italics"/>
                  <a:sym typeface="Inter Bold Italics"/>
                </a:rPr>
                <a:t>assumes</a:t>
              </a:r>
              <a:r>
                <a:rPr lang="en-US" b="true" sz="2119" i="true">
                  <a:solidFill>
                    <a:srgbClr val="000000"/>
                  </a:solidFill>
                  <a:latin typeface="Inter Bold Italics"/>
                  <a:ea typeface="Inter Bold Italics"/>
                  <a:cs typeface="Inter Bold Italics"/>
                  <a:sym typeface="Inter Bold Italics"/>
                </a:rPr>
                <a:t> </a:t>
              </a:r>
              <a:r>
                <a:rPr lang="en-US" b="true" sz="2119">
                  <a:solidFill>
                    <a:srgbClr val="000000"/>
                  </a:solidFill>
                  <a:latin typeface="Inter Bold"/>
                  <a:ea typeface="Inter Bold"/>
                  <a:cs typeface="Inter Bold"/>
                  <a:sym typeface="Inter Bold"/>
                </a:rPr>
                <a:t>intervention reduces that risk. Responsiveness to pharmacist follow-up is assumed from literature, not measured. </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427" r="-9991" b="-50098"/>
            </a:stretch>
          </a:blipFill>
        </p:spPr>
      </p:sp>
      <p:sp>
        <p:nvSpPr>
          <p:cNvPr name="Freeform 3" id="3"/>
          <p:cNvSpPr/>
          <p:nvPr/>
        </p:nvSpPr>
        <p:spPr>
          <a:xfrm flipH="false" flipV="false" rot="0">
            <a:off x="4772585" y="3963456"/>
            <a:ext cx="9095810" cy="6730899"/>
          </a:xfrm>
          <a:custGeom>
            <a:avLst/>
            <a:gdLst/>
            <a:ahLst/>
            <a:cxnLst/>
            <a:rect r="r" b="b" t="t" l="l"/>
            <a:pathLst>
              <a:path h="6730899" w="9095810">
                <a:moveTo>
                  <a:pt x="0" y="0"/>
                </a:moveTo>
                <a:lnTo>
                  <a:pt x="9095810" y="0"/>
                </a:lnTo>
                <a:lnTo>
                  <a:pt x="9095810" y="6730899"/>
                </a:lnTo>
                <a:lnTo>
                  <a:pt x="0" y="6730899"/>
                </a:lnTo>
                <a:lnTo>
                  <a:pt x="0" y="0"/>
                </a:lnTo>
                <a:close/>
              </a:path>
            </a:pathLst>
          </a:custGeom>
          <a:blipFill>
            <a:blip r:embed="rId3">
              <a:alphaModFix amt="6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520747" y="4376834"/>
            <a:ext cx="6221592" cy="3953509"/>
          </a:xfrm>
          <a:custGeom>
            <a:avLst/>
            <a:gdLst/>
            <a:ahLst/>
            <a:cxnLst/>
            <a:rect r="r" b="b" t="t" l="l"/>
            <a:pathLst>
              <a:path h="3953509" w="6221592">
                <a:moveTo>
                  <a:pt x="0" y="0"/>
                </a:moveTo>
                <a:lnTo>
                  <a:pt x="6221592" y="0"/>
                </a:lnTo>
                <a:lnTo>
                  <a:pt x="6221592" y="3953509"/>
                </a:lnTo>
                <a:lnTo>
                  <a:pt x="0" y="3953509"/>
                </a:lnTo>
                <a:lnTo>
                  <a:pt x="0" y="0"/>
                </a:lnTo>
                <a:close/>
              </a:path>
            </a:pathLst>
          </a:custGeom>
          <a:blipFill>
            <a:blip r:embed="rId5">
              <a:alphaModFix amt="75000"/>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3335740" y="1564502"/>
            <a:ext cx="11969501" cy="1549069"/>
          </a:xfrm>
          <a:prstGeom prst="rect">
            <a:avLst/>
          </a:prstGeom>
        </p:spPr>
        <p:txBody>
          <a:bodyPr anchor="t" rtlCol="false" tIns="0" lIns="0" bIns="0" rIns="0">
            <a:spAutoFit/>
          </a:bodyPr>
          <a:lstStyle/>
          <a:p>
            <a:pPr algn="ctr">
              <a:lnSpc>
                <a:spcPts val="11586"/>
              </a:lnSpc>
            </a:pPr>
            <a:r>
              <a:rPr lang="en-US" b="true" sz="11945">
                <a:solidFill>
                  <a:srgbClr val="8D140B"/>
                </a:solidFill>
                <a:latin typeface="Bricolage Grotesque Bold"/>
                <a:ea typeface="Bricolage Grotesque Bold"/>
                <a:cs typeface="Bricolage Grotesque Bold"/>
                <a:sym typeface="Bricolage Grotesque Bold"/>
              </a:rPr>
              <a:t>THANK YOU</a:t>
            </a:r>
          </a:p>
        </p:txBody>
      </p:sp>
      <p:sp>
        <p:nvSpPr>
          <p:cNvPr name="Freeform 6" id="6"/>
          <p:cNvSpPr/>
          <p:nvPr/>
        </p:nvSpPr>
        <p:spPr>
          <a:xfrm flipH="true" flipV="false" rot="0">
            <a:off x="-585005" y="3957520"/>
            <a:ext cx="6881461" cy="4372822"/>
          </a:xfrm>
          <a:custGeom>
            <a:avLst/>
            <a:gdLst/>
            <a:ahLst/>
            <a:cxnLst/>
            <a:rect r="r" b="b" t="t" l="l"/>
            <a:pathLst>
              <a:path h="4372822" w="6881461">
                <a:moveTo>
                  <a:pt x="6881460" y="0"/>
                </a:moveTo>
                <a:lnTo>
                  <a:pt x="0" y="0"/>
                </a:lnTo>
                <a:lnTo>
                  <a:pt x="0" y="4372823"/>
                </a:lnTo>
                <a:lnTo>
                  <a:pt x="6881460" y="4372823"/>
                </a:lnTo>
                <a:lnTo>
                  <a:pt x="6881460" y="0"/>
                </a:lnTo>
                <a:close/>
              </a:path>
            </a:pathLst>
          </a:custGeom>
          <a:blipFill>
            <a:blip r:embed="rId5">
              <a:alphaModFix amt="75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DAHTEdpcM8I</dc:identifier>
  <dcterms:modified xsi:type="dcterms:W3CDTF">2011-08-01T06:04:30Z</dcterms:modified>
  <cp:revision>1</cp:revision>
  <dc:title>The Real TransitionRX</dc:title>
</cp:coreProperties>
</file>